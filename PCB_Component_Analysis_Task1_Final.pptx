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108" y="4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339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1.xml.rels><?xml version="1.0" encoding="UTF-8"?><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CD4"/>
          </a:solidFill>
          <a:ln/>
        </p:spPr>
      </p:sp>
      <p:sp>
        <p:nvSpPr>
          <p:cNvPr id="3" name="Shape 1"/>
          <p:cNvSpPr/>
          <p:nvPr/>
        </p:nvSpPr>
        <p:spPr>
          <a:xfrm>
            <a:off x="6583680" y="-548640"/>
            <a:ext cx="3657600" cy="3657600"/>
          </a:xfrm>
          <a:prstGeom prst="ellipse">
            <a:avLst/>
          </a:prstGeom>
          <a:solidFill>
            <a:srgbClr val="1A3A5C"/>
          </a:solidFill>
          <a:ln w="12700">
            <a:solidFill>
              <a:srgbClr val="1A3A5C"/>
            </a:solidFill>
            <a:prstDash val="solid"/>
          </a:ln>
        </p:spPr>
      </p:sp>
      <p:sp>
        <p:nvSpPr>
          <p:cNvPr id="4" name="Shape 2"/>
          <p:cNvSpPr/>
          <p:nvPr/>
        </p:nvSpPr>
        <p:spPr>
          <a:xfrm>
            <a:off x="-457200" y="3474720"/>
            <a:ext cx="2560320" cy="2560320"/>
          </a:xfrm>
          <a:prstGeom prst="ellipse">
            <a:avLst/>
          </a:prstGeom>
          <a:solidFill>
            <a:srgbClr val="142D47"/>
          </a:solidFill>
          <a:ln w="12700">
            <a:solidFill>
              <a:srgbClr val="142D47"/>
            </a:solidFill>
            <a:prstDash val="solid"/>
          </a:ln>
        </p:spPr>
      </p:sp>
      <p:pic>
        <p:nvPicPr>
          <p:cNvPr id="5" name="Image 0" descr="preencoded.png"/>
          <p:cNvPicPr>
            <a:picLocks noChangeAspect="1"/>
          </p:cNvPicPr>
          <p:nvPr/>
        </p:nvPicPr>
        <p:blipFill>
          <a:blip r:embed="rId3"/>
          <a:stretch>
            <a:fillRect/>
          </a:stretch>
        </p:blipFill>
        <p:spPr>
          <a:xfrm>
            <a:off x="7406640" y="365760"/>
            <a:ext cx="1371600" cy="1371600"/>
          </a:xfrm>
          <a:prstGeom prst="rect">
            <a:avLst/>
          </a:prstGeom>
        </p:spPr>
      </p:pic>
      <p:sp>
        <p:nvSpPr>
          <p:cNvPr id="6" name="Text 3"/>
          <p:cNvSpPr/>
          <p:nvPr/>
        </p:nvSpPr>
        <p:spPr>
          <a:xfrm>
            <a:off x="320040" y="640080"/>
            <a:ext cx="68580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Health Wearable Device</a:t>
            </a:r>
            <a:endParaRPr lang="en-US" sz="3600" dirty="0"/>
          </a:p>
        </p:txBody>
      </p:sp>
      <p:sp>
        <p:nvSpPr>
          <p:cNvPr id="7" name="Text 4"/>
          <p:cNvSpPr/>
          <p:nvPr/>
        </p:nvSpPr>
        <p:spPr>
          <a:xfrm>
            <a:off x="320040" y="1371600"/>
            <a:ext cx="6858000" cy="457200"/>
          </a:xfrm>
          <a:prstGeom prst="rect">
            <a:avLst/>
          </a:prstGeom>
          <a:noFill/>
          <a:ln/>
        </p:spPr>
        <p:txBody>
          <a:bodyPr wrap="square" lIns="0" tIns="0" rIns="0" bIns="0" rtlCol="0" anchor="ctr"/>
          <a:lstStyle/>
          <a:p>
            <a:pPr marL="0" indent="0">
              <a:buNone/>
            </a:pPr>
            <a:r>
              <a:rPr lang="en-US" sz="2000" dirty="0">
                <a:solidFill>
                  <a:srgbClr val="00BCD4"/>
                </a:solidFill>
                <a:latin typeface="Calibri" pitchFamily="34" charset="0"/>
                <a:ea typeface="Calibri" pitchFamily="34" charset="-122"/>
                <a:cs typeface="Calibri" pitchFamily="34" charset="-120"/>
              </a:rPr>
              <a:t>PCB Design — Component Analysis Report</a:t>
            </a:r>
            <a:endParaRPr lang="en-US" sz="2000" dirty="0"/>
          </a:p>
        </p:txBody>
      </p:sp>
      <p:sp>
        <p:nvSpPr>
          <p:cNvPr id="8" name="Text 5"/>
          <p:cNvSpPr/>
          <p:nvPr/>
        </p:nvSpPr>
        <p:spPr>
          <a:xfrm>
            <a:off x="320040" y="1901952"/>
            <a:ext cx="6858000" cy="347472"/>
          </a:xfrm>
          <a:prstGeom prst="rect">
            <a:avLst/>
          </a:prstGeom>
          <a:noFill/>
          <a:ln/>
        </p:spPr>
        <p:txBody>
          <a:bodyPr wrap="square" lIns="0" tIns="0" rIns="0" bIns="0" rtlCol="0" anchor="ctr"/>
          <a:lstStyle/>
          <a:p>
            <a:pPr marL="0" indent="0">
              <a:buNone/>
            </a:pPr>
            <a:r>
              <a:rPr lang="en-US" sz="1400" dirty="0">
                <a:solidFill>
                  <a:srgbClr val="90CAF9"/>
                </a:solidFill>
                <a:latin typeface="Calibri" pitchFamily="34" charset="0"/>
                <a:ea typeface="Calibri" pitchFamily="34" charset="-122"/>
                <a:cs typeface="Calibri" pitchFamily="34" charset="-120"/>
              </a:rPr>
              <a:t>Band01_Rev1  |  Project Work — Task 1</a:t>
            </a:r>
            <a:endParaRPr lang="en-US" sz="1400" dirty="0"/>
          </a:p>
        </p:txBody>
      </p:sp>
      <p:sp>
        <p:nvSpPr>
          <p:cNvPr id="9" name="Shape 6"/>
          <p:cNvSpPr/>
          <p:nvPr/>
        </p:nvSpPr>
        <p:spPr>
          <a:xfrm>
            <a:off x="320040" y="2377440"/>
            <a:ext cx="4114800" cy="27432"/>
          </a:xfrm>
          <a:prstGeom prst="rect">
            <a:avLst/>
          </a:prstGeom>
          <a:solidFill>
            <a:srgbClr val="00BCD4"/>
          </a:solidFill>
          <a:ln/>
        </p:spPr>
      </p:sp>
      <p:sp>
        <p:nvSpPr>
          <p:cNvPr id="10" name="Text 7"/>
          <p:cNvSpPr/>
          <p:nvPr/>
        </p:nvSpPr>
        <p:spPr>
          <a:xfrm>
            <a:off x="320040" y="2514600"/>
            <a:ext cx="6858000" cy="1188720"/>
          </a:xfrm>
          <a:prstGeom prst="rect">
            <a:avLst/>
          </a:prstGeom>
          <a:noFill/>
          <a:ln/>
        </p:spPr>
        <p:txBody>
          <a:bodyPr wrap="square" lIns="0" tIns="0" rIns="0" bIns="0" rtlCol="0" anchor="ctr"/>
          <a:lstStyle/>
          <a:p>
            <a:pPr marL="0" indent="0">
              <a:buNone/>
            </a:pPr>
            <a:r>
              <a:rPr lang="en-US" sz="1300" b="1" dirty="0">
                <a:solidFill>
                  <a:srgbClr val="90CAF9"/>
                </a:solidFill>
                <a:latin typeface="Calibri" pitchFamily="34" charset="0"/>
                <a:ea typeface="Calibri" pitchFamily="34" charset="-122"/>
                <a:cs typeface="Calibri" pitchFamily="34" charset="-120"/>
              </a:rPr>
              <a:t xml:space="preserve">Prepared by:  </a:t>
            </a:r>
            <a:r>
              <a:rPr lang="en-US" sz="1300" dirty="0">
                <a:solidFill>
                  <a:srgbClr val="FFFFFF"/>
                </a:solidFill>
                <a:latin typeface="Calibri" pitchFamily="34" charset="0"/>
                <a:ea typeface="Calibri" pitchFamily="34" charset="-122"/>
                <a:cs typeface="Calibri" pitchFamily="34" charset="-120"/>
              </a:rPr>
              <a:t>Masrur Jamil Prochchhod</a:t>
            </a:r>
            <a:endParaRPr lang="en-US" sz="1300" dirty="0"/>
          </a:p>
          <a:p>
            <a:pPr marL="0" indent="0">
              <a:buNone/>
            </a:pPr>
            <a:r>
              <a:rPr lang="en-US" sz="1300" b="1" dirty="0">
                <a:solidFill>
                  <a:srgbClr val="90CAF9"/>
                </a:solidFill>
                <a:latin typeface="Calibri" pitchFamily="34" charset="0"/>
                <a:ea typeface="Calibri" pitchFamily="34" charset="-122"/>
                <a:cs typeface="Calibri" pitchFamily="34" charset="-120"/>
              </a:rPr>
              <a:t xml:space="preserve">Matriculation:  </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2210028</a:t>
            </a:r>
            <a:endParaRPr lang="en-US" sz="1300" dirty="0"/>
          </a:p>
          <a:p>
            <a:pPr marL="0" indent="0">
              <a:buNone/>
            </a:pPr>
            <a:r>
              <a:rPr lang="en-US" sz="1300" b="1" dirty="0">
                <a:solidFill>
                  <a:srgbClr val="90CAF9"/>
                </a:solidFill>
                <a:latin typeface="Calibri" pitchFamily="34" charset="0"/>
                <a:ea typeface="Calibri" pitchFamily="34" charset="-122"/>
                <a:cs typeface="Calibri" pitchFamily="34" charset="-120"/>
              </a:rPr>
              <a:t xml:space="preserve">Institution:  </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Hochschule Hamm-Lippstadt (HSHL)</a:t>
            </a:r>
            <a:endParaRPr lang="en-US" sz="1300" dirty="0"/>
          </a:p>
          <a:p>
            <a:pPr marL="0" indent="0">
              <a:buNone/>
            </a:pPr>
            <a:r>
              <a:rPr lang="en-US" sz="1300" b="1" dirty="0">
                <a:solidFill>
                  <a:srgbClr val="90CAF9"/>
                </a:solidFill>
                <a:latin typeface="Calibri" pitchFamily="34" charset="0"/>
                <a:ea typeface="Calibri" pitchFamily="34" charset="-122"/>
                <a:cs typeface="Calibri" pitchFamily="34" charset="-120"/>
              </a:rPr>
              <a:t xml:space="preserve">Date:  </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18 May 2026</a:t>
            </a:r>
            <a:endParaRPr lang="en-US" sz="1300" dirty="0"/>
          </a:p>
        </p:txBody>
      </p:sp>
      <p:sp>
        <p:nvSpPr>
          <p:cNvPr id="11" name="Shape 8"/>
          <p:cNvSpPr/>
          <p:nvPr/>
        </p:nvSpPr>
        <p:spPr>
          <a:xfrm>
            <a:off x="320040" y="4160520"/>
            <a:ext cx="1920240" cy="749808"/>
          </a:xfrm>
          <a:prstGeom prst="rect">
            <a:avLst/>
          </a:prstGeom>
          <a:solidFill>
            <a:srgbClr val="1A3A5C"/>
          </a:solidFill>
          <a:ln w="12700">
            <a:solidFill>
              <a:srgbClr val="00BCD4"/>
            </a:solidFill>
            <a:prstDash val="solid"/>
          </a:ln>
        </p:spPr>
      </p:sp>
      <p:sp>
        <p:nvSpPr>
          <p:cNvPr id="12" name="Text 9"/>
          <p:cNvSpPr/>
          <p:nvPr/>
        </p:nvSpPr>
        <p:spPr>
          <a:xfrm>
            <a:off x="320040" y="4178808"/>
            <a:ext cx="1920240" cy="347472"/>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52</a:t>
            </a:r>
            <a:endParaRPr lang="en-US" sz="1800" dirty="0"/>
          </a:p>
        </p:txBody>
      </p:sp>
      <p:sp>
        <p:nvSpPr>
          <p:cNvPr id="13" name="Text 10"/>
          <p:cNvSpPr/>
          <p:nvPr/>
        </p:nvSpPr>
        <p:spPr>
          <a:xfrm>
            <a:off x="320040" y="4526280"/>
            <a:ext cx="1920240" cy="228600"/>
          </a:xfrm>
          <a:prstGeom prst="rect">
            <a:avLst/>
          </a:prstGeom>
          <a:noFill/>
          <a:ln/>
        </p:spPr>
        <p:txBody>
          <a:bodyPr wrap="square" lIns="0" tIns="0" rIns="0" bIns="0" rtlCol="0" anchor="ctr"/>
          <a:lstStyle/>
          <a:p>
            <a:pPr marL="0" indent="0" algn="ctr">
              <a:buNone/>
            </a:pPr>
            <a:r>
              <a:rPr lang="en-US" sz="1000" dirty="0">
                <a:solidFill>
                  <a:srgbClr val="90CAF9"/>
                </a:solidFill>
                <a:latin typeface="Calibri" pitchFamily="34" charset="0"/>
                <a:ea typeface="Calibri" pitchFamily="34" charset="-122"/>
                <a:cs typeface="Calibri" pitchFamily="34" charset="-120"/>
              </a:rPr>
              <a:t>Components</a:t>
            </a:r>
            <a:endParaRPr lang="en-US" sz="1000" dirty="0"/>
          </a:p>
        </p:txBody>
      </p:sp>
      <p:sp>
        <p:nvSpPr>
          <p:cNvPr id="14" name="Shape 11"/>
          <p:cNvSpPr/>
          <p:nvPr/>
        </p:nvSpPr>
        <p:spPr>
          <a:xfrm>
            <a:off x="2514600" y="4160520"/>
            <a:ext cx="1920240" cy="749808"/>
          </a:xfrm>
          <a:prstGeom prst="rect">
            <a:avLst/>
          </a:prstGeom>
          <a:solidFill>
            <a:srgbClr val="1A3A5C"/>
          </a:solidFill>
          <a:ln w="12700">
            <a:solidFill>
              <a:srgbClr val="00BCD4"/>
            </a:solidFill>
            <a:prstDash val="solid"/>
          </a:ln>
        </p:spPr>
      </p:sp>
      <p:sp>
        <p:nvSpPr>
          <p:cNvPr id="15" name="Text 12"/>
          <p:cNvSpPr/>
          <p:nvPr/>
        </p:nvSpPr>
        <p:spPr>
          <a:xfrm>
            <a:off x="2514600" y="4178808"/>
            <a:ext cx="1920240" cy="347472"/>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3</a:t>
            </a:r>
            <a:endParaRPr lang="en-US" sz="1800" dirty="0"/>
          </a:p>
        </p:txBody>
      </p:sp>
      <p:sp>
        <p:nvSpPr>
          <p:cNvPr id="16" name="Text 13"/>
          <p:cNvSpPr/>
          <p:nvPr/>
        </p:nvSpPr>
        <p:spPr>
          <a:xfrm>
            <a:off x="2514600" y="4526280"/>
            <a:ext cx="1920240" cy="228600"/>
          </a:xfrm>
          <a:prstGeom prst="rect">
            <a:avLst/>
          </a:prstGeom>
          <a:noFill/>
          <a:ln/>
        </p:spPr>
        <p:txBody>
          <a:bodyPr wrap="square" lIns="0" tIns="0" rIns="0" bIns="0" rtlCol="0" anchor="ctr"/>
          <a:lstStyle/>
          <a:p>
            <a:pPr marL="0" indent="0" algn="ctr">
              <a:buNone/>
            </a:pPr>
            <a:r>
              <a:rPr lang="en-US" sz="1000" dirty="0">
                <a:solidFill>
                  <a:srgbClr val="90CAF9"/>
                </a:solidFill>
                <a:latin typeface="Calibri" pitchFamily="34" charset="0"/>
                <a:ea typeface="Calibri" pitchFamily="34" charset="-122"/>
                <a:cs typeface="Calibri" pitchFamily="34" charset="-120"/>
              </a:rPr>
              <a:t>Sensors</a:t>
            </a:r>
            <a:endParaRPr lang="en-US" sz="1000" dirty="0"/>
          </a:p>
        </p:txBody>
      </p:sp>
      <p:sp>
        <p:nvSpPr>
          <p:cNvPr id="17" name="Shape 14"/>
          <p:cNvSpPr/>
          <p:nvPr/>
        </p:nvSpPr>
        <p:spPr>
          <a:xfrm>
            <a:off x="4709160" y="4160520"/>
            <a:ext cx="1920240" cy="749808"/>
          </a:xfrm>
          <a:prstGeom prst="rect">
            <a:avLst/>
          </a:prstGeom>
          <a:solidFill>
            <a:srgbClr val="1A3A5C"/>
          </a:solidFill>
          <a:ln w="12700">
            <a:solidFill>
              <a:srgbClr val="00BCD4"/>
            </a:solidFill>
            <a:prstDash val="solid"/>
          </a:ln>
        </p:spPr>
      </p:sp>
      <p:sp>
        <p:nvSpPr>
          <p:cNvPr id="18" name="Text 15"/>
          <p:cNvSpPr/>
          <p:nvPr/>
        </p:nvSpPr>
        <p:spPr>
          <a:xfrm>
            <a:off x="4709160" y="4178808"/>
            <a:ext cx="1920240" cy="347472"/>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BLE 5.1</a:t>
            </a:r>
            <a:endParaRPr lang="en-US" sz="1800" dirty="0"/>
          </a:p>
        </p:txBody>
      </p:sp>
      <p:sp>
        <p:nvSpPr>
          <p:cNvPr id="19" name="Text 16"/>
          <p:cNvSpPr/>
          <p:nvPr/>
        </p:nvSpPr>
        <p:spPr>
          <a:xfrm>
            <a:off x="4709160" y="4526280"/>
            <a:ext cx="1920240" cy="228600"/>
          </a:xfrm>
          <a:prstGeom prst="rect">
            <a:avLst/>
          </a:prstGeom>
          <a:noFill/>
          <a:ln/>
        </p:spPr>
        <p:txBody>
          <a:bodyPr wrap="square" lIns="0" tIns="0" rIns="0" bIns="0" rtlCol="0" anchor="ctr"/>
          <a:lstStyle/>
          <a:p>
            <a:pPr marL="0" indent="0" algn="ctr">
              <a:buNone/>
            </a:pPr>
            <a:r>
              <a:rPr lang="en-US" sz="1000" dirty="0">
                <a:solidFill>
                  <a:srgbClr val="90CAF9"/>
                </a:solidFill>
                <a:latin typeface="Calibri" pitchFamily="34" charset="0"/>
                <a:ea typeface="Calibri" pitchFamily="34" charset="-122"/>
                <a:cs typeface="Calibri" pitchFamily="34" charset="-120"/>
              </a:rPr>
              <a:t>Wireless</a:t>
            </a:r>
            <a:endParaRPr lang="en-US" sz="1000" dirty="0"/>
          </a:p>
        </p:txBody>
      </p:sp>
      <p:sp>
        <p:nvSpPr>
          <p:cNvPr id="20" name="Shape 17"/>
          <p:cNvSpPr/>
          <p:nvPr/>
        </p:nvSpPr>
        <p:spPr>
          <a:xfrm>
            <a:off x="6903720" y="4160520"/>
            <a:ext cx="1920240" cy="749808"/>
          </a:xfrm>
          <a:prstGeom prst="rect">
            <a:avLst/>
          </a:prstGeom>
          <a:solidFill>
            <a:srgbClr val="1A3A5C"/>
          </a:solidFill>
          <a:ln w="12700">
            <a:solidFill>
              <a:srgbClr val="00BCD4"/>
            </a:solidFill>
            <a:prstDash val="solid"/>
          </a:ln>
        </p:spPr>
      </p:sp>
      <p:sp>
        <p:nvSpPr>
          <p:cNvPr id="21" name="Text 18"/>
          <p:cNvSpPr/>
          <p:nvPr/>
        </p:nvSpPr>
        <p:spPr>
          <a:xfrm>
            <a:off x="6903720" y="4178808"/>
            <a:ext cx="1920240" cy="347472"/>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34×40mm</a:t>
            </a:r>
            <a:endParaRPr lang="en-US" sz="1800" dirty="0"/>
          </a:p>
        </p:txBody>
      </p:sp>
      <p:sp>
        <p:nvSpPr>
          <p:cNvPr id="22" name="Text 19"/>
          <p:cNvSpPr/>
          <p:nvPr/>
        </p:nvSpPr>
        <p:spPr>
          <a:xfrm>
            <a:off x="6903720" y="4526280"/>
            <a:ext cx="1920240" cy="228600"/>
          </a:xfrm>
          <a:prstGeom prst="rect">
            <a:avLst/>
          </a:prstGeom>
          <a:noFill/>
          <a:ln/>
        </p:spPr>
        <p:txBody>
          <a:bodyPr wrap="square" lIns="0" tIns="0" rIns="0" bIns="0" rtlCol="0" anchor="ctr"/>
          <a:lstStyle/>
          <a:p>
            <a:pPr marL="0" indent="0" algn="ctr">
              <a:buNone/>
            </a:pPr>
            <a:r>
              <a:rPr lang="en-US" sz="1000" dirty="0">
                <a:solidFill>
                  <a:srgbClr val="90CAF9"/>
                </a:solidFill>
                <a:latin typeface="Calibri" pitchFamily="34" charset="0"/>
                <a:ea typeface="Calibri" pitchFamily="34" charset="-122"/>
                <a:cs typeface="Calibri" pitchFamily="34" charset="-120"/>
              </a:rPr>
              <a:t>PCB Size</a:t>
            </a:r>
            <a:endParaRPr lang="en-US" sz="1000" dirty="0"/>
          </a:p>
        </p:txBody>
      </p:sp>
      <p:sp>
        <p:nvSpPr>
          <p:cNvPr id="23" name="Text 20"/>
          <p:cNvSpPr/>
          <p:nvPr/>
        </p:nvSpPr>
        <p:spPr>
          <a:xfrm>
            <a:off x="320040" y="4828032"/>
            <a:ext cx="1828800" cy="201168"/>
          </a:xfrm>
          <a:prstGeom prst="rect">
            <a:avLst/>
          </a:prstGeom>
          <a:noFill/>
          <a:ln/>
        </p:spPr>
        <p:txBody>
          <a:bodyPr wrap="square" lIns="0" tIns="0" rIns="0" bIns="0" rtlCol="0" anchor="ctr"/>
          <a:lstStyle/>
          <a:p>
            <a:pPr marL="0" indent="0">
              <a:buNone/>
            </a:pPr>
            <a:r>
              <a:rPr lang="en-US" sz="900" dirty="0">
                <a:solidFill>
                  <a:srgbClr val="546E7A"/>
                </a:solidFill>
                <a:latin typeface="Calibri" pitchFamily="34" charset="0"/>
                <a:ea typeface="Calibri" pitchFamily="34" charset="-122"/>
                <a:cs typeface="Calibri" pitchFamily="34" charset="-120"/>
              </a:rPr>
              <a:t>12 slides</a:t>
            </a:r>
            <a:endParaRPr lang="en-US" sz="900" dirty="0"/>
          </a:p>
        </p:txBody>
      </p:sp>
      <p:sp>
        <p:nvSpPr>
          <p:cNvPr id="9901" name="SlideNum1"/>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1 /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 Is This Device?</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200" i="1" dirty="0">
                <a:solidFill>
                  <a:srgbClr val="546E7A"/>
                </a:solidFill>
                <a:latin typeface="Calibri" pitchFamily="34" charset="0"/>
                <a:ea typeface="Calibri" pitchFamily="34" charset="-122"/>
                <a:cs typeface="Calibri" pitchFamily="34" charset="-120"/>
              </a:rPr>
              <a:t>Before looking at components — understanding the purpose</a:t>
            </a:r>
            <a:endParaRPr lang="en-US" sz="1200" dirty="0"/>
          </a:p>
        </p:txBody>
      </p:sp>
      <p:sp>
        <p:nvSpPr>
          <p:cNvPr id="6" name="Shape 3"/>
          <p:cNvSpPr/>
          <p:nvPr/>
        </p:nvSpPr>
        <p:spPr>
          <a:xfrm>
            <a:off x="274320" y="1048590"/>
            <a:ext cx="3852203" cy="2476148"/>
          </a:xfrm>
          <a:prstGeom prst="rect">
            <a:avLst/>
          </a:prstGeom>
          <a:solidFill>
            <a:srgbClr val="ECEFF1"/>
          </a:solidFill>
          <a:ln/>
          <a:effectLst>
            <a:outerShdw blurRad="101600" dist="38100" dir="8100000" algn="bl" rotWithShape="0">
              <a:srgbClr val="000000">
                <a:alpha val="12000"/>
              </a:srgbClr>
            </a:outerShdw>
          </a:effectLst>
        </p:spPr>
      </p:sp>
      <p:sp>
        <p:nvSpPr>
          <p:cNvPr id="7" name="Text 4"/>
          <p:cNvSpPr/>
          <p:nvPr/>
        </p:nvSpPr>
        <p:spPr>
          <a:xfrm>
            <a:off x="457200" y="1207008"/>
            <a:ext cx="3749040" cy="27432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Purpose &amp; Context</a:t>
            </a:r>
            <a:endParaRPr lang="en-US" sz="1300" dirty="0"/>
          </a:p>
        </p:txBody>
      </p:sp>
      <p:sp>
        <p:nvSpPr>
          <p:cNvPr id="8" name="Shape 5"/>
          <p:cNvSpPr/>
          <p:nvPr/>
        </p:nvSpPr>
        <p:spPr>
          <a:xfrm>
            <a:off x="411480" y="1572768"/>
            <a:ext cx="109728" cy="109728"/>
          </a:xfrm>
          <a:prstGeom prst="ellipse">
            <a:avLst/>
          </a:prstGeom>
          <a:solidFill>
            <a:srgbClr val="1565C0"/>
          </a:solidFill>
          <a:ln/>
        </p:spPr>
      </p:sp>
      <p:sp>
        <p:nvSpPr>
          <p:cNvPr id="9" name="Text 6"/>
          <p:cNvSpPr/>
          <p:nvPr/>
        </p:nvSpPr>
        <p:spPr>
          <a:xfrm>
            <a:off x="594360" y="1536192"/>
            <a:ext cx="3611880" cy="27432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A wrist-worn smartband that continuously monitors patient health</a:t>
            </a:r>
            <a:endParaRPr lang="en-US" sz="950" dirty="0"/>
          </a:p>
        </p:txBody>
      </p:sp>
      <p:sp>
        <p:nvSpPr>
          <p:cNvPr id="10" name="Shape 7"/>
          <p:cNvSpPr/>
          <p:nvPr/>
        </p:nvSpPr>
        <p:spPr>
          <a:xfrm>
            <a:off x="411480" y="1892808"/>
            <a:ext cx="109728" cy="109728"/>
          </a:xfrm>
          <a:prstGeom prst="ellipse">
            <a:avLst/>
          </a:prstGeom>
          <a:solidFill>
            <a:srgbClr val="1565C0"/>
          </a:solidFill>
          <a:ln/>
        </p:spPr>
      </p:sp>
      <p:sp>
        <p:nvSpPr>
          <p:cNvPr id="11" name="Text 8"/>
          <p:cNvSpPr/>
          <p:nvPr/>
        </p:nvSpPr>
        <p:spPr>
          <a:xfrm>
            <a:off x="594360" y="1856232"/>
            <a:ext cx="3611880" cy="27432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Collects 3 vital signs: heart rate, blood oxygen (SpO2), and body temperature</a:t>
            </a:r>
            <a:endParaRPr lang="en-US" sz="950" dirty="0"/>
          </a:p>
        </p:txBody>
      </p:sp>
      <p:sp>
        <p:nvSpPr>
          <p:cNvPr id="12" name="Shape 9"/>
          <p:cNvSpPr/>
          <p:nvPr/>
        </p:nvSpPr>
        <p:spPr>
          <a:xfrm>
            <a:off x="411480" y="2212848"/>
            <a:ext cx="109728" cy="109728"/>
          </a:xfrm>
          <a:prstGeom prst="ellipse">
            <a:avLst/>
          </a:prstGeom>
          <a:solidFill>
            <a:srgbClr val="1565C0"/>
          </a:solidFill>
          <a:ln/>
        </p:spPr>
      </p:sp>
      <p:sp>
        <p:nvSpPr>
          <p:cNvPr id="13" name="Text 10"/>
          <p:cNvSpPr/>
          <p:nvPr/>
        </p:nvSpPr>
        <p:spPr>
          <a:xfrm>
            <a:off x="594360" y="2176272"/>
            <a:ext cx="3611880" cy="27432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Also tracks motion and activity via accelerometer</a:t>
            </a:r>
            <a:endParaRPr lang="en-US" sz="950" dirty="0"/>
          </a:p>
        </p:txBody>
      </p:sp>
      <p:sp>
        <p:nvSpPr>
          <p:cNvPr id="14" name="Shape 11"/>
          <p:cNvSpPr/>
          <p:nvPr/>
        </p:nvSpPr>
        <p:spPr>
          <a:xfrm>
            <a:off x="411480" y="2532888"/>
            <a:ext cx="109728" cy="109728"/>
          </a:xfrm>
          <a:prstGeom prst="ellipse">
            <a:avLst/>
          </a:prstGeom>
          <a:solidFill>
            <a:srgbClr val="1565C0"/>
          </a:solidFill>
          <a:ln/>
        </p:spPr>
      </p:sp>
      <p:sp>
        <p:nvSpPr>
          <p:cNvPr id="15" name="Text 12"/>
          <p:cNvSpPr/>
          <p:nvPr/>
        </p:nvSpPr>
        <p:spPr>
          <a:xfrm>
            <a:off x="594360" y="2496312"/>
            <a:ext cx="3611880" cy="27432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Transmits all data wirelessly to a smartphone or hospital gateway</a:t>
            </a:r>
            <a:endParaRPr lang="en-US" sz="950" dirty="0"/>
          </a:p>
        </p:txBody>
      </p:sp>
      <p:sp>
        <p:nvSpPr>
          <p:cNvPr id="16" name="Shape 13"/>
          <p:cNvSpPr/>
          <p:nvPr/>
        </p:nvSpPr>
        <p:spPr>
          <a:xfrm>
            <a:off x="411480" y="2852928"/>
            <a:ext cx="109728" cy="109728"/>
          </a:xfrm>
          <a:prstGeom prst="ellipse">
            <a:avLst/>
          </a:prstGeom>
          <a:solidFill>
            <a:srgbClr val="1565C0"/>
          </a:solidFill>
          <a:ln/>
        </p:spPr>
      </p:sp>
      <p:sp>
        <p:nvSpPr>
          <p:cNvPr id="17" name="Text 14"/>
          <p:cNvSpPr/>
          <p:nvPr/>
        </p:nvSpPr>
        <p:spPr>
          <a:xfrm>
            <a:off x="594360" y="2816352"/>
            <a:ext cx="3611880" cy="27432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Designed for remote patient monitoring — no hospital visit needed</a:t>
            </a:r>
            <a:endParaRPr lang="en-US" sz="950" dirty="0"/>
          </a:p>
        </p:txBody>
      </p:sp>
      <p:sp>
        <p:nvSpPr>
          <p:cNvPr id="19" name="Text 16"/>
          <p:cNvSpPr/>
          <p:nvPr/>
        </p:nvSpPr>
        <p:spPr>
          <a:xfrm>
            <a:off x="594360" y="3136392"/>
            <a:ext cx="3611880" cy="274320"/>
          </a:xfrm>
          <a:prstGeom prst="rect">
            <a:avLst/>
          </a:prstGeom>
          <a:noFill/>
          <a:ln/>
        </p:spPr>
        <p:txBody>
          <a:bodyPr wrap="square" lIns="0" tIns="0" rIns="0" bIns="0" rtlCol="0" anchor="ctr"/>
          <a:lstStyle/>
          <a:p>
            <a:pPr marL="0" indent="0">
              <a:buNone/>
            </a:pPr>
            <a:endParaRPr lang="en-US" sz="950" dirty="0"/>
          </a:p>
        </p:txBody>
      </p:sp>
      <p:sp>
        <p:nvSpPr>
          <p:cNvPr id="20" name="Shape 17"/>
          <p:cNvSpPr/>
          <p:nvPr/>
        </p:nvSpPr>
        <p:spPr>
          <a:xfrm>
            <a:off x="394521" y="3172968"/>
            <a:ext cx="109728" cy="109728"/>
          </a:xfrm>
          <a:prstGeom prst="ellipse">
            <a:avLst/>
          </a:prstGeom>
          <a:solidFill>
            <a:srgbClr val="1565C0"/>
          </a:solidFill>
          <a:ln/>
        </p:spPr>
      </p:sp>
      <p:sp>
        <p:nvSpPr>
          <p:cNvPr id="21" name="Text 18"/>
          <p:cNvSpPr/>
          <p:nvPr/>
        </p:nvSpPr>
        <p:spPr>
          <a:xfrm>
            <a:off x="594360" y="3134516"/>
            <a:ext cx="3611880" cy="27432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D</a:t>
            </a:r>
            <a:r>
              <a:rPr lang="en-US" sz="950" dirty="0" smtClean="0">
                <a:solidFill>
                  <a:srgbClr val="1A237E"/>
                </a:solidFill>
                <a:latin typeface="Calibri" pitchFamily="34" charset="0"/>
                <a:ea typeface="Calibri" pitchFamily="34" charset="-122"/>
                <a:cs typeface="Calibri" pitchFamily="34" charset="-120"/>
              </a:rPr>
              <a:t xml:space="preserve">esigned </a:t>
            </a:r>
            <a:r>
              <a:rPr lang="en-US" sz="950" dirty="0">
                <a:solidFill>
                  <a:srgbClr val="1A237E"/>
                </a:solidFill>
                <a:latin typeface="Calibri" pitchFamily="34" charset="0"/>
                <a:ea typeface="Calibri" pitchFamily="34" charset="-122"/>
                <a:cs typeface="Calibri" pitchFamily="34" charset="-120"/>
              </a:rPr>
              <a:t>by Ricardo K. and Gabriel P. — PCB manufactured by Aisler</a:t>
            </a:r>
            <a:endParaRPr lang="en-US" sz="950" dirty="0"/>
          </a:p>
        </p:txBody>
      </p:sp>
      <p:sp>
        <p:nvSpPr>
          <p:cNvPr id="22" name="Shape 19"/>
          <p:cNvSpPr/>
          <p:nvPr/>
        </p:nvSpPr>
        <p:spPr>
          <a:xfrm>
            <a:off x="4663440" y="1115568"/>
            <a:ext cx="4206240" cy="1380744"/>
          </a:xfrm>
          <a:prstGeom prst="rect">
            <a:avLst/>
          </a:prstGeom>
          <a:solidFill>
            <a:srgbClr val="EEF2FF"/>
          </a:solidFill>
          <a:ln w="12700">
            <a:solidFill>
              <a:srgbClr val="1565C0"/>
            </a:solidFill>
            <a:prstDash val="solid"/>
          </a:ln>
        </p:spPr>
      </p:sp>
      <p:sp>
        <p:nvSpPr>
          <p:cNvPr id="23" name="Text 20"/>
          <p:cNvSpPr/>
          <p:nvPr/>
        </p:nvSpPr>
        <p:spPr>
          <a:xfrm>
            <a:off x="4846320" y="1188720"/>
            <a:ext cx="3840480" cy="25603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Why is wearable design challenging?</a:t>
            </a:r>
            <a:endParaRPr lang="en-US" sz="1200" dirty="0"/>
          </a:p>
        </p:txBody>
      </p:sp>
      <p:sp>
        <p:nvSpPr>
          <p:cNvPr id="24" name="Text 21"/>
          <p:cNvSpPr/>
          <p:nvPr/>
        </p:nvSpPr>
        <p:spPr>
          <a:xfrm>
            <a:off x="4846320" y="1508760"/>
            <a:ext cx="3840480" cy="22860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  Very small PCB (34×40mm) — every mm² matters</a:t>
            </a:r>
            <a:endParaRPr lang="en-US" sz="950" dirty="0"/>
          </a:p>
        </p:txBody>
      </p:sp>
      <p:sp>
        <p:nvSpPr>
          <p:cNvPr id="25" name="Text 22"/>
          <p:cNvSpPr/>
          <p:nvPr/>
        </p:nvSpPr>
        <p:spPr>
          <a:xfrm>
            <a:off x="4846320" y="1764792"/>
            <a:ext cx="3840480" cy="22860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  Must run on a tiny battery for 73+ hours</a:t>
            </a:r>
            <a:endParaRPr lang="en-US" sz="950" dirty="0"/>
          </a:p>
        </p:txBody>
      </p:sp>
      <p:sp>
        <p:nvSpPr>
          <p:cNvPr id="26" name="Text 23"/>
          <p:cNvSpPr/>
          <p:nvPr/>
        </p:nvSpPr>
        <p:spPr>
          <a:xfrm>
            <a:off x="4846320" y="2020824"/>
            <a:ext cx="3840480" cy="22860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  Sensors need precision power — noise ruins readings</a:t>
            </a:r>
            <a:endParaRPr lang="en-US" sz="950" dirty="0"/>
          </a:p>
        </p:txBody>
      </p:sp>
      <p:sp>
        <p:nvSpPr>
          <p:cNvPr id="27" name="Text 24"/>
          <p:cNvSpPr/>
          <p:nvPr/>
        </p:nvSpPr>
        <p:spPr>
          <a:xfrm>
            <a:off x="4846320" y="2276856"/>
            <a:ext cx="3840480" cy="22860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  BLE radio must coexist with analogue sensor circuits</a:t>
            </a:r>
            <a:endParaRPr lang="en-US" sz="950" dirty="0"/>
          </a:p>
        </p:txBody>
      </p:sp>
      <p:sp>
        <p:nvSpPr>
          <p:cNvPr id="28" name="Text 25"/>
          <p:cNvSpPr/>
          <p:nvPr/>
        </p:nvSpPr>
        <p:spPr>
          <a:xfrm>
            <a:off x="4846320" y="2532888"/>
            <a:ext cx="3840480" cy="228600"/>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  Clinical accuracy required — not just consumer grade</a:t>
            </a:r>
            <a:endParaRPr lang="en-US" sz="950" dirty="0"/>
          </a:p>
        </p:txBody>
      </p:sp>
      <p:sp>
        <p:nvSpPr>
          <p:cNvPr id="29" name="Shape 26"/>
          <p:cNvSpPr/>
          <p:nvPr/>
        </p:nvSpPr>
        <p:spPr>
          <a:xfrm>
            <a:off x="4663440" y="2487168"/>
            <a:ext cx="4206240" cy="1463040"/>
          </a:xfrm>
          <a:prstGeom prst="rect">
            <a:avLst/>
          </a:prstGeom>
          <a:solidFill>
            <a:srgbClr val="E8F5E9"/>
          </a:solidFill>
          <a:ln w="12700">
            <a:solidFill>
              <a:srgbClr val="00897B"/>
            </a:solidFill>
            <a:prstDash val="solid"/>
          </a:ln>
        </p:spPr>
      </p:sp>
      <p:sp>
        <p:nvSpPr>
          <p:cNvPr id="30" name="Text 27"/>
          <p:cNvSpPr/>
          <p:nvPr/>
        </p:nvSpPr>
        <p:spPr>
          <a:xfrm>
            <a:off x="4846320" y="2560320"/>
            <a:ext cx="3840480" cy="256032"/>
          </a:xfrm>
          <a:prstGeom prst="rect">
            <a:avLst/>
          </a:prstGeom>
          <a:noFill/>
          <a:ln/>
        </p:spPr>
        <p:txBody>
          <a:bodyPr wrap="square" lIns="0" tIns="0" rIns="0" bIns="0" rtlCol="0" anchor="ctr"/>
          <a:lstStyle/>
          <a:p>
            <a:pPr marL="0" indent="0">
              <a:buNone/>
            </a:pPr>
            <a:r>
              <a:rPr lang="en-US" sz="1200" b="1" dirty="0">
                <a:solidFill>
                  <a:srgbClr val="00897B"/>
                </a:solidFill>
                <a:latin typeface="Calibri" pitchFamily="34" charset="0"/>
                <a:ea typeface="Calibri" pitchFamily="34" charset="-122"/>
                <a:cs typeface="Calibri" pitchFamily="34" charset="-120"/>
              </a:rPr>
              <a:t>Key Design Specs</a:t>
            </a:r>
            <a:endParaRPr lang="en-US" sz="1200" dirty="0"/>
          </a:p>
        </p:txBody>
      </p:sp>
      <p:sp>
        <p:nvSpPr>
          <p:cNvPr id="31" name="Text 28"/>
          <p:cNvSpPr/>
          <p:nvPr/>
        </p:nvSpPr>
        <p:spPr>
          <a:xfrm>
            <a:off x="4846320" y="2852928"/>
            <a:ext cx="137160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PCB size:</a:t>
            </a:r>
            <a:endParaRPr lang="en-US" sz="950" dirty="0"/>
          </a:p>
        </p:txBody>
      </p:sp>
      <p:sp>
        <p:nvSpPr>
          <p:cNvPr id="32" name="Text 29"/>
          <p:cNvSpPr/>
          <p:nvPr/>
        </p:nvSpPr>
        <p:spPr>
          <a:xfrm>
            <a:off x="6263640" y="2852928"/>
            <a:ext cx="246888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34×40mm</a:t>
            </a:r>
            <a:endParaRPr lang="en-US" sz="950" dirty="0"/>
          </a:p>
        </p:txBody>
      </p:sp>
      <p:sp>
        <p:nvSpPr>
          <p:cNvPr id="33" name="Text 30"/>
          <p:cNvSpPr/>
          <p:nvPr/>
        </p:nvSpPr>
        <p:spPr>
          <a:xfrm>
            <a:off x="4846320" y="3154680"/>
            <a:ext cx="137160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Wireless:</a:t>
            </a:r>
            <a:endParaRPr lang="en-US" sz="950" dirty="0"/>
          </a:p>
        </p:txBody>
      </p:sp>
      <p:sp>
        <p:nvSpPr>
          <p:cNvPr id="34" name="Text 31"/>
          <p:cNvSpPr/>
          <p:nvPr/>
        </p:nvSpPr>
        <p:spPr>
          <a:xfrm>
            <a:off x="6263640" y="3154680"/>
            <a:ext cx="246888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BLE 5.1 @ 2.4GHz</a:t>
            </a:r>
            <a:endParaRPr lang="en-US" sz="950" dirty="0"/>
          </a:p>
        </p:txBody>
      </p:sp>
      <p:sp>
        <p:nvSpPr>
          <p:cNvPr id="35" name="Text 32"/>
          <p:cNvSpPr/>
          <p:nvPr/>
        </p:nvSpPr>
        <p:spPr>
          <a:xfrm>
            <a:off x="4846320" y="3456432"/>
            <a:ext cx="137160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Power:</a:t>
            </a:r>
            <a:endParaRPr lang="en-US" sz="950" dirty="0"/>
          </a:p>
        </p:txBody>
      </p:sp>
      <p:sp>
        <p:nvSpPr>
          <p:cNvPr id="36" name="Text 33"/>
          <p:cNvSpPr/>
          <p:nvPr/>
        </p:nvSpPr>
        <p:spPr>
          <a:xfrm>
            <a:off x="6263640" y="3456432"/>
            <a:ext cx="246888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Battery → 3.3V + 1.8V</a:t>
            </a:r>
            <a:endParaRPr lang="en-US" sz="950" dirty="0"/>
          </a:p>
        </p:txBody>
      </p:sp>
      <p:sp>
        <p:nvSpPr>
          <p:cNvPr id="37" name="Text 34"/>
          <p:cNvSpPr/>
          <p:nvPr/>
        </p:nvSpPr>
        <p:spPr>
          <a:xfrm>
            <a:off x="4846320" y="3758184"/>
            <a:ext cx="137160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Sensors:</a:t>
            </a:r>
            <a:endParaRPr lang="en-US" sz="950" dirty="0"/>
          </a:p>
        </p:txBody>
      </p:sp>
      <p:sp>
        <p:nvSpPr>
          <p:cNvPr id="38" name="Text 35"/>
          <p:cNvSpPr/>
          <p:nvPr/>
        </p:nvSpPr>
        <p:spPr>
          <a:xfrm>
            <a:off x="6263640" y="3758184"/>
            <a:ext cx="246888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3 ICs on one I²C bus</a:t>
            </a:r>
            <a:endParaRPr lang="en-US" sz="950" dirty="0"/>
          </a:p>
        </p:txBody>
      </p:sp>
      <p:sp>
        <p:nvSpPr>
          <p:cNvPr id="39" name="Text 36"/>
          <p:cNvSpPr/>
          <p:nvPr/>
        </p:nvSpPr>
        <p:spPr>
          <a:xfrm>
            <a:off x="4846320" y="4059936"/>
            <a:ext cx="137160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Debug:</a:t>
            </a:r>
            <a:endParaRPr lang="en-US" sz="950" dirty="0"/>
          </a:p>
        </p:txBody>
      </p:sp>
      <p:sp>
        <p:nvSpPr>
          <p:cNvPr id="40" name="Text 37"/>
          <p:cNvSpPr/>
          <p:nvPr/>
        </p:nvSpPr>
        <p:spPr>
          <a:xfrm>
            <a:off x="6263640" y="4059936"/>
            <a:ext cx="246888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JTAG via 18-pin header</a:t>
            </a:r>
            <a:endParaRPr lang="en-US" sz="950" dirty="0"/>
          </a:p>
        </p:txBody>
      </p:sp>
      <p:sp>
        <p:nvSpPr>
          <p:cNvPr id="41" name="Text 38"/>
          <p:cNvSpPr/>
          <p:nvPr/>
        </p:nvSpPr>
        <p:spPr>
          <a:xfrm>
            <a:off x="4846320" y="4361688"/>
            <a:ext cx="137160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Total ICs:</a:t>
            </a:r>
            <a:endParaRPr lang="en-US" sz="950" dirty="0"/>
          </a:p>
        </p:txBody>
      </p:sp>
      <p:sp>
        <p:nvSpPr>
          <p:cNvPr id="42" name="Text 39"/>
          <p:cNvSpPr/>
          <p:nvPr/>
        </p:nvSpPr>
        <p:spPr>
          <a:xfrm>
            <a:off x="6263640" y="4361688"/>
            <a:ext cx="246888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52 components confirmed</a:t>
            </a:r>
            <a:endParaRPr lang="en-US" sz="950" dirty="0"/>
          </a:p>
        </p:txBody>
      </p:sp>
      <p:sp>
        <p:nvSpPr>
          <p:cNvPr id="43" name="Shape 40"/>
          <p:cNvSpPr/>
          <p:nvPr/>
        </p:nvSpPr>
        <p:spPr>
          <a:xfrm>
            <a:off x="274320" y="4041648"/>
            <a:ext cx="8595360" cy="896112"/>
          </a:xfrm>
          <a:prstGeom prst="rect">
            <a:avLst/>
          </a:prstGeom>
          <a:solidFill>
            <a:srgbClr val="FFFDE7"/>
          </a:solidFill>
          <a:ln w="12700">
            <a:solidFill>
              <a:srgbClr val="F9A825"/>
            </a:solidFill>
            <a:prstDash val="solid"/>
          </a:ln>
        </p:spPr>
      </p:sp>
      <p:pic>
        <p:nvPicPr>
          <p:cNvPr id="44" name="Image 1" descr="preencoded.png"/>
          <p:cNvPicPr>
            <a:picLocks noChangeAspect="1"/>
          </p:cNvPicPr>
          <p:nvPr/>
        </p:nvPicPr>
        <p:blipFill>
          <a:blip r:embed="rId4"/>
          <a:stretch>
            <a:fillRect/>
          </a:stretch>
        </p:blipFill>
        <p:spPr>
          <a:xfrm>
            <a:off x="365760" y="4114800"/>
            <a:ext cx="274320" cy="274320"/>
          </a:xfrm>
          <a:prstGeom prst="rect">
            <a:avLst/>
          </a:prstGeom>
        </p:spPr>
      </p:pic>
      <p:sp>
        <p:nvSpPr>
          <p:cNvPr id="45" name="Text 41"/>
          <p:cNvSpPr/>
          <p:nvPr/>
        </p:nvSpPr>
        <p:spPr>
          <a:xfrm>
            <a:off x="731520" y="4096512"/>
            <a:ext cx="804672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Teaching note — Why study the PCB before the firmware?</a:t>
            </a:r>
            <a:endParaRPr lang="en-US" sz="1000" dirty="0"/>
          </a:p>
        </p:txBody>
      </p:sp>
      <p:sp>
        <p:nvSpPr>
          <p:cNvPr id="46" name="Text 42"/>
          <p:cNvSpPr/>
          <p:nvPr/>
        </p:nvSpPr>
        <p:spPr>
          <a:xfrm>
            <a:off x="365760" y="4370832"/>
            <a:ext cx="8412480" cy="493776"/>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Every firmware decision (which I²C address to use, which DIO pin to read, how often to poll a sensor) maps directly to a physical component on this PCB. Understanding the hardware first means the firmware code will make sense immediately when you study it in Task 2.</a:t>
            </a:r>
            <a:endParaRPr lang="en-US" sz="950" dirty="0"/>
          </a:p>
        </p:txBody>
      </p:sp>
      <p:sp>
        <p:nvSpPr>
          <p:cNvPr id="9901" name="SlideNum2"/>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2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Overview — Block Diagram</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200" i="1" dirty="0">
                <a:solidFill>
                  <a:srgbClr val="546E7A"/>
                </a:solidFill>
                <a:latin typeface="Calibri" pitchFamily="34" charset="0"/>
                <a:ea typeface="Calibri" pitchFamily="34" charset="-122"/>
                <a:cs typeface="Calibri" pitchFamily="34" charset="-120"/>
              </a:rPr>
              <a:t>Band01_Rev1 — all major subsystems and how they connect</a:t>
            </a:r>
            <a:endParaRPr lang="en-US" sz="1200" dirty="0"/>
          </a:p>
        </p:txBody>
      </p:sp>
      <p:sp>
        <p:nvSpPr>
          <p:cNvPr id="6" name="Shape 3"/>
          <p:cNvSpPr/>
          <p:nvPr/>
        </p:nvSpPr>
        <p:spPr>
          <a:xfrm>
            <a:off x="3383280" y="1234440"/>
            <a:ext cx="2377440" cy="1234440"/>
          </a:xfrm>
          <a:prstGeom prst="rect">
            <a:avLst/>
          </a:prstGeom>
          <a:solidFill>
            <a:srgbClr val="1565C0"/>
          </a:solidFill>
          <a:ln/>
          <a:effectLst>
            <a:outerShdw blurRad="101600" dist="38100" dir="8100000" algn="bl" rotWithShape="0">
              <a:srgbClr val="000000">
                <a:alpha val="12000"/>
              </a:srgbClr>
            </a:outerShdw>
          </a:effectLst>
        </p:spPr>
      </p:sp>
      <p:pic>
        <p:nvPicPr>
          <p:cNvPr id="7" name="Image 1" descr="preencoded.png"/>
          <p:cNvPicPr>
            <a:picLocks noChangeAspect="1"/>
          </p:cNvPicPr>
          <p:nvPr/>
        </p:nvPicPr>
        <p:blipFill>
          <a:blip r:embed="rId4"/>
          <a:stretch>
            <a:fillRect/>
          </a:stretch>
        </p:blipFill>
        <p:spPr>
          <a:xfrm>
            <a:off x="4389120" y="1298448"/>
            <a:ext cx="411480" cy="411480"/>
          </a:xfrm>
          <a:prstGeom prst="rect">
            <a:avLst/>
          </a:prstGeom>
        </p:spPr>
      </p:pic>
      <p:sp>
        <p:nvSpPr>
          <p:cNvPr id="8" name="Text 4"/>
          <p:cNvSpPr/>
          <p:nvPr/>
        </p:nvSpPr>
        <p:spPr>
          <a:xfrm>
            <a:off x="3383280" y="1719072"/>
            <a:ext cx="2377440"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CC2640R2F</a:t>
            </a:r>
            <a:endParaRPr lang="en-US" sz="1400" dirty="0"/>
          </a:p>
        </p:txBody>
      </p:sp>
      <p:sp>
        <p:nvSpPr>
          <p:cNvPr id="9" name="Text 5"/>
          <p:cNvSpPr/>
          <p:nvPr/>
        </p:nvSpPr>
        <p:spPr>
          <a:xfrm>
            <a:off x="3383280" y="2029968"/>
            <a:ext cx="2377440" cy="384048"/>
          </a:xfrm>
          <a:prstGeom prst="rect">
            <a:avLst/>
          </a:prstGeom>
          <a:noFill/>
          <a:ln/>
        </p:spPr>
        <p:txBody>
          <a:bodyPr wrap="square" lIns="0" tIns="0" rIns="0" bIns="0" rtlCol="0" anchor="ctr"/>
          <a:lstStyle/>
          <a:p>
            <a:pPr marL="0" indent="0" algn="ctr">
              <a:buNone/>
            </a:pPr>
            <a:r>
              <a:rPr lang="en-US" sz="850" dirty="0">
                <a:solidFill>
                  <a:srgbClr val="BBDEFB"/>
                </a:solidFill>
                <a:latin typeface="Calibri" pitchFamily="34" charset="0"/>
                <a:ea typeface="Calibri" pitchFamily="34" charset="-122"/>
                <a:cs typeface="Calibri" pitchFamily="34" charset="-120"/>
              </a:rPr>
              <a:t>ARM Cortex-M3 | BLE 5.1</a:t>
            </a:r>
            <a:endParaRPr lang="en-US" sz="850" dirty="0"/>
          </a:p>
          <a:p>
            <a:pPr marL="0" indent="0" algn="ctr">
              <a:buNone/>
            </a:pPr>
            <a:r>
              <a:rPr lang="en-US" sz="850" dirty="0">
                <a:solidFill>
                  <a:srgbClr val="BBDEFB"/>
                </a:solidFill>
                <a:latin typeface="Calibri" pitchFamily="34" charset="0"/>
                <a:ea typeface="Calibri" pitchFamily="34" charset="-122"/>
                <a:cs typeface="Calibri" pitchFamily="34" charset="-120"/>
              </a:rPr>
              <a:t>128kB Flash | 28kB SRAM</a:t>
            </a:r>
            <a:endParaRPr lang="en-US" sz="850" dirty="0"/>
          </a:p>
        </p:txBody>
      </p:sp>
      <p:sp>
        <p:nvSpPr>
          <p:cNvPr id="10" name="Shape 6"/>
          <p:cNvSpPr/>
          <p:nvPr/>
        </p:nvSpPr>
        <p:spPr>
          <a:xfrm>
            <a:off x="274320" y="1170432"/>
            <a:ext cx="2331720" cy="658368"/>
          </a:xfrm>
          <a:prstGeom prst="rect">
            <a:avLst/>
          </a:prstGeom>
          <a:solidFill>
            <a:srgbClr val="0097A7"/>
          </a:solidFill>
          <a:ln/>
          <a:effectLst>
            <a:outerShdw blurRad="101600" dist="38100" dir="8100000" algn="bl" rotWithShape="0">
              <a:srgbClr val="000000">
                <a:alpha val="12000"/>
              </a:srgbClr>
            </a:outerShdw>
          </a:effectLst>
        </p:spPr>
      </p:sp>
      <p:pic>
        <p:nvPicPr>
          <p:cNvPr id="11" name="Image 2" descr="preencoded.png"/>
          <p:cNvPicPr>
            <a:picLocks noChangeAspect="1"/>
          </p:cNvPicPr>
          <p:nvPr/>
        </p:nvPicPr>
        <p:blipFill>
          <a:blip r:embed="rId5"/>
          <a:stretch>
            <a:fillRect/>
          </a:stretch>
        </p:blipFill>
        <p:spPr>
          <a:xfrm>
            <a:off x="347472" y="1316736"/>
            <a:ext cx="310896" cy="310896"/>
          </a:xfrm>
          <a:prstGeom prst="rect">
            <a:avLst/>
          </a:prstGeom>
        </p:spPr>
      </p:pic>
      <p:sp>
        <p:nvSpPr>
          <p:cNvPr id="12" name="Text 7"/>
          <p:cNvSpPr/>
          <p:nvPr/>
        </p:nvSpPr>
        <p:spPr>
          <a:xfrm>
            <a:off x="749808" y="1225296"/>
            <a:ext cx="1737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MAX30102</a:t>
            </a:r>
            <a:endParaRPr lang="en-US" sz="1200" dirty="0"/>
          </a:p>
        </p:txBody>
      </p:sp>
      <p:sp>
        <p:nvSpPr>
          <p:cNvPr id="13" name="Text 8"/>
          <p:cNvSpPr/>
          <p:nvPr/>
        </p:nvSpPr>
        <p:spPr>
          <a:xfrm>
            <a:off x="749808" y="1481328"/>
            <a:ext cx="173736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HR / SpO2</a:t>
            </a:r>
            <a:endParaRPr lang="en-US" sz="900" dirty="0"/>
          </a:p>
        </p:txBody>
      </p:sp>
      <p:sp>
        <p:nvSpPr>
          <p:cNvPr id="14" name="Shape 9"/>
          <p:cNvSpPr/>
          <p:nvPr/>
        </p:nvSpPr>
        <p:spPr>
          <a:xfrm>
            <a:off x="2606040" y="1499616"/>
            <a:ext cx="777240" cy="0"/>
          </a:xfrm>
          <a:prstGeom prst="line">
            <a:avLst/>
          </a:prstGeom>
          <a:noFill/>
          <a:ln w="25400">
            <a:solidFill>
              <a:srgbClr val="0097A7"/>
            </a:solidFill>
            <a:prstDash val="solid"/>
          </a:ln>
        </p:spPr>
      </p:sp>
      <p:sp>
        <p:nvSpPr>
          <p:cNvPr id="15" name="Shape 10"/>
          <p:cNvSpPr/>
          <p:nvPr/>
        </p:nvSpPr>
        <p:spPr>
          <a:xfrm>
            <a:off x="274320" y="2066544"/>
            <a:ext cx="2331720" cy="658368"/>
          </a:xfrm>
          <a:prstGeom prst="rect">
            <a:avLst/>
          </a:prstGeom>
          <a:solidFill>
            <a:srgbClr val="F57C00"/>
          </a:solidFill>
          <a:ln/>
          <a:effectLst>
            <a:outerShdw blurRad="101600" dist="38100" dir="8100000" algn="bl" rotWithShape="0">
              <a:srgbClr val="000000">
                <a:alpha val="12000"/>
              </a:srgbClr>
            </a:outerShdw>
          </a:effectLst>
        </p:spPr>
      </p:sp>
      <p:pic>
        <p:nvPicPr>
          <p:cNvPr id="16" name="Image 3" descr="preencoded.png"/>
          <p:cNvPicPr>
            <a:picLocks noChangeAspect="1"/>
          </p:cNvPicPr>
          <p:nvPr/>
        </p:nvPicPr>
        <p:blipFill>
          <a:blip r:embed="rId6"/>
          <a:stretch>
            <a:fillRect/>
          </a:stretch>
        </p:blipFill>
        <p:spPr>
          <a:xfrm>
            <a:off x="347472" y="2212848"/>
            <a:ext cx="310896" cy="310896"/>
          </a:xfrm>
          <a:prstGeom prst="rect">
            <a:avLst/>
          </a:prstGeom>
        </p:spPr>
      </p:pic>
      <p:sp>
        <p:nvSpPr>
          <p:cNvPr id="17" name="Text 11"/>
          <p:cNvSpPr/>
          <p:nvPr/>
        </p:nvSpPr>
        <p:spPr>
          <a:xfrm>
            <a:off x="749808" y="2121408"/>
            <a:ext cx="1737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MAX30205</a:t>
            </a:r>
            <a:endParaRPr lang="en-US" sz="1200" dirty="0"/>
          </a:p>
        </p:txBody>
      </p:sp>
      <p:sp>
        <p:nvSpPr>
          <p:cNvPr id="18" name="Text 12"/>
          <p:cNvSpPr/>
          <p:nvPr/>
        </p:nvSpPr>
        <p:spPr>
          <a:xfrm>
            <a:off x="749808" y="2377440"/>
            <a:ext cx="173736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Temperature</a:t>
            </a:r>
            <a:endParaRPr lang="en-US" sz="900" dirty="0"/>
          </a:p>
        </p:txBody>
      </p:sp>
      <p:sp>
        <p:nvSpPr>
          <p:cNvPr id="19" name="Shape 13"/>
          <p:cNvSpPr/>
          <p:nvPr/>
        </p:nvSpPr>
        <p:spPr>
          <a:xfrm>
            <a:off x="2606040" y="2395728"/>
            <a:ext cx="777240" cy="0"/>
          </a:xfrm>
          <a:prstGeom prst="line">
            <a:avLst/>
          </a:prstGeom>
          <a:noFill/>
          <a:ln w="25400">
            <a:solidFill>
              <a:srgbClr val="F57C00"/>
            </a:solidFill>
            <a:prstDash val="solid"/>
          </a:ln>
        </p:spPr>
      </p:sp>
      <p:sp>
        <p:nvSpPr>
          <p:cNvPr id="20" name="Shape 14"/>
          <p:cNvSpPr/>
          <p:nvPr/>
        </p:nvSpPr>
        <p:spPr>
          <a:xfrm>
            <a:off x="274320" y="2962656"/>
            <a:ext cx="2331720" cy="658368"/>
          </a:xfrm>
          <a:prstGeom prst="rect">
            <a:avLst/>
          </a:prstGeom>
          <a:solidFill>
            <a:srgbClr val="00897B"/>
          </a:solidFill>
          <a:ln/>
          <a:effectLst>
            <a:outerShdw blurRad="101600" dist="38100" dir="8100000" algn="bl" rotWithShape="0">
              <a:srgbClr val="000000">
                <a:alpha val="12000"/>
              </a:srgbClr>
            </a:outerShdw>
          </a:effectLst>
        </p:spPr>
      </p:sp>
      <p:pic>
        <p:nvPicPr>
          <p:cNvPr id="21" name="Image 4" descr="preencoded.png"/>
          <p:cNvPicPr>
            <a:picLocks noChangeAspect="1"/>
          </p:cNvPicPr>
          <p:nvPr/>
        </p:nvPicPr>
        <p:blipFill>
          <a:blip r:embed="rId7"/>
          <a:stretch>
            <a:fillRect/>
          </a:stretch>
        </p:blipFill>
        <p:spPr>
          <a:xfrm>
            <a:off x="347472" y="3108960"/>
            <a:ext cx="310896" cy="310896"/>
          </a:xfrm>
          <a:prstGeom prst="rect">
            <a:avLst/>
          </a:prstGeom>
        </p:spPr>
      </p:pic>
      <p:sp>
        <p:nvSpPr>
          <p:cNvPr id="22" name="Text 15"/>
          <p:cNvSpPr/>
          <p:nvPr/>
        </p:nvSpPr>
        <p:spPr>
          <a:xfrm>
            <a:off x="749808" y="3017520"/>
            <a:ext cx="1737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LIS331DL</a:t>
            </a:r>
            <a:endParaRPr lang="en-US" sz="1200" dirty="0"/>
          </a:p>
        </p:txBody>
      </p:sp>
      <p:sp>
        <p:nvSpPr>
          <p:cNvPr id="23" name="Text 16"/>
          <p:cNvSpPr/>
          <p:nvPr/>
        </p:nvSpPr>
        <p:spPr>
          <a:xfrm>
            <a:off x="749808" y="3273552"/>
            <a:ext cx="173736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Accelerometer</a:t>
            </a:r>
            <a:endParaRPr lang="en-US" sz="900" dirty="0"/>
          </a:p>
        </p:txBody>
      </p:sp>
      <p:sp>
        <p:nvSpPr>
          <p:cNvPr id="24" name="Shape 17"/>
          <p:cNvSpPr/>
          <p:nvPr/>
        </p:nvSpPr>
        <p:spPr>
          <a:xfrm>
            <a:off x="2606040" y="3291840"/>
            <a:ext cx="777240" cy="0"/>
          </a:xfrm>
          <a:prstGeom prst="line">
            <a:avLst/>
          </a:prstGeom>
          <a:noFill/>
          <a:ln w="25400">
            <a:solidFill>
              <a:srgbClr val="00897B"/>
            </a:solidFill>
            <a:prstDash val="solid"/>
          </a:ln>
        </p:spPr>
      </p:sp>
      <p:sp>
        <p:nvSpPr>
          <p:cNvPr id="25" name="Text 18"/>
          <p:cNvSpPr/>
          <p:nvPr/>
        </p:nvSpPr>
        <p:spPr>
          <a:xfrm>
            <a:off x="1005840" y="3246120"/>
            <a:ext cx="1463040" cy="347472"/>
          </a:xfrm>
          <a:prstGeom prst="rect">
            <a:avLst/>
          </a:prstGeom>
          <a:noFill/>
          <a:ln/>
        </p:spPr>
        <p:txBody>
          <a:bodyPr wrap="square" lIns="0" tIns="0" rIns="0" bIns="0" rtlCol="0" anchor="ctr"/>
          <a:lstStyle/>
          <a:p>
            <a:pPr marL="0" indent="0" algn="ctr">
              <a:buNone/>
            </a:pPr>
            <a:r>
              <a:rPr lang="en-US" sz="850" i="1" dirty="0">
                <a:solidFill>
                  <a:srgbClr val="546E7A"/>
                </a:solidFill>
                <a:latin typeface="Calibri" pitchFamily="34" charset="0"/>
                <a:ea typeface="Calibri" pitchFamily="34" charset="-122"/>
                <a:cs typeface="Calibri" pitchFamily="34" charset="-120"/>
              </a:rPr>
              <a:t>I²C Bus</a:t>
            </a:r>
            <a:endParaRPr lang="en-US" sz="850" dirty="0"/>
          </a:p>
          <a:p>
            <a:pPr marL="0" indent="0" algn="ctr">
              <a:buNone/>
            </a:pPr>
            <a:r>
              <a:rPr lang="en-US" sz="850" i="1" dirty="0">
                <a:solidFill>
                  <a:srgbClr val="546E7A"/>
                </a:solidFill>
                <a:latin typeface="Calibri" pitchFamily="34" charset="0"/>
                <a:ea typeface="Calibri" pitchFamily="34" charset="-122"/>
                <a:cs typeface="Calibri" pitchFamily="34" charset="-120"/>
              </a:rPr>
              <a:t>DIO_5/DIO_6</a:t>
            </a:r>
            <a:endParaRPr lang="en-US" sz="850" dirty="0"/>
          </a:p>
        </p:txBody>
      </p:sp>
      <p:sp>
        <p:nvSpPr>
          <p:cNvPr id="26" name="Shape 19"/>
          <p:cNvSpPr/>
          <p:nvPr/>
        </p:nvSpPr>
        <p:spPr>
          <a:xfrm>
            <a:off x="6537960" y="1170432"/>
            <a:ext cx="2331720" cy="658368"/>
          </a:xfrm>
          <a:prstGeom prst="rect">
            <a:avLst/>
          </a:prstGeom>
          <a:solidFill>
            <a:srgbClr val="7B1FA2"/>
          </a:solidFill>
          <a:ln/>
          <a:effectLst>
            <a:outerShdw blurRad="101600" dist="38100" dir="8100000" algn="bl" rotWithShape="0">
              <a:srgbClr val="000000">
                <a:alpha val="12000"/>
              </a:srgbClr>
            </a:outerShdw>
          </a:effectLst>
        </p:spPr>
      </p:sp>
      <p:pic>
        <p:nvPicPr>
          <p:cNvPr id="27" name="Image 5" descr="preencoded.png"/>
          <p:cNvPicPr>
            <a:picLocks noChangeAspect="1"/>
          </p:cNvPicPr>
          <p:nvPr/>
        </p:nvPicPr>
        <p:blipFill>
          <a:blip r:embed="rId8"/>
          <a:stretch>
            <a:fillRect/>
          </a:stretch>
        </p:blipFill>
        <p:spPr>
          <a:xfrm>
            <a:off x="6611112" y="1316736"/>
            <a:ext cx="310896" cy="310896"/>
          </a:xfrm>
          <a:prstGeom prst="rect">
            <a:avLst/>
          </a:prstGeom>
        </p:spPr>
      </p:pic>
      <p:sp>
        <p:nvSpPr>
          <p:cNvPr id="28" name="Text 20"/>
          <p:cNvSpPr/>
          <p:nvPr/>
        </p:nvSpPr>
        <p:spPr>
          <a:xfrm>
            <a:off x="7013448" y="1225296"/>
            <a:ext cx="1737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LP5907 U101</a:t>
            </a:r>
            <a:endParaRPr lang="en-US" sz="1200" dirty="0"/>
          </a:p>
        </p:txBody>
      </p:sp>
      <p:sp>
        <p:nvSpPr>
          <p:cNvPr id="29" name="Text 21"/>
          <p:cNvSpPr/>
          <p:nvPr/>
        </p:nvSpPr>
        <p:spPr>
          <a:xfrm>
            <a:off x="7013448" y="1481328"/>
            <a:ext cx="173736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3.3V LDO</a:t>
            </a:r>
            <a:endParaRPr lang="en-US" sz="900" dirty="0"/>
          </a:p>
        </p:txBody>
      </p:sp>
      <p:sp>
        <p:nvSpPr>
          <p:cNvPr id="30" name="Shape 22"/>
          <p:cNvSpPr/>
          <p:nvPr/>
        </p:nvSpPr>
        <p:spPr>
          <a:xfrm>
            <a:off x="5760720" y="1499616"/>
            <a:ext cx="777240" cy="0"/>
          </a:xfrm>
          <a:prstGeom prst="line">
            <a:avLst/>
          </a:prstGeom>
          <a:noFill/>
          <a:ln w="25400">
            <a:solidFill>
              <a:srgbClr val="7B1FA2"/>
            </a:solidFill>
            <a:prstDash val="solid"/>
          </a:ln>
        </p:spPr>
      </p:sp>
      <p:sp>
        <p:nvSpPr>
          <p:cNvPr id="31" name="Shape 23"/>
          <p:cNvSpPr/>
          <p:nvPr/>
        </p:nvSpPr>
        <p:spPr>
          <a:xfrm>
            <a:off x="6537960" y="2066544"/>
            <a:ext cx="2331720" cy="658368"/>
          </a:xfrm>
          <a:prstGeom prst="rect">
            <a:avLst/>
          </a:prstGeom>
          <a:solidFill>
            <a:srgbClr val="6A1B9A"/>
          </a:solidFill>
          <a:ln/>
          <a:effectLst>
            <a:outerShdw blurRad="101600" dist="38100" dir="8100000" algn="bl" rotWithShape="0">
              <a:srgbClr val="000000">
                <a:alpha val="12000"/>
              </a:srgbClr>
            </a:outerShdw>
          </a:effectLst>
        </p:spPr>
      </p:sp>
      <p:pic>
        <p:nvPicPr>
          <p:cNvPr id="32" name="Image 6" descr="preencoded.png"/>
          <p:cNvPicPr>
            <a:picLocks noChangeAspect="1"/>
          </p:cNvPicPr>
          <p:nvPr/>
        </p:nvPicPr>
        <p:blipFill>
          <a:blip r:embed="rId8"/>
          <a:stretch>
            <a:fillRect/>
          </a:stretch>
        </p:blipFill>
        <p:spPr>
          <a:xfrm>
            <a:off x="6611112" y="2212848"/>
            <a:ext cx="310896" cy="310896"/>
          </a:xfrm>
          <a:prstGeom prst="rect">
            <a:avLst/>
          </a:prstGeom>
        </p:spPr>
      </p:pic>
      <p:sp>
        <p:nvSpPr>
          <p:cNvPr id="33" name="Text 24"/>
          <p:cNvSpPr/>
          <p:nvPr/>
        </p:nvSpPr>
        <p:spPr>
          <a:xfrm>
            <a:off x="7013448" y="2121408"/>
            <a:ext cx="1737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LP5907 U102</a:t>
            </a:r>
            <a:endParaRPr lang="en-US" sz="1200" dirty="0"/>
          </a:p>
        </p:txBody>
      </p:sp>
      <p:sp>
        <p:nvSpPr>
          <p:cNvPr id="34" name="Text 25"/>
          <p:cNvSpPr/>
          <p:nvPr/>
        </p:nvSpPr>
        <p:spPr>
          <a:xfrm>
            <a:off x="7013448" y="2377440"/>
            <a:ext cx="173736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1.8V LDO</a:t>
            </a:r>
            <a:endParaRPr lang="en-US" sz="900" dirty="0"/>
          </a:p>
        </p:txBody>
      </p:sp>
      <p:sp>
        <p:nvSpPr>
          <p:cNvPr id="35" name="Shape 26"/>
          <p:cNvSpPr/>
          <p:nvPr/>
        </p:nvSpPr>
        <p:spPr>
          <a:xfrm>
            <a:off x="5760720" y="2395728"/>
            <a:ext cx="777240" cy="0"/>
          </a:xfrm>
          <a:prstGeom prst="line">
            <a:avLst/>
          </a:prstGeom>
          <a:noFill/>
          <a:ln w="25400">
            <a:solidFill>
              <a:srgbClr val="6A1B9A"/>
            </a:solidFill>
            <a:prstDash val="solid"/>
          </a:ln>
        </p:spPr>
      </p:sp>
      <p:sp>
        <p:nvSpPr>
          <p:cNvPr id="36" name="Shape 27"/>
          <p:cNvSpPr/>
          <p:nvPr/>
        </p:nvSpPr>
        <p:spPr>
          <a:xfrm>
            <a:off x="6537960" y="2962656"/>
            <a:ext cx="2331720" cy="658368"/>
          </a:xfrm>
          <a:prstGeom prst="rect">
            <a:avLst/>
          </a:prstGeom>
          <a:solidFill>
            <a:srgbClr val="1565C0"/>
          </a:solidFill>
          <a:ln/>
          <a:effectLst>
            <a:outerShdw blurRad="101600" dist="38100" dir="8100000" algn="bl" rotWithShape="0">
              <a:srgbClr val="000000">
                <a:alpha val="12000"/>
              </a:srgbClr>
            </a:outerShdw>
          </a:effectLst>
        </p:spPr>
      </p:sp>
      <p:pic>
        <p:nvPicPr>
          <p:cNvPr id="37" name="Image 7" descr="preencoded.png"/>
          <p:cNvPicPr>
            <a:picLocks noChangeAspect="1"/>
          </p:cNvPicPr>
          <p:nvPr/>
        </p:nvPicPr>
        <p:blipFill>
          <a:blip r:embed="rId9"/>
          <a:stretch>
            <a:fillRect/>
          </a:stretch>
        </p:blipFill>
        <p:spPr>
          <a:xfrm>
            <a:off x="6611112" y="3108960"/>
            <a:ext cx="310896" cy="310896"/>
          </a:xfrm>
          <a:prstGeom prst="rect">
            <a:avLst/>
          </a:prstGeom>
        </p:spPr>
      </p:pic>
      <p:sp>
        <p:nvSpPr>
          <p:cNvPr id="38" name="Text 28"/>
          <p:cNvSpPr/>
          <p:nvPr/>
        </p:nvSpPr>
        <p:spPr>
          <a:xfrm>
            <a:off x="7013448" y="3017520"/>
            <a:ext cx="17373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PCB Antenna</a:t>
            </a:r>
            <a:endParaRPr lang="en-US" sz="1200" dirty="0"/>
          </a:p>
        </p:txBody>
      </p:sp>
      <p:sp>
        <p:nvSpPr>
          <p:cNvPr id="39" name="Text 29"/>
          <p:cNvSpPr/>
          <p:nvPr/>
        </p:nvSpPr>
        <p:spPr>
          <a:xfrm>
            <a:off x="7013448" y="3273552"/>
            <a:ext cx="173736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BLE 2.4GHz IFA</a:t>
            </a:r>
            <a:endParaRPr lang="en-US" sz="900" dirty="0"/>
          </a:p>
        </p:txBody>
      </p:sp>
      <p:sp>
        <p:nvSpPr>
          <p:cNvPr id="40" name="Shape 30"/>
          <p:cNvSpPr/>
          <p:nvPr/>
        </p:nvSpPr>
        <p:spPr>
          <a:xfrm>
            <a:off x="5760720" y="3291840"/>
            <a:ext cx="777240" cy="0"/>
          </a:xfrm>
          <a:prstGeom prst="line">
            <a:avLst/>
          </a:prstGeom>
          <a:noFill/>
          <a:ln w="25400">
            <a:solidFill>
              <a:srgbClr val="1565C0"/>
            </a:solidFill>
            <a:prstDash val="solid"/>
          </a:ln>
        </p:spPr>
      </p:sp>
      <p:sp>
        <p:nvSpPr>
          <p:cNvPr id="41" name="Shape 31"/>
          <p:cNvSpPr/>
          <p:nvPr/>
        </p:nvSpPr>
        <p:spPr>
          <a:xfrm>
            <a:off x="0" y="4041648"/>
            <a:ext cx="9144000" cy="256032"/>
          </a:xfrm>
          <a:prstGeom prst="rect">
            <a:avLst/>
          </a:prstGeom>
          <a:solidFill>
            <a:srgbClr val="ECEFF1"/>
          </a:solidFill>
          <a:ln/>
        </p:spPr>
      </p:sp>
      <p:sp>
        <p:nvSpPr>
          <p:cNvPr id="42" name="Text 32"/>
          <p:cNvSpPr/>
          <p:nvPr/>
        </p:nvSpPr>
        <p:spPr>
          <a:xfrm>
            <a:off x="274320" y="4059936"/>
            <a:ext cx="8595360" cy="201168"/>
          </a:xfrm>
          <a:prstGeom prst="rect">
            <a:avLst/>
          </a:prstGeom>
          <a:noFill/>
          <a:ln/>
        </p:spPr>
        <p:txBody>
          <a:bodyPr wrap="square" lIns="0" tIns="0" rIns="0" bIns="0" rtlCol="0" anchor="ctr"/>
          <a:lstStyle/>
          <a:p>
            <a:pPr marL="0" indent="0">
              <a:buNone/>
            </a:pPr>
            <a:r>
              <a:rPr lang="en-US" sz="850" dirty="0">
                <a:solidFill>
                  <a:srgbClr val="546E7A"/>
                </a:solidFill>
                <a:latin typeface="Calibri" pitchFamily="34" charset="0"/>
                <a:ea typeface="Calibri" pitchFamily="34" charset="-122"/>
                <a:cs typeface="Calibri" pitchFamily="34" charset="-120"/>
              </a:rPr>
              <a:t>VBAT → U101 (3.3V) + U102 (1.8V)  |  Y1 24MHz + Y2 32kHz crystals  |  FL1 ferrite bead  |  P1 18-pin JTAG header  |  L1 10µH DC-DC inductor  |  Passives: 27 capacitors + 11 resistors</a:t>
            </a:r>
            <a:endParaRPr lang="en-US" sz="850" dirty="0"/>
          </a:p>
        </p:txBody>
      </p:sp>
      <p:sp>
        <p:nvSpPr>
          <p:cNvPr id="43" name="Shape 33"/>
          <p:cNvSpPr/>
          <p:nvPr/>
        </p:nvSpPr>
        <p:spPr>
          <a:xfrm>
            <a:off x="274320" y="4343400"/>
            <a:ext cx="8595360" cy="594360"/>
          </a:xfrm>
          <a:prstGeom prst="rect">
            <a:avLst/>
          </a:prstGeom>
          <a:solidFill>
            <a:srgbClr val="FFFDE7"/>
          </a:solidFill>
          <a:ln w="12700">
            <a:solidFill>
              <a:srgbClr val="F9A825"/>
            </a:solidFill>
            <a:prstDash val="solid"/>
          </a:ln>
        </p:spPr>
      </p:sp>
      <p:pic>
        <p:nvPicPr>
          <p:cNvPr id="44" name="Image 8" descr="preencoded.png"/>
          <p:cNvPicPr>
            <a:picLocks noChangeAspect="1"/>
          </p:cNvPicPr>
          <p:nvPr/>
        </p:nvPicPr>
        <p:blipFill>
          <a:blip r:embed="rId10"/>
          <a:stretch>
            <a:fillRect/>
          </a:stretch>
        </p:blipFill>
        <p:spPr>
          <a:xfrm>
            <a:off x="365760" y="4416552"/>
            <a:ext cx="274320" cy="274320"/>
          </a:xfrm>
          <a:prstGeom prst="rect">
            <a:avLst/>
          </a:prstGeom>
        </p:spPr>
      </p:pic>
      <p:sp>
        <p:nvSpPr>
          <p:cNvPr id="45" name="Text 34"/>
          <p:cNvSpPr/>
          <p:nvPr/>
        </p:nvSpPr>
        <p:spPr>
          <a:xfrm>
            <a:off x="731520" y="4398264"/>
            <a:ext cx="804672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Teaching note — I²C bus topology</a:t>
            </a:r>
            <a:endParaRPr lang="en-US" sz="1000" dirty="0"/>
          </a:p>
        </p:txBody>
      </p:sp>
      <p:sp>
        <p:nvSpPr>
          <p:cNvPr id="46" name="Text 35"/>
          <p:cNvSpPr/>
          <p:nvPr/>
        </p:nvSpPr>
        <p:spPr>
          <a:xfrm>
            <a:off x="365760" y="4672584"/>
            <a:ext cx="8412480" cy="192024"/>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All 3 sensors share exactly 2 wires (SCL clock + SDA data). The CC2640R2F is the bus master — it initiates every transaction. Each sensor has a unique 7-bit address (0x57, 0x90, 0x19) so the master can talk to one at a time. Pull-up resistors R103/R104 (10kΩ) keep the lines HIGH when idle.</a:t>
            </a:r>
            <a:endParaRPr lang="en-US" sz="950" dirty="0"/>
          </a:p>
        </p:txBody>
      </p:sp>
      <p:sp>
        <p:nvSpPr>
          <p:cNvPr id="9901" name="SlideNum3"/>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3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65C0"/>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Microcontroller — CC2640R2FRSMR (U1)</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Texas Instruments  |  32-pin VFQFN (RSM)  |  The brain of the entire wearable system</a:t>
            </a:r>
            <a:endParaRPr lang="en-US" sz="1100" dirty="0"/>
          </a:p>
        </p:txBody>
      </p:sp>
      <p:sp>
        <p:nvSpPr>
          <p:cNvPr id="6" name="Shape 3"/>
          <p:cNvSpPr/>
          <p:nvPr/>
        </p:nvSpPr>
        <p:spPr>
          <a:xfrm>
            <a:off x="274320" y="1115568"/>
            <a:ext cx="4114800" cy="2148840"/>
          </a:xfrm>
          <a:prstGeom prst="rect">
            <a:avLst/>
          </a:prstGeom>
          <a:solidFill>
            <a:srgbClr val="ECEFF1"/>
          </a:solidFill>
          <a:ln/>
          <a:effectLst>
            <a:outerShdw blurRad="101600" dist="38100" dir="8100000" algn="bl" rotWithShape="0">
              <a:srgbClr val="000000">
                <a:alpha val="12000"/>
              </a:srgbClr>
            </a:outerShdw>
          </a:effectLst>
        </p:spPr>
      </p:sp>
      <p:sp>
        <p:nvSpPr>
          <p:cNvPr id="7" name="Text 4"/>
          <p:cNvSpPr/>
          <p:nvPr/>
        </p:nvSpPr>
        <p:spPr>
          <a:xfrm>
            <a:off x="457200" y="1188720"/>
            <a:ext cx="3749040" cy="256032"/>
          </a:xfrm>
          <a:prstGeom prst="rect">
            <a:avLst/>
          </a:prstGeom>
          <a:noFill/>
          <a:ln/>
        </p:spPr>
        <p:txBody>
          <a:bodyPr wrap="square" lIns="0" tIns="0" rIns="0" bIns="0"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Hardware Specifications</a:t>
            </a:r>
            <a:endParaRPr lang="en-US" sz="1300" dirty="0"/>
          </a:p>
        </p:txBody>
      </p:sp>
      <p:sp>
        <p:nvSpPr>
          <p:cNvPr id="8" name="Text 5"/>
          <p:cNvSpPr/>
          <p:nvPr/>
        </p:nvSpPr>
        <p:spPr>
          <a:xfrm>
            <a:off x="457200" y="1499616"/>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Architecture:</a:t>
            </a:r>
            <a:endParaRPr lang="en-US" sz="950" dirty="0"/>
          </a:p>
        </p:txBody>
      </p:sp>
      <p:sp>
        <p:nvSpPr>
          <p:cNvPr id="9" name="Text 6"/>
          <p:cNvSpPr/>
          <p:nvPr/>
        </p:nvSpPr>
        <p:spPr>
          <a:xfrm>
            <a:off x="2057400" y="1499616"/>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ARM Cortex-M3 @ up to 48MHz</a:t>
            </a:r>
            <a:endParaRPr lang="en-US" sz="950" dirty="0"/>
          </a:p>
        </p:txBody>
      </p:sp>
      <p:sp>
        <p:nvSpPr>
          <p:cNvPr id="10" name="Text 7"/>
          <p:cNvSpPr/>
          <p:nvPr/>
        </p:nvSpPr>
        <p:spPr>
          <a:xfrm>
            <a:off x="457200" y="1801368"/>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Flash:</a:t>
            </a:r>
            <a:endParaRPr lang="en-US" sz="950" dirty="0"/>
          </a:p>
        </p:txBody>
      </p:sp>
      <p:sp>
        <p:nvSpPr>
          <p:cNvPr id="11" name="Text 8"/>
          <p:cNvSpPr/>
          <p:nvPr/>
        </p:nvSpPr>
        <p:spPr>
          <a:xfrm>
            <a:off x="2057400" y="1801368"/>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128 kB (stores the firmware program)</a:t>
            </a:r>
            <a:endParaRPr lang="en-US" sz="950" dirty="0"/>
          </a:p>
        </p:txBody>
      </p:sp>
      <p:sp>
        <p:nvSpPr>
          <p:cNvPr id="12" name="Text 9"/>
          <p:cNvSpPr/>
          <p:nvPr/>
        </p:nvSpPr>
        <p:spPr>
          <a:xfrm>
            <a:off x="457200" y="2103120"/>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SRAM:</a:t>
            </a:r>
            <a:endParaRPr lang="en-US" sz="950" dirty="0"/>
          </a:p>
        </p:txBody>
      </p:sp>
      <p:sp>
        <p:nvSpPr>
          <p:cNvPr id="13" name="Text 10"/>
          <p:cNvSpPr/>
          <p:nvPr/>
        </p:nvSpPr>
        <p:spPr>
          <a:xfrm>
            <a:off x="2057400" y="2103120"/>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28 kB (runtime data &amp; stack)</a:t>
            </a:r>
            <a:endParaRPr lang="en-US" sz="950" dirty="0"/>
          </a:p>
        </p:txBody>
      </p:sp>
      <p:sp>
        <p:nvSpPr>
          <p:cNvPr id="14" name="Text 11"/>
          <p:cNvSpPr/>
          <p:nvPr/>
        </p:nvSpPr>
        <p:spPr>
          <a:xfrm>
            <a:off x="457200" y="2404872"/>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GPIO:</a:t>
            </a:r>
            <a:endParaRPr lang="en-US" sz="950" dirty="0"/>
          </a:p>
        </p:txBody>
      </p:sp>
      <p:sp>
        <p:nvSpPr>
          <p:cNvPr id="15" name="Text 12"/>
          <p:cNvSpPr/>
          <p:nvPr/>
        </p:nvSpPr>
        <p:spPr>
          <a:xfrm>
            <a:off x="2057400" y="2404872"/>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10 pins: DIO_0 – DIO_9</a:t>
            </a:r>
            <a:endParaRPr lang="en-US" sz="950" dirty="0"/>
          </a:p>
        </p:txBody>
      </p:sp>
      <p:sp>
        <p:nvSpPr>
          <p:cNvPr id="16" name="Text 13"/>
          <p:cNvSpPr/>
          <p:nvPr/>
        </p:nvSpPr>
        <p:spPr>
          <a:xfrm>
            <a:off x="457200" y="2706624"/>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Interfaces:</a:t>
            </a:r>
            <a:endParaRPr lang="en-US" sz="950" dirty="0"/>
          </a:p>
        </p:txBody>
      </p:sp>
      <p:sp>
        <p:nvSpPr>
          <p:cNvPr id="17" name="Text 14"/>
          <p:cNvSpPr/>
          <p:nvPr/>
        </p:nvSpPr>
        <p:spPr>
          <a:xfrm>
            <a:off x="2057400" y="2706624"/>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I²C, SPI, UART, ADC</a:t>
            </a:r>
            <a:endParaRPr lang="en-US" sz="950" dirty="0"/>
          </a:p>
        </p:txBody>
      </p:sp>
      <p:sp>
        <p:nvSpPr>
          <p:cNvPr id="18" name="Text 15"/>
          <p:cNvSpPr/>
          <p:nvPr/>
        </p:nvSpPr>
        <p:spPr>
          <a:xfrm>
            <a:off x="457200" y="3008376"/>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Supply voltage:</a:t>
            </a:r>
            <a:endParaRPr lang="en-US" sz="950" dirty="0"/>
          </a:p>
        </p:txBody>
      </p:sp>
      <p:sp>
        <p:nvSpPr>
          <p:cNvPr id="19" name="Text 16"/>
          <p:cNvSpPr/>
          <p:nvPr/>
        </p:nvSpPr>
        <p:spPr>
          <a:xfrm>
            <a:off x="2057400" y="3008376"/>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1.8V – 3.8V (powered from 3.3V rail)</a:t>
            </a:r>
            <a:endParaRPr lang="en-US" sz="950" dirty="0"/>
          </a:p>
        </p:txBody>
      </p:sp>
      <p:sp>
        <p:nvSpPr>
          <p:cNvPr id="20" name="Text 17"/>
          <p:cNvSpPr/>
          <p:nvPr/>
        </p:nvSpPr>
        <p:spPr>
          <a:xfrm>
            <a:off x="457200" y="3310128"/>
            <a:ext cx="1554480" cy="256032"/>
          </a:xfrm>
          <a:prstGeom prst="rect">
            <a:avLst/>
          </a:prstGeom>
          <a:noFill/>
          <a:ln/>
        </p:spPr>
        <p:txBody>
          <a:bodyPr wrap="square" lIns="0" tIns="0" rIns="0" bIns="0" rtlCol="0" anchor="ctr"/>
          <a:lstStyle/>
          <a:p>
            <a:pPr marL="0" indent="0">
              <a:buNone/>
            </a:pPr>
            <a:r>
              <a:rPr lang="en-US" sz="950" b="1" dirty="0">
                <a:solidFill>
                  <a:srgbClr val="546E7A"/>
                </a:solidFill>
                <a:latin typeface="Calibri" pitchFamily="34" charset="0"/>
                <a:ea typeface="Calibri" pitchFamily="34" charset="-122"/>
                <a:cs typeface="Calibri" pitchFamily="34" charset="-120"/>
              </a:rPr>
              <a:t>Wireless:</a:t>
            </a:r>
            <a:endParaRPr lang="en-US" sz="950" dirty="0"/>
          </a:p>
        </p:txBody>
      </p:sp>
      <p:sp>
        <p:nvSpPr>
          <p:cNvPr id="21" name="Text 18"/>
          <p:cNvSpPr/>
          <p:nvPr/>
        </p:nvSpPr>
        <p:spPr>
          <a:xfrm>
            <a:off x="2057400" y="3310128"/>
            <a:ext cx="2194560" cy="256032"/>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Integrated BLE 5.1 @ 2.4GHz radio</a:t>
            </a:r>
            <a:endParaRPr lang="en-US" sz="950" dirty="0"/>
          </a:p>
        </p:txBody>
      </p:sp>
      <p:sp>
        <p:nvSpPr>
          <p:cNvPr id="22" name="Shape 19"/>
          <p:cNvSpPr/>
          <p:nvPr/>
        </p:nvSpPr>
        <p:spPr>
          <a:xfrm>
            <a:off x="4663440" y="1115568"/>
            <a:ext cx="4206240" cy="2148840"/>
          </a:xfrm>
          <a:prstGeom prst="rect">
            <a:avLst/>
          </a:prstGeom>
          <a:solidFill>
            <a:srgbClr val="EEF2FF"/>
          </a:solidFill>
          <a:ln/>
          <a:effectLst>
            <a:outerShdw blurRad="101600" dist="38100" dir="8100000" algn="bl" rotWithShape="0">
              <a:srgbClr val="000000">
                <a:alpha val="12000"/>
              </a:srgbClr>
            </a:outerShdw>
          </a:effectLst>
        </p:spPr>
      </p:sp>
      <p:sp>
        <p:nvSpPr>
          <p:cNvPr id="23" name="Text 20"/>
          <p:cNvSpPr/>
          <p:nvPr/>
        </p:nvSpPr>
        <p:spPr>
          <a:xfrm>
            <a:off x="4846320" y="1188720"/>
            <a:ext cx="3840480" cy="256032"/>
          </a:xfrm>
          <a:prstGeom prst="rect">
            <a:avLst/>
          </a:prstGeom>
          <a:noFill/>
          <a:ln/>
        </p:spPr>
        <p:txBody>
          <a:bodyPr wrap="square" lIns="0" tIns="0" rIns="0" bIns="0"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Key Pin Assignments</a:t>
            </a:r>
            <a:endParaRPr lang="en-US" sz="1300" dirty="0"/>
          </a:p>
        </p:txBody>
      </p:sp>
      <p:sp>
        <p:nvSpPr>
          <p:cNvPr id="24" name="Shape 21"/>
          <p:cNvSpPr/>
          <p:nvPr/>
        </p:nvSpPr>
        <p:spPr>
          <a:xfrm>
            <a:off x="4754880" y="1481328"/>
            <a:ext cx="1188720" cy="219456"/>
          </a:xfrm>
          <a:prstGeom prst="rect">
            <a:avLst/>
          </a:prstGeom>
          <a:solidFill>
            <a:srgbClr val="0097A7"/>
          </a:solidFill>
          <a:ln/>
        </p:spPr>
      </p:sp>
      <p:sp>
        <p:nvSpPr>
          <p:cNvPr id="25" name="Text 22"/>
          <p:cNvSpPr/>
          <p:nvPr/>
        </p:nvSpPr>
        <p:spPr>
          <a:xfrm>
            <a:off x="4754880" y="1481328"/>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DIO_5 / DIO_6</a:t>
            </a:r>
            <a:endParaRPr lang="en-US" sz="750" dirty="0"/>
          </a:p>
        </p:txBody>
      </p:sp>
      <p:sp>
        <p:nvSpPr>
          <p:cNvPr id="26" name="Text 23"/>
          <p:cNvSpPr/>
          <p:nvPr/>
        </p:nvSpPr>
        <p:spPr>
          <a:xfrm>
            <a:off x="6035040" y="1481328"/>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I²C SCL / SDA — shared by all 3 sensors</a:t>
            </a:r>
            <a:endParaRPr lang="en-US" sz="850" dirty="0"/>
          </a:p>
        </p:txBody>
      </p:sp>
      <p:sp>
        <p:nvSpPr>
          <p:cNvPr id="27" name="Shape 24"/>
          <p:cNvSpPr/>
          <p:nvPr/>
        </p:nvSpPr>
        <p:spPr>
          <a:xfrm>
            <a:off x="4754880" y="1737360"/>
            <a:ext cx="1188720" cy="219456"/>
          </a:xfrm>
          <a:prstGeom prst="rect">
            <a:avLst/>
          </a:prstGeom>
          <a:solidFill>
            <a:srgbClr val="00897B"/>
          </a:solidFill>
          <a:ln/>
        </p:spPr>
      </p:sp>
      <p:sp>
        <p:nvSpPr>
          <p:cNvPr id="28" name="Text 25"/>
          <p:cNvSpPr/>
          <p:nvPr/>
        </p:nvSpPr>
        <p:spPr>
          <a:xfrm>
            <a:off x="4754880" y="1737360"/>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DIO_0 / DIO_1</a:t>
            </a:r>
            <a:endParaRPr lang="en-US" sz="750" dirty="0"/>
          </a:p>
        </p:txBody>
      </p:sp>
      <p:sp>
        <p:nvSpPr>
          <p:cNvPr id="29" name="Text 26"/>
          <p:cNvSpPr/>
          <p:nvPr/>
        </p:nvSpPr>
        <p:spPr>
          <a:xfrm>
            <a:off x="6035040" y="1737360"/>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Push buttons SW101 / SW102 user input</a:t>
            </a:r>
            <a:endParaRPr lang="en-US" sz="850" dirty="0"/>
          </a:p>
        </p:txBody>
      </p:sp>
      <p:sp>
        <p:nvSpPr>
          <p:cNvPr id="30" name="Shape 27"/>
          <p:cNvSpPr/>
          <p:nvPr/>
        </p:nvSpPr>
        <p:spPr>
          <a:xfrm>
            <a:off x="4754880" y="1993392"/>
            <a:ext cx="1188720" cy="219456"/>
          </a:xfrm>
          <a:prstGeom prst="rect">
            <a:avLst/>
          </a:prstGeom>
          <a:solidFill>
            <a:srgbClr val="F57C00"/>
          </a:solidFill>
          <a:ln/>
        </p:spPr>
      </p:sp>
      <p:sp>
        <p:nvSpPr>
          <p:cNvPr id="31" name="Text 28"/>
          <p:cNvSpPr/>
          <p:nvPr/>
        </p:nvSpPr>
        <p:spPr>
          <a:xfrm>
            <a:off x="4754880" y="1993392"/>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DIO_8</a:t>
            </a:r>
            <a:endParaRPr lang="en-US" sz="750" dirty="0"/>
          </a:p>
        </p:txBody>
      </p:sp>
      <p:sp>
        <p:nvSpPr>
          <p:cNvPr id="32" name="Text 29"/>
          <p:cNvSpPr/>
          <p:nvPr/>
        </p:nvSpPr>
        <p:spPr>
          <a:xfrm>
            <a:off x="6035040" y="1993392"/>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MAX30102 interrupt — signals new HR data ready</a:t>
            </a:r>
            <a:endParaRPr lang="en-US" sz="850" dirty="0"/>
          </a:p>
        </p:txBody>
      </p:sp>
      <p:sp>
        <p:nvSpPr>
          <p:cNvPr id="33" name="Shape 30"/>
          <p:cNvSpPr/>
          <p:nvPr/>
        </p:nvSpPr>
        <p:spPr>
          <a:xfrm>
            <a:off x="4754880" y="2249424"/>
            <a:ext cx="1188720" cy="219456"/>
          </a:xfrm>
          <a:prstGeom prst="rect">
            <a:avLst/>
          </a:prstGeom>
          <a:solidFill>
            <a:srgbClr val="7B1FA2"/>
          </a:solidFill>
          <a:ln/>
        </p:spPr>
      </p:sp>
      <p:sp>
        <p:nvSpPr>
          <p:cNvPr id="34" name="Text 31"/>
          <p:cNvSpPr/>
          <p:nvPr/>
        </p:nvSpPr>
        <p:spPr>
          <a:xfrm>
            <a:off x="4754880" y="2249424"/>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DIO_9 / DIO_2</a:t>
            </a:r>
            <a:endParaRPr lang="en-US" sz="750" dirty="0"/>
          </a:p>
        </p:txBody>
      </p:sp>
      <p:sp>
        <p:nvSpPr>
          <p:cNvPr id="35" name="Text 32"/>
          <p:cNvSpPr/>
          <p:nvPr/>
        </p:nvSpPr>
        <p:spPr>
          <a:xfrm>
            <a:off x="6035040" y="2249424"/>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LIS331 motion interrupts INT_1 / INT_2</a:t>
            </a:r>
            <a:endParaRPr lang="en-US" sz="850" dirty="0"/>
          </a:p>
        </p:txBody>
      </p:sp>
      <p:sp>
        <p:nvSpPr>
          <p:cNvPr id="36" name="Shape 33"/>
          <p:cNvSpPr/>
          <p:nvPr/>
        </p:nvSpPr>
        <p:spPr>
          <a:xfrm>
            <a:off x="4754880" y="2505456"/>
            <a:ext cx="1188720" cy="219456"/>
          </a:xfrm>
          <a:prstGeom prst="rect">
            <a:avLst/>
          </a:prstGeom>
          <a:solidFill>
            <a:srgbClr val="1565C0"/>
          </a:solidFill>
          <a:ln/>
        </p:spPr>
      </p:sp>
      <p:sp>
        <p:nvSpPr>
          <p:cNvPr id="37" name="Text 34"/>
          <p:cNvSpPr/>
          <p:nvPr/>
        </p:nvSpPr>
        <p:spPr>
          <a:xfrm>
            <a:off x="4754880" y="2505456"/>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DIO_3 / DIO_4</a:t>
            </a:r>
            <a:endParaRPr lang="en-US" sz="750" dirty="0"/>
          </a:p>
        </p:txBody>
      </p:sp>
      <p:sp>
        <p:nvSpPr>
          <p:cNvPr id="38" name="Text 35"/>
          <p:cNvSpPr/>
          <p:nvPr/>
        </p:nvSpPr>
        <p:spPr>
          <a:xfrm>
            <a:off x="6035040" y="2505456"/>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JTAG TCK / TMS — Code Composer Studio</a:t>
            </a:r>
            <a:endParaRPr lang="en-US" sz="850" dirty="0"/>
          </a:p>
        </p:txBody>
      </p:sp>
      <p:sp>
        <p:nvSpPr>
          <p:cNvPr id="39" name="Shape 36"/>
          <p:cNvSpPr/>
          <p:nvPr/>
        </p:nvSpPr>
        <p:spPr>
          <a:xfrm>
            <a:off x="4754880" y="2761488"/>
            <a:ext cx="1188720" cy="219456"/>
          </a:xfrm>
          <a:prstGeom prst="rect">
            <a:avLst/>
          </a:prstGeom>
          <a:solidFill>
            <a:srgbClr val="607D8B"/>
          </a:solidFill>
          <a:ln/>
        </p:spPr>
      </p:sp>
      <p:sp>
        <p:nvSpPr>
          <p:cNvPr id="40" name="Text 37"/>
          <p:cNvSpPr/>
          <p:nvPr/>
        </p:nvSpPr>
        <p:spPr>
          <a:xfrm>
            <a:off x="4754880" y="2761488"/>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DCDC_SW (18)</a:t>
            </a:r>
            <a:endParaRPr lang="en-US" sz="750" dirty="0"/>
          </a:p>
        </p:txBody>
      </p:sp>
      <p:sp>
        <p:nvSpPr>
          <p:cNvPr id="41" name="Text 38"/>
          <p:cNvSpPr/>
          <p:nvPr/>
        </p:nvSpPr>
        <p:spPr>
          <a:xfrm>
            <a:off x="6035040" y="2761488"/>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Internal DC-DC → L1 (10µH) → VDDS rail</a:t>
            </a:r>
            <a:endParaRPr lang="en-US" sz="850" dirty="0"/>
          </a:p>
        </p:txBody>
      </p:sp>
      <p:sp>
        <p:nvSpPr>
          <p:cNvPr id="42" name="Shape 39"/>
          <p:cNvSpPr/>
          <p:nvPr/>
        </p:nvSpPr>
        <p:spPr>
          <a:xfrm>
            <a:off x="4754880" y="3017520"/>
            <a:ext cx="1188720" cy="219456"/>
          </a:xfrm>
          <a:prstGeom prst="rect">
            <a:avLst/>
          </a:prstGeom>
          <a:solidFill>
            <a:srgbClr val="00BCD4"/>
          </a:solidFill>
          <a:ln/>
        </p:spPr>
      </p:sp>
      <p:sp>
        <p:nvSpPr>
          <p:cNvPr id="43" name="Text 40"/>
          <p:cNvSpPr/>
          <p:nvPr/>
        </p:nvSpPr>
        <p:spPr>
          <a:xfrm>
            <a:off x="4754880" y="3017520"/>
            <a:ext cx="1188720"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RF_P / RF_N</a:t>
            </a:r>
            <a:endParaRPr lang="en-US" sz="750" dirty="0"/>
          </a:p>
        </p:txBody>
      </p:sp>
      <p:sp>
        <p:nvSpPr>
          <p:cNvPr id="44" name="Text 41"/>
          <p:cNvSpPr/>
          <p:nvPr/>
        </p:nvSpPr>
        <p:spPr>
          <a:xfrm>
            <a:off x="6035040" y="3017520"/>
            <a:ext cx="2651760" cy="219456"/>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BLE RF output → L12/L21/C14 → antenna</a:t>
            </a:r>
            <a:endParaRPr lang="en-US" sz="850" dirty="0"/>
          </a:p>
        </p:txBody>
      </p:sp>
      <p:sp>
        <p:nvSpPr>
          <p:cNvPr id="45" name="Shape 42"/>
          <p:cNvSpPr/>
          <p:nvPr/>
        </p:nvSpPr>
        <p:spPr>
          <a:xfrm>
            <a:off x="274320" y="3364992"/>
            <a:ext cx="4114800" cy="914400"/>
          </a:xfrm>
          <a:prstGeom prst="rect">
            <a:avLst/>
          </a:prstGeom>
          <a:solidFill>
            <a:srgbClr val="E3F2FD"/>
          </a:solidFill>
          <a:ln w="12700">
            <a:solidFill>
              <a:srgbClr val="1565C0"/>
            </a:solidFill>
            <a:prstDash val="solid"/>
          </a:ln>
        </p:spPr>
      </p:sp>
      <p:sp>
        <p:nvSpPr>
          <p:cNvPr id="46" name="Text 43"/>
          <p:cNvSpPr/>
          <p:nvPr/>
        </p:nvSpPr>
        <p:spPr>
          <a:xfrm>
            <a:off x="457200" y="3438144"/>
            <a:ext cx="3749040" cy="237744"/>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What is ARM Cortex-M3?</a:t>
            </a:r>
            <a:endParaRPr lang="en-US" sz="1100" dirty="0"/>
          </a:p>
        </p:txBody>
      </p:sp>
      <p:sp>
        <p:nvSpPr>
          <p:cNvPr id="47" name="Text 44"/>
          <p:cNvSpPr/>
          <p:nvPr/>
        </p:nvSpPr>
        <p:spPr>
          <a:xfrm>
            <a:off x="457200" y="3694176"/>
            <a:ext cx="3749040" cy="530352"/>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ARM is a processor architecture (like x86 in your PC but much smaller and lower power). Cortex-M3 is a 32-bit core optimised for microcontrollers — it runs real firmware code, handles interrupts, and manages peripherals. TI adds the BLE radio, memory, and I/O pins around this core.</a:t>
            </a:r>
            <a:endParaRPr lang="en-US" sz="900" dirty="0"/>
          </a:p>
        </p:txBody>
      </p:sp>
      <p:sp>
        <p:nvSpPr>
          <p:cNvPr id="48" name="Shape 45"/>
          <p:cNvSpPr/>
          <p:nvPr/>
        </p:nvSpPr>
        <p:spPr>
          <a:xfrm>
            <a:off x="4663440" y="3364992"/>
            <a:ext cx="4206240" cy="914400"/>
          </a:xfrm>
          <a:prstGeom prst="rect">
            <a:avLst/>
          </a:prstGeom>
          <a:solidFill>
            <a:srgbClr val="F3E5F5"/>
          </a:solidFill>
          <a:ln w="12700">
            <a:solidFill>
              <a:srgbClr val="7B1FA2"/>
            </a:solidFill>
            <a:prstDash val="solid"/>
          </a:ln>
        </p:spPr>
      </p:sp>
      <p:sp>
        <p:nvSpPr>
          <p:cNvPr id="49" name="Text 46"/>
          <p:cNvSpPr/>
          <p:nvPr/>
        </p:nvSpPr>
        <p:spPr>
          <a:xfrm>
            <a:off x="4846320" y="3438144"/>
            <a:ext cx="3840480" cy="237744"/>
          </a:xfrm>
          <a:prstGeom prst="rect">
            <a:avLst/>
          </a:prstGeom>
          <a:noFill/>
          <a:ln/>
        </p:spPr>
        <p:txBody>
          <a:bodyPr wrap="square" lIns="0" tIns="0" rIns="0" bIns="0" rtlCol="0" anchor="ctr"/>
          <a:lstStyle/>
          <a:p>
            <a:pPr marL="0" indent="0">
              <a:buNone/>
            </a:pPr>
            <a:r>
              <a:rPr lang="en-US" sz="1100" b="1" dirty="0">
                <a:solidFill>
                  <a:srgbClr val="7B1FA2"/>
                </a:solidFill>
                <a:latin typeface="Calibri" pitchFamily="34" charset="0"/>
                <a:ea typeface="Calibri" pitchFamily="34" charset="-122"/>
                <a:cs typeface="Calibri" pitchFamily="34" charset="-120"/>
              </a:rPr>
              <a:t>What is JTAG?</a:t>
            </a:r>
            <a:endParaRPr lang="en-US" sz="1100" dirty="0"/>
          </a:p>
        </p:txBody>
      </p:sp>
      <p:sp>
        <p:nvSpPr>
          <p:cNvPr id="50" name="Text 47"/>
          <p:cNvSpPr/>
          <p:nvPr/>
        </p:nvSpPr>
        <p:spPr>
          <a:xfrm>
            <a:off x="4846320" y="3694176"/>
            <a:ext cx="3840480" cy="530352"/>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JTAG (Joint Test Action Group) is a standard 4-wire debug interface. It lets a PC tool (Code Composer Studio) pause the chip mid-execution, inspect memory, set breakpoints, and flash new firmware. The XDS110 probe converts USB on the PC side to JTAG signals on the chip side.</a:t>
            </a:r>
            <a:endParaRPr lang="en-US" sz="900" dirty="0"/>
          </a:p>
        </p:txBody>
      </p:sp>
      <p:sp>
        <p:nvSpPr>
          <p:cNvPr id="51" name="Shape 48"/>
          <p:cNvSpPr/>
          <p:nvPr/>
        </p:nvSpPr>
        <p:spPr>
          <a:xfrm>
            <a:off x="274320" y="4370832"/>
            <a:ext cx="8595360" cy="594360"/>
          </a:xfrm>
          <a:prstGeom prst="rect">
            <a:avLst/>
          </a:prstGeom>
          <a:solidFill>
            <a:srgbClr val="FFFDE7"/>
          </a:solidFill>
          <a:ln w="12700">
            <a:solidFill>
              <a:srgbClr val="F9A825"/>
            </a:solidFill>
            <a:prstDash val="solid"/>
          </a:ln>
        </p:spPr>
      </p:sp>
      <p:pic>
        <p:nvPicPr>
          <p:cNvPr id="52" name="Image 1" descr="preencoded.png"/>
          <p:cNvPicPr>
            <a:picLocks noChangeAspect="1"/>
          </p:cNvPicPr>
          <p:nvPr/>
        </p:nvPicPr>
        <p:blipFill>
          <a:blip r:embed="rId4"/>
          <a:stretch>
            <a:fillRect/>
          </a:stretch>
        </p:blipFill>
        <p:spPr>
          <a:xfrm>
            <a:off x="365760" y="4443984"/>
            <a:ext cx="274320" cy="274320"/>
          </a:xfrm>
          <a:prstGeom prst="rect">
            <a:avLst/>
          </a:prstGeom>
        </p:spPr>
      </p:pic>
      <p:sp>
        <p:nvSpPr>
          <p:cNvPr id="53" name="Text 49"/>
          <p:cNvSpPr/>
          <p:nvPr/>
        </p:nvSpPr>
        <p:spPr>
          <a:xfrm>
            <a:off x="731520" y="4425696"/>
            <a:ext cx="804672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Teaching note — Why does flash size matter in embedded systems?</a:t>
            </a:r>
            <a:endParaRPr lang="en-US" sz="1000" dirty="0"/>
          </a:p>
        </p:txBody>
      </p:sp>
      <p:sp>
        <p:nvSpPr>
          <p:cNvPr id="54" name="Text 50"/>
          <p:cNvSpPr/>
          <p:nvPr/>
        </p:nvSpPr>
        <p:spPr>
          <a:xfrm>
            <a:off x="365760" y="4700016"/>
            <a:ext cx="8412480" cy="192024"/>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Unlike a PC that loads programs from an SSD, an embedded MCU stores firmware permanently in its own flash. 128kB must hold: the BLE stack (~50kB), all application code, font bitmaps, and RTOS. This is why every byte of code matters in embedded development — there is no 'more storage'.</a:t>
            </a:r>
            <a:endParaRPr lang="en-US" sz="950" dirty="0"/>
          </a:p>
        </p:txBody>
      </p:sp>
      <p:sp>
        <p:nvSpPr>
          <p:cNvPr id="9901" name="SlideNum4"/>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4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7A7"/>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Sensor ICs — How Vital Signs Are Measured</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Three sensors, one I²C bus — measuring heart rate, blood oxygen, temperature, and motion</a:t>
            </a:r>
            <a:endParaRPr lang="en-US" sz="1100" dirty="0"/>
          </a:p>
        </p:txBody>
      </p:sp>
      <p:sp>
        <p:nvSpPr>
          <p:cNvPr id="6" name="Shape 3"/>
          <p:cNvSpPr/>
          <p:nvPr/>
        </p:nvSpPr>
        <p:spPr>
          <a:xfrm>
            <a:off x="274320" y="1078992"/>
            <a:ext cx="8595360" cy="1024128"/>
          </a:xfrm>
          <a:prstGeom prst="rect">
            <a:avLst/>
          </a:prstGeom>
          <a:solidFill>
            <a:srgbClr val="ECEFF1"/>
          </a:solidFill>
          <a:ln/>
          <a:effectLst>
            <a:outerShdw blurRad="101600" dist="38100" dir="8100000" algn="bl" rotWithShape="0">
              <a:srgbClr val="000000">
                <a:alpha val="12000"/>
              </a:srgbClr>
            </a:outerShdw>
          </a:effectLst>
        </p:spPr>
      </p:sp>
      <p:sp>
        <p:nvSpPr>
          <p:cNvPr id="7" name="Shape 4"/>
          <p:cNvSpPr/>
          <p:nvPr/>
        </p:nvSpPr>
        <p:spPr>
          <a:xfrm>
            <a:off x="274320" y="1078992"/>
            <a:ext cx="384048" cy="1024128"/>
          </a:xfrm>
          <a:prstGeom prst="rect">
            <a:avLst/>
          </a:prstGeom>
          <a:solidFill>
            <a:srgbClr val="0097A7"/>
          </a:solidFill>
          <a:ln/>
        </p:spPr>
      </p:sp>
      <p:pic>
        <p:nvPicPr>
          <p:cNvPr id="8" name="Image 1" descr="preencoded.png"/>
          <p:cNvPicPr>
            <a:picLocks noChangeAspect="1"/>
          </p:cNvPicPr>
          <p:nvPr/>
        </p:nvPicPr>
        <p:blipFill>
          <a:blip r:embed="rId3"/>
          <a:stretch>
            <a:fillRect/>
          </a:stretch>
        </p:blipFill>
        <p:spPr>
          <a:xfrm>
            <a:off x="310896" y="1417320"/>
            <a:ext cx="274320" cy="274320"/>
          </a:xfrm>
          <a:prstGeom prst="rect">
            <a:avLst/>
          </a:prstGeom>
        </p:spPr>
      </p:pic>
      <p:sp>
        <p:nvSpPr>
          <p:cNvPr id="9" name="Text 5"/>
          <p:cNvSpPr/>
          <p:nvPr/>
        </p:nvSpPr>
        <p:spPr>
          <a:xfrm>
            <a:off x="777240" y="1133856"/>
            <a:ext cx="7955280" cy="237744"/>
          </a:xfrm>
          <a:prstGeom prst="rect">
            <a:avLst/>
          </a:prstGeom>
          <a:noFill/>
          <a:ln/>
        </p:spPr>
        <p:txBody>
          <a:bodyPr wrap="square" lIns="0" tIns="0" rIns="0" bIns="0" rtlCol="0" anchor="ctr"/>
          <a:lstStyle/>
          <a:p>
            <a:pPr marL="0" indent="0">
              <a:buNone/>
            </a:pPr>
            <a:r>
              <a:rPr lang="en-US" sz="1100" b="1" dirty="0">
                <a:solidFill>
                  <a:srgbClr val="0097A7"/>
                </a:solidFill>
                <a:latin typeface="Calibri" pitchFamily="34" charset="0"/>
                <a:ea typeface="Calibri" pitchFamily="34" charset="-122"/>
                <a:cs typeface="Calibri" pitchFamily="34" charset="-120"/>
              </a:rPr>
              <a:t>MAX30102EFD+ — Heart Rate &amp; SpO2  |  Analog Devices  |  14-pin PSON  |  I²C 0x57  |  1.8V supply</a:t>
            </a:r>
            <a:endParaRPr lang="en-US" sz="1100" dirty="0"/>
          </a:p>
        </p:txBody>
      </p:sp>
      <p:sp>
        <p:nvSpPr>
          <p:cNvPr id="10" name="Text 6"/>
          <p:cNvSpPr/>
          <p:nvPr/>
        </p:nvSpPr>
        <p:spPr>
          <a:xfrm>
            <a:off x="777240" y="1389888"/>
            <a:ext cx="7955280" cy="658368"/>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How PPG works: The sensor shines a red LED (660nm) and IR LED (880nm) through the skin. A photodetector measures the light that bounces back. With each heartbeat, blood vessels expand slightly — more blood absorbs more light. The chip counts these pulses to calculate BPM. For SpO2: oxygenated haemoglobin absorbs IR more than red; deoxygenated absorbs red more. The ratio of red/IR absorption gives the SpO2% (normal = 95–100%). LED current set to 6.2mA in firmware. Interrupt on DIO_8 fires when new sample is ready.</a:t>
            </a:r>
            <a:endParaRPr lang="en-US" sz="880" dirty="0"/>
          </a:p>
        </p:txBody>
      </p:sp>
      <p:sp>
        <p:nvSpPr>
          <p:cNvPr id="11" name="Shape 7"/>
          <p:cNvSpPr/>
          <p:nvPr/>
        </p:nvSpPr>
        <p:spPr>
          <a:xfrm>
            <a:off x="274320" y="2176272"/>
            <a:ext cx="8595360" cy="914400"/>
          </a:xfrm>
          <a:prstGeom prst="rect">
            <a:avLst/>
          </a:prstGeom>
          <a:solidFill>
            <a:srgbClr val="ECEFF1"/>
          </a:solidFill>
          <a:ln/>
          <a:effectLst>
            <a:outerShdw blurRad="101600" dist="38100" dir="8100000" algn="bl" rotWithShape="0">
              <a:srgbClr val="000000">
                <a:alpha val="12000"/>
              </a:srgbClr>
            </a:outerShdw>
          </a:effectLst>
        </p:spPr>
      </p:sp>
      <p:sp>
        <p:nvSpPr>
          <p:cNvPr id="12" name="Shape 8"/>
          <p:cNvSpPr/>
          <p:nvPr/>
        </p:nvSpPr>
        <p:spPr>
          <a:xfrm>
            <a:off x="274320" y="2176272"/>
            <a:ext cx="384048" cy="914400"/>
          </a:xfrm>
          <a:prstGeom prst="rect">
            <a:avLst/>
          </a:prstGeom>
          <a:solidFill>
            <a:srgbClr val="F57C00"/>
          </a:solidFill>
          <a:ln/>
        </p:spPr>
      </p:sp>
      <p:pic>
        <p:nvPicPr>
          <p:cNvPr id="13" name="Image 2" descr="preencoded.png"/>
          <p:cNvPicPr>
            <a:picLocks noChangeAspect="1"/>
          </p:cNvPicPr>
          <p:nvPr/>
        </p:nvPicPr>
        <p:blipFill>
          <a:blip r:embed="rId4"/>
          <a:stretch>
            <a:fillRect/>
          </a:stretch>
        </p:blipFill>
        <p:spPr>
          <a:xfrm>
            <a:off x="310896" y="2450592"/>
            <a:ext cx="274320" cy="274320"/>
          </a:xfrm>
          <a:prstGeom prst="rect">
            <a:avLst/>
          </a:prstGeom>
        </p:spPr>
      </p:pic>
      <p:sp>
        <p:nvSpPr>
          <p:cNvPr id="14" name="Text 9"/>
          <p:cNvSpPr/>
          <p:nvPr/>
        </p:nvSpPr>
        <p:spPr>
          <a:xfrm>
            <a:off x="777240" y="2231136"/>
            <a:ext cx="7955280" cy="237744"/>
          </a:xfrm>
          <a:prstGeom prst="rect">
            <a:avLst/>
          </a:prstGeom>
          <a:noFill/>
          <a:ln/>
        </p:spPr>
        <p:txBody>
          <a:bodyPr wrap="square" lIns="0" tIns="0" rIns="0" bIns="0" rtlCol="0" anchor="ctr"/>
          <a:lstStyle/>
          <a:p>
            <a:pPr marL="0" indent="0">
              <a:buNone/>
            </a:pPr>
            <a:r>
              <a:rPr lang="en-US" sz="1100" b="1" dirty="0">
                <a:solidFill>
                  <a:srgbClr val="F57C00"/>
                </a:solidFill>
                <a:latin typeface="Calibri" pitchFamily="34" charset="0"/>
                <a:ea typeface="Calibri" pitchFamily="34" charset="-122"/>
                <a:cs typeface="Calibri" pitchFamily="34" charset="-120"/>
              </a:rPr>
              <a:t>MAX30205MTA+T — Body Temperature  |  Analog Devices  |  9-pin TDFN 3×3  |  I²C 0x90  |  3.3V supply</a:t>
            </a:r>
            <a:endParaRPr lang="en-US" sz="1100" dirty="0"/>
          </a:p>
        </p:txBody>
      </p:sp>
      <p:sp>
        <p:nvSpPr>
          <p:cNvPr id="15" name="Text 10"/>
          <p:cNvSpPr/>
          <p:nvPr/>
        </p:nvSpPr>
        <p:spPr>
          <a:xfrm>
            <a:off x="777240" y="2487168"/>
            <a:ext cx="7955280" cy="548640"/>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Clinical accuracy ±0.1°C with 16-bit resolution (0.00390625°C per bit). Range: 0°C–45°C — covers all human body temperatures including fever. Internally uses a silicon bandgap temperature sensor — the forward voltage of a p-n junction changes predictably with temperature. I²C address 0x90 (address pins A0/A1/A2 = GND). OS (overtemperature shutdown) pin can fire a hardware interrupt if temperature exceeds a threshold set in firmware — enabling automatic fever alerts without CPU polling.</a:t>
            </a:r>
            <a:endParaRPr lang="en-US" sz="880" dirty="0"/>
          </a:p>
        </p:txBody>
      </p:sp>
      <p:sp>
        <p:nvSpPr>
          <p:cNvPr id="16" name="Shape 11"/>
          <p:cNvSpPr/>
          <p:nvPr/>
        </p:nvSpPr>
        <p:spPr>
          <a:xfrm>
            <a:off x="274320" y="3163824"/>
            <a:ext cx="8595360" cy="914400"/>
          </a:xfrm>
          <a:prstGeom prst="rect">
            <a:avLst/>
          </a:prstGeom>
          <a:solidFill>
            <a:srgbClr val="ECEFF1"/>
          </a:solidFill>
          <a:ln/>
          <a:effectLst>
            <a:outerShdw blurRad="101600" dist="38100" dir="8100000" algn="bl" rotWithShape="0">
              <a:srgbClr val="000000">
                <a:alpha val="12000"/>
              </a:srgbClr>
            </a:outerShdw>
          </a:effectLst>
        </p:spPr>
      </p:sp>
      <p:sp>
        <p:nvSpPr>
          <p:cNvPr id="17" name="Shape 12"/>
          <p:cNvSpPr/>
          <p:nvPr/>
        </p:nvSpPr>
        <p:spPr>
          <a:xfrm>
            <a:off x="274320" y="3163824"/>
            <a:ext cx="384048" cy="914400"/>
          </a:xfrm>
          <a:prstGeom prst="rect">
            <a:avLst/>
          </a:prstGeom>
          <a:solidFill>
            <a:srgbClr val="00897B"/>
          </a:solidFill>
          <a:ln/>
        </p:spPr>
      </p:sp>
      <p:pic>
        <p:nvPicPr>
          <p:cNvPr id="18" name="Image 3" descr="preencoded.png"/>
          <p:cNvPicPr>
            <a:picLocks noChangeAspect="1"/>
          </p:cNvPicPr>
          <p:nvPr/>
        </p:nvPicPr>
        <p:blipFill>
          <a:blip r:embed="rId5"/>
          <a:stretch>
            <a:fillRect/>
          </a:stretch>
        </p:blipFill>
        <p:spPr>
          <a:xfrm>
            <a:off x="310896" y="3438144"/>
            <a:ext cx="274320" cy="274320"/>
          </a:xfrm>
          <a:prstGeom prst="rect">
            <a:avLst/>
          </a:prstGeom>
        </p:spPr>
      </p:pic>
      <p:sp>
        <p:nvSpPr>
          <p:cNvPr id="19" name="Text 13"/>
          <p:cNvSpPr/>
          <p:nvPr/>
        </p:nvSpPr>
        <p:spPr>
          <a:xfrm>
            <a:off x="777240" y="3218688"/>
            <a:ext cx="7955280" cy="237744"/>
          </a:xfrm>
          <a:prstGeom prst="rect">
            <a:avLst/>
          </a:prstGeom>
          <a:noFill/>
          <a:ln/>
        </p:spPr>
        <p:txBody>
          <a:bodyPr wrap="square" lIns="0" tIns="0" rIns="0" bIns="0" rtlCol="0" anchor="ctr"/>
          <a:lstStyle/>
          <a:p>
            <a:pPr marL="0" indent="0">
              <a:buNone/>
            </a:pPr>
            <a:r>
              <a:rPr lang="en-US" sz="1100" b="1" dirty="0">
                <a:solidFill>
                  <a:srgbClr val="00897B"/>
                </a:solidFill>
                <a:latin typeface="Calibri" pitchFamily="34" charset="0"/>
                <a:ea typeface="Calibri" pitchFamily="34" charset="-122"/>
                <a:cs typeface="Calibri" pitchFamily="34" charset="-120"/>
              </a:rPr>
              <a:t>LIS331DLHTR — 3-Axis Accelerometer  |  STMicroelectronics  |  16-pin LGA  |  I²C 0x19  |  3.3V supply</a:t>
            </a:r>
            <a:endParaRPr lang="en-US" sz="1100" dirty="0"/>
          </a:p>
        </p:txBody>
      </p:sp>
      <p:sp>
        <p:nvSpPr>
          <p:cNvPr id="20" name="Text 14"/>
          <p:cNvSpPr/>
          <p:nvPr/>
        </p:nvSpPr>
        <p:spPr>
          <a:xfrm>
            <a:off x="777240" y="3474720"/>
            <a:ext cx="7955280" cy="548640"/>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MEMS (Micro-Electro-Mechanical Systems) capacitive accelerometer — microscopic silicon proof masses suspended by springs detect acceleration by measuring capacitance change. Measures X/Y/Z acceleration at ±2g/±4g/±8g (selectable). Data rate: 50Hz–1kHz configurable. Uses: step counting, fall detection, posture analysis, motion artifact removal from PPG signal. Two interrupt pins (INT_1 → DIO_9, INT_2 → DIO_2) for autonomous event detection — free-fall, threshold crossing, orientation change — without waking the CPU.</a:t>
            </a:r>
            <a:endParaRPr lang="en-US" sz="880" dirty="0"/>
          </a:p>
        </p:txBody>
      </p:sp>
      <p:sp>
        <p:nvSpPr>
          <p:cNvPr id="21" name="Shape 15"/>
          <p:cNvSpPr/>
          <p:nvPr/>
        </p:nvSpPr>
        <p:spPr>
          <a:xfrm>
            <a:off x="274320" y="4160520"/>
            <a:ext cx="8595360" cy="804672"/>
          </a:xfrm>
          <a:prstGeom prst="rect">
            <a:avLst/>
          </a:prstGeom>
          <a:solidFill>
            <a:srgbClr val="FFFDE7"/>
          </a:solidFill>
          <a:ln w="12700">
            <a:solidFill>
              <a:srgbClr val="F9A825"/>
            </a:solidFill>
            <a:prstDash val="solid"/>
          </a:ln>
        </p:spPr>
      </p:sp>
      <p:pic>
        <p:nvPicPr>
          <p:cNvPr id="22" name="Image 4" descr="preencoded.png"/>
          <p:cNvPicPr>
            <a:picLocks noChangeAspect="1"/>
          </p:cNvPicPr>
          <p:nvPr/>
        </p:nvPicPr>
        <p:blipFill>
          <a:blip r:embed="rId6"/>
          <a:stretch>
            <a:fillRect/>
          </a:stretch>
        </p:blipFill>
        <p:spPr>
          <a:xfrm>
            <a:off x="365760" y="4233672"/>
            <a:ext cx="274320" cy="274320"/>
          </a:xfrm>
          <a:prstGeom prst="rect">
            <a:avLst/>
          </a:prstGeom>
        </p:spPr>
      </p:pic>
      <p:sp>
        <p:nvSpPr>
          <p:cNvPr id="23" name="Text 16"/>
          <p:cNvSpPr/>
          <p:nvPr/>
        </p:nvSpPr>
        <p:spPr>
          <a:xfrm>
            <a:off x="731520" y="4215384"/>
            <a:ext cx="804672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Teaching note — Why use interrupts instead of polling?</a:t>
            </a:r>
            <a:endParaRPr lang="en-US" sz="1000" dirty="0"/>
          </a:p>
        </p:txBody>
      </p:sp>
      <p:sp>
        <p:nvSpPr>
          <p:cNvPr id="24" name="Text 17"/>
          <p:cNvSpPr/>
          <p:nvPr/>
        </p:nvSpPr>
        <p:spPr>
          <a:xfrm>
            <a:off x="365760" y="4489704"/>
            <a:ext cx="8412480" cy="402336"/>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Polling means the CPU constantly asks 'do you have data yet?' in a loop — wasting power. Interrupts let the sensor say 'I have data NOW' via a dedicated pin (DIO_8 for MAX30102). The CPU sleeps between measurements, achieving the &lt;1µA deep sleep current critical for 73-hour battery life. This interrupt-driven design is a core embedded systems principle.</a:t>
            </a:r>
            <a:endParaRPr lang="en-US" sz="950" dirty="0"/>
          </a:p>
        </p:txBody>
      </p:sp>
      <p:sp>
        <p:nvSpPr>
          <p:cNvPr id="9901" name="SlideNum5"/>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5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B1FA2"/>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Power Architecture — Dual-Rail Design</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VBAT (LiPo battery) → two LP5907 LDO regulators → clean 3.3V and 1.8V rails with firmware-controlled power gating</a:t>
            </a:r>
            <a:endParaRPr lang="en-US" sz="1100" dirty="0"/>
          </a:p>
        </p:txBody>
      </p:sp>
      <p:sp>
        <p:nvSpPr>
          <p:cNvPr id="6" name="Shape 3"/>
          <p:cNvSpPr/>
          <p:nvPr/>
        </p:nvSpPr>
        <p:spPr>
          <a:xfrm>
            <a:off x="274320" y="1115568"/>
            <a:ext cx="1554480" cy="685800"/>
          </a:xfrm>
          <a:prstGeom prst="rect">
            <a:avLst/>
          </a:prstGeom>
          <a:solidFill>
            <a:srgbClr val="4A148C"/>
          </a:solidFill>
          <a:ln/>
          <a:effectLst>
            <a:outerShdw blurRad="101600" dist="38100" dir="8100000" algn="bl" rotWithShape="0">
              <a:srgbClr val="000000">
                <a:alpha val="12000"/>
              </a:srgbClr>
            </a:outerShdw>
          </a:effectLst>
        </p:spPr>
      </p:sp>
      <p:sp>
        <p:nvSpPr>
          <p:cNvPr id="7" name="Text 4"/>
          <p:cNvSpPr/>
          <p:nvPr/>
        </p:nvSpPr>
        <p:spPr>
          <a:xfrm>
            <a:off x="274320" y="1115568"/>
            <a:ext cx="15544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VBAT</a:t>
            </a:r>
            <a:endParaRPr lang="en-US" sz="1400" dirty="0"/>
          </a:p>
        </p:txBody>
      </p:sp>
      <p:sp>
        <p:nvSpPr>
          <p:cNvPr id="8" name="Text 5"/>
          <p:cNvSpPr/>
          <p:nvPr/>
        </p:nvSpPr>
        <p:spPr>
          <a:xfrm>
            <a:off x="274320" y="1463040"/>
            <a:ext cx="1554480" cy="256032"/>
          </a:xfrm>
          <a:prstGeom prst="rect">
            <a:avLst/>
          </a:prstGeom>
          <a:noFill/>
          <a:ln/>
        </p:spPr>
        <p:txBody>
          <a:bodyPr wrap="square" lIns="0" tIns="0" rIns="0" bIns="0" rtlCol="0" anchor="ctr"/>
          <a:lstStyle/>
          <a:p>
            <a:pPr marL="0" indent="0" algn="ctr">
              <a:buNone/>
            </a:pPr>
            <a:r>
              <a:rPr lang="en-US" sz="900" dirty="0">
                <a:solidFill>
                  <a:srgbClr val="CE93D8"/>
                </a:solidFill>
                <a:latin typeface="Calibri" pitchFamily="34" charset="0"/>
                <a:ea typeface="Calibri" pitchFamily="34" charset="-122"/>
                <a:cs typeface="Calibri" pitchFamily="34" charset="-120"/>
              </a:rPr>
              <a:t>LiPo ~3.7V</a:t>
            </a:r>
            <a:endParaRPr lang="en-US" sz="900" dirty="0"/>
          </a:p>
        </p:txBody>
      </p:sp>
      <p:sp>
        <p:nvSpPr>
          <p:cNvPr id="9" name="Shape 6"/>
          <p:cNvSpPr/>
          <p:nvPr/>
        </p:nvSpPr>
        <p:spPr>
          <a:xfrm>
            <a:off x="1828800" y="1453896"/>
            <a:ext cx="640080" cy="0"/>
          </a:xfrm>
          <a:prstGeom prst="line">
            <a:avLst/>
          </a:prstGeom>
          <a:noFill/>
          <a:ln w="25400">
            <a:solidFill>
              <a:srgbClr val="7B1FA2"/>
            </a:solidFill>
            <a:prstDash val="solid"/>
          </a:ln>
        </p:spPr>
      </p:sp>
      <p:sp>
        <p:nvSpPr>
          <p:cNvPr id="10" name="Shape 7"/>
          <p:cNvSpPr/>
          <p:nvPr/>
        </p:nvSpPr>
        <p:spPr>
          <a:xfrm>
            <a:off x="1828800" y="1453896"/>
            <a:ext cx="365760" cy="868680"/>
          </a:xfrm>
          <a:prstGeom prst="line">
            <a:avLst/>
          </a:prstGeom>
          <a:noFill/>
          <a:ln w="25400">
            <a:solidFill>
              <a:srgbClr val="7B1FA2"/>
            </a:solidFill>
            <a:prstDash val="solid"/>
          </a:ln>
        </p:spPr>
      </p:sp>
      <p:sp>
        <p:nvSpPr>
          <p:cNvPr id="11" name="Shape 8"/>
          <p:cNvSpPr/>
          <p:nvPr/>
        </p:nvSpPr>
        <p:spPr>
          <a:xfrm>
            <a:off x="2194560" y="2322576"/>
            <a:ext cx="274320" cy="0"/>
          </a:xfrm>
          <a:prstGeom prst="line">
            <a:avLst/>
          </a:prstGeom>
          <a:noFill/>
          <a:ln w="25400">
            <a:solidFill>
              <a:srgbClr val="7B1FA2"/>
            </a:solidFill>
            <a:prstDash val="solid"/>
          </a:ln>
        </p:spPr>
      </p:sp>
      <p:sp>
        <p:nvSpPr>
          <p:cNvPr id="12" name="Shape 9"/>
          <p:cNvSpPr/>
          <p:nvPr/>
        </p:nvSpPr>
        <p:spPr>
          <a:xfrm>
            <a:off x="2468880" y="1115568"/>
            <a:ext cx="2011680" cy="685800"/>
          </a:xfrm>
          <a:prstGeom prst="rect">
            <a:avLst/>
          </a:prstGeom>
          <a:solidFill>
            <a:srgbClr val="1565C0"/>
          </a:solidFill>
          <a:ln/>
          <a:effectLst>
            <a:outerShdw blurRad="101600" dist="38100" dir="8100000" algn="bl" rotWithShape="0">
              <a:srgbClr val="000000">
                <a:alpha val="12000"/>
              </a:srgbClr>
            </a:outerShdw>
          </a:effectLst>
        </p:spPr>
      </p:sp>
      <p:sp>
        <p:nvSpPr>
          <p:cNvPr id="13" name="Text 10"/>
          <p:cNvSpPr/>
          <p:nvPr/>
        </p:nvSpPr>
        <p:spPr>
          <a:xfrm>
            <a:off x="2468880" y="1115568"/>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U101 — LP5907MFX-3.3</a:t>
            </a:r>
            <a:endParaRPr lang="en-US" sz="1000" dirty="0"/>
          </a:p>
        </p:txBody>
      </p:sp>
      <p:sp>
        <p:nvSpPr>
          <p:cNvPr id="14" name="Text 11"/>
          <p:cNvSpPr/>
          <p:nvPr/>
        </p:nvSpPr>
        <p:spPr>
          <a:xfrm>
            <a:off x="2468880" y="1463040"/>
            <a:ext cx="2011680" cy="274320"/>
          </a:xfrm>
          <a:prstGeom prst="rect">
            <a:avLst/>
          </a:prstGeom>
          <a:noFill/>
          <a:ln/>
        </p:spPr>
        <p:txBody>
          <a:bodyPr wrap="square" lIns="0" tIns="0" rIns="0" bIns="0" rtlCol="0" anchor="ctr"/>
          <a:lstStyle/>
          <a:p>
            <a:pPr marL="0" indent="0" algn="ctr">
              <a:buNone/>
            </a:pPr>
            <a:r>
              <a:rPr lang="en-US" sz="900" dirty="0">
                <a:solidFill>
                  <a:srgbClr val="BBDEFB"/>
                </a:solidFill>
                <a:latin typeface="Calibri" pitchFamily="34" charset="0"/>
                <a:ea typeface="Calibri" pitchFamily="34" charset="-122"/>
                <a:cs typeface="Calibri" pitchFamily="34" charset="-120"/>
              </a:rPr>
              <a:t>Output: 3.3V (NL3V3)</a:t>
            </a:r>
            <a:endParaRPr lang="en-US" sz="900" dirty="0"/>
          </a:p>
        </p:txBody>
      </p:sp>
      <p:sp>
        <p:nvSpPr>
          <p:cNvPr id="15" name="Shape 12"/>
          <p:cNvSpPr/>
          <p:nvPr/>
        </p:nvSpPr>
        <p:spPr>
          <a:xfrm>
            <a:off x="2468880" y="1984248"/>
            <a:ext cx="2011680" cy="685800"/>
          </a:xfrm>
          <a:prstGeom prst="rect">
            <a:avLst/>
          </a:prstGeom>
          <a:solidFill>
            <a:srgbClr val="0097A7"/>
          </a:solidFill>
          <a:ln/>
          <a:effectLst>
            <a:outerShdw blurRad="101600" dist="38100" dir="8100000" algn="bl" rotWithShape="0">
              <a:srgbClr val="000000">
                <a:alpha val="12000"/>
              </a:srgbClr>
            </a:outerShdw>
          </a:effectLst>
        </p:spPr>
      </p:sp>
      <p:sp>
        <p:nvSpPr>
          <p:cNvPr id="16" name="Text 13"/>
          <p:cNvSpPr/>
          <p:nvPr/>
        </p:nvSpPr>
        <p:spPr>
          <a:xfrm>
            <a:off x="2468880" y="1984248"/>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U102 — LP5907MFX-1.8</a:t>
            </a:r>
            <a:endParaRPr lang="en-US" sz="1000" dirty="0"/>
          </a:p>
        </p:txBody>
      </p:sp>
      <p:sp>
        <p:nvSpPr>
          <p:cNvPr id="17" name="Text 14"/>
          <p:cNvSpPr/>
          <p:nvPr/>
        </p:nvSpPr>
        <p:spPr>
          <a:xfrm>
            <a:off x="2468880" y="2331720"/>
            <a:ext cx="2011680" cy="274320"/>
          </a:xfrm>
          <a:prstGeom prst="rect">
            <a:avLst/>
          </a:prstGeom>
          <a:noFill/>
          <a:ln/>
        </p:spPr>
        <p:txBody>
          <a:bodyPr wrap="square" lIns="0" tIns="0" rIns="0" bIns="0" rtlCol="0" anchor="ctr"/>
          <a:lstStyle/>
          <a:p>
            <a:pPr marL="0" indent="0" algn="ctr">
              <a:buNone/>
            </a:pPr>
            <a:r>
              <a:rPr lang="en-US" sz="900" dirty="0">
                <a:solidFill>
                  <a:srgbClr val="B2EBF2"/>
                </a:solidFill>
                <a:latin typeface="Calibri" pitchFamily="34" charset="0"/>
                <a:ea typeface="Calibri" pitchFamily="34" charset="-122"/>
                <a:cs typeface="Calibri" pitchFamily="34" charset="-120"/>
              </a:rPr>
              <a:t>Output: 1.8V (NL1V8)</a:t>
            </a:r>
            <a:endParaRPr lang="en-US" sz="900" dirty="0"/>
          </a:p>
        </p:txBody>
      </p:sp>
      <p:sp>
        <p:nvSpPr>
          <p:cNvPr id="18" name="Shape 15"/>
          <p:cNvSpPr/>
          <p:nvPr/>
        </p:nvSpPr>
        <p:spPr>
          <a:xfrm>
            <a:off x="4480560" y="1453896"/>
            <a:ext cx="457200" cy="0"/>
          </a:xfrm>
          <a:prstGeom prst="line">
            <a:avLst/>
          </a:prstGeom>
          <a:noFill/>
          <a:ln w="25400">
            <a:solidFill>
              <a:srgbClr val="1565C0"/>
            </a:solidFill>
            <a:prstDash val="solid"/>
          </a:ln>
        </p:spPr>
      </p:sp>
      <p:sp>
        <p:nvSpPr>
          <p:cNvPr id="19" name="Shape 16"/>
          <p:cNvSpPr/>
          <p:nvPr/>
        </p:nvSpPr>
        <p:spPr>
          <a:xfrm>
            <a:off x="4480560" y="2322576"/>
            <a:ext cx="457200" cy="0"/>
          </a:xfrm>
          <a:prstGeom prst="line">
            <a:avLst/>
          </a:prstGeom>
          <a:noFill/>
          <a:ln w="25400">
            <a:solidFill>
              <a:srgbClr val="0097A7"/>
            </a:solidFill>
            <a:prstDash val="solid"/>
          </a:ln>
        </p:spPr>
      </p:sp>
      <p:sp>
        <p:nvSpPr>
          <p:cNvPr id="20" name="Shape 17"/>
          <p:cNvSpPr/>
          <p:nvPr/>
        </p:nvSpPr>
        <p:spPr>
          <a:xfrm>
            <a:off x="4937760" y="987552"/>
            <a:ext cx="3931920" cy="1005840"/>
          </a:xfrm>
          <a:prstGeom prst="rect">
            <a:avLst/>
          </a:prstGeom>
          <a:solidFill>
            <a:srgbClr val="EEF2FF"/>
          </a:solidFill>
          <a:ln w="12700">
            <a:solidFill>
              <a:srgbClr val="1565C0"/>
            </a:solidFill>
            <a:prstDash val="solid"/>
          </a:ln>
        </p:spPr>
      </p:sp>
      <p:sp>
        <p:nvSpPr>
          <p:cNvPr id="21" name="Text 18"/>
          <p:cNvSpPr/>
          <p:nvPr/>
        </p:nvSpPr>
        <p:spPr>
          <a:xfrm>
            <a:off x="5120640" y="1042416"/>
            <a:ext cx="3566160" cy="237744"/>
          </a:xfrm>
          <a:prstGeom prst="rect">
            <a:avLst/>
          </a:prstGeom>
          <a:noFill/>
          <a:ln/>
        </p:spPr>
        <p:txBody>
          <a:bodyPr wrap="square" lIns="0" tIns="0" rIns="0" bIns="0"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3.3V consumers:</a:t>
            </a:r>
            <a:endParaRPr lang="en-US" sz="1000" dirty="0"/>
          </a:p>
        </p:txBody>
      </p:sp>
      <p:sp>
        <p:nvSpPr>
          <p:cNvPr id="22" name="Text 19"/>
          <p:cNvSpPr/>
          <p:nvPr/>
        </p:nvSpPr>
        <p:spPr>
          <a:xfrm>
            <a:off x="5120640" y="1298448"/>
            <a:ext cx="3566160" cy="621792"/>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CC2640R2F digital I/O  •  LIS331DL accelerometer  •  MAX30205 temperature  •  Push buttons  •  I²C pull-up resistors R103/R104</a:t>
            </a:r>
            <a:endParaRPr lang="en-US" sz="900" dirty="0"/>
          </a:p>
        </p:txBody>
      </p:sp>
      <p:sp>
        <p:nvSpPr>
          <p:cNvPr id="23" name="Shape 20"/>
          <p:cNvSpPr/>
          <p:nvPr/>
        </p:nvSpPr>
        <p:spPr>
          <a:xfrm>
            <a:off x="4937760" y="2066544"/>
            <a:ext cx="3931920" cy="621792"/>
          </a:xfrm>
          <a:prstGeom prst="rect">
            <a:avLst/>
          </a:prstGeom>
          <a:solidFill>
            <a:srgbClr val="E0F7FA"/>
          </a:solidFill>
          <a:ln w="12700">
            <a:solidFill>
              <a:srgbClr val="0097A7"/>
            </a:solidFill>
            <a:prstDash val="solid"/>
          </a:ln>
        </p:spPr>
      </p:sp>
      <p:sp>
        <p:nvSpPr>
          <p:cNvPr id="24" name="Text 21"/>
          <p:cNvSpPr/>
          <p:nvPr/>
        </p:nvSpPr>
        <p:spPr>
          <a:xfrm>
            <a:off x="5120640" y="2103120"/>
            <a:ext cx="3566160" cy="237744"/>
          </a:xfrm>
          <a:prstGeom prst="rect">
            <a:avLst/>
          </a:prstGeom>
          <a:noFill/>
          <a:ln/>
        </p:spPr>
        <p:txBody>
          <a:bodyPr wrap="square" lIns="0" tIns="0" rIns="0" bIns="0"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1.8V consumer:</a:t>
            </a:r>
            <a:endParaRPr lang="en-US" sz="1000" dirty="0"/>
          </a:p>
        </p:txBody>
      </p:sp>
      <p:sp>
        <p:nvSpPr>
          <p:cNvPr id="25" name="Text 22"/>
          <p:cNvSpPr/>
          <p:nvPr/>
        </p:nvSpPr>
        <p:spPr>
          <a:xfrm>
            <a:off x="5120640" y="2340864"/>
            <a:ext cx="3566160" cy="292608"/>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MAX30102 only — the heart rate sensor's analogue front end needs 1.8V for accurate optical measurements</a:t>
            </a:r>
            <a:endParaRPr lang="en-US" sz="900" dirty="0"/>
          </a:p>
        </p:txBody>
      </p:sp>
      <p:sp>
        <p:nvSpPr>
          <p:cNvPr id="26" name="Shape 23"/>
          <p:cNvSpPr/>
          <p:nvPr/>
        </p:nvSpPr>
        <p:spPr>
          <a:xfrm>
            <a:off x="274320" y="2816352"/>
            <a:ext cx="4114800" cy="1024128"/>
          </a:xfrm>
          <a:prstGeom prst="rect">
            <a:avLst/>
          </a:prstGeom>
          <a:solidFill>
            <a:srgbClr val="F3E5F5"/>
          </a:solidFill>
          <a:ln w="12700">
            <a:solidFill>
              <a:srgbClr val="7B1FA2"/>
            </a:solidFill>
            <a:prstDash val="solid"/>
          </a:ln>
        </p:spPr>
      </p:sp>
      <p:sp>
        <p:nvSpPr>
          <p:cNvPr id="27" name="Text 24"/>
          <p:cNvSpPr/>
          <p:nvPr/>
        </p:nvSpPr>
        <p:spPr>
          <a:xfrm>
            <a:off x="457200" y="2889504"/>
            <a:ext cx="3749040" cy="237744"/>
          </a:xfrm>
          <a:prstGeom prst="rect">
            <a:avLst/>
          </a:prstGeom>
          <a:noFill/>
          <a:ln/>
        </p:spPr>
        <p:txBody>
          <a:bodyPr wrap="square" lIns="0" tIns="0" rIns="0" bIns="0" rtlCol="0" anchor="ctr"/>
          <a:lstStyle/>
          <a:p>
            <a:pPr marL="0" indent="0">
              <a:buNone/>
            </a:pPr>
            <a:r>
              <a:rPr lang="en-US" sz="1100" b="1" dirty="0">
                <a:solidFill>
                  <a:srgbClr val="7B1FA2"/>
                </a:solidFill>
                <a:latin typeface="Calibri" pitchFamily="34" charset="0"/>
                <a:ea typeface="Calibri" pitchFamily="34" charset="-122"/>
                <a:cs typeface="Calibri" pitchFamily="34" charset="-120"/>
              </a:rPr>
              <a:t>What is an LDO regulator?</a:t>
            </a:r>
            <a:endParaRPr lang="en-US" sz="1100" dirty="0"/>
          </a:p>
        </p:txBody>
      </p:sp>
      <p:sp>
        <p:nvSpPr>
          <p:cNvPr id="28" name="Text 25"/>
          <p:cNvSpPr/>
          <p:nvPr/>
        </p:nvSpPr>
        <p:spPr>
          <a:xfrm>
            <a:off x="457200" y="3145536"/>
            <a:ext cx="3749040" cy="621792"/>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LDO = Low Dropout. It converts a higher voltage (VBAT ~3.7V) to a stable lower voltage (3.3V or 1.8V) even when the input is only slightly higher than the output. 'Ultra-low noise' matters here: LP5907 noise = 6.4µVRMS — essential because the MAX30102 optical sensor is measuring tiny light intensity changes. Any noise on its power supply appears as fake heartbeat signals.</a:t>
            </a:r>
            <a:endParaRPr lang="en-US" sz="880" dirty="0"/>
          </a:p>
        </p:txBody>
      </p:sp>
      <p:sp>
        <p:nvSpPr>
          <p:cNvPr id="29" name="Shape 26"/>
          <p:cNvSpPr/>
          <p:nvPr/>
        </p:nvSpPr>
        <p:spPr>
          <a:xfrm>
            <a:off x="4663440" y="2816352"/>
            <a:ext cx="4206240" cy="1024128"/>
          </a:xfrm>
          <a:prstGeom prst="rect">
            <a:avLst/>
          </a:prstGeom>
          <a:solidFill>
            <a:srgbClr val="E8F5E9"/>
          </a:solidFill>
          <a:ln w="12700">
            <a:solidFill>
              <a:srgbClr val="00897B"/>
            </a:solidFill>
            <a:prstDash val="solid"/>
          </a:ln>
        </p:spPr>
      </p:sp>
      <p:sp>
        <p:nvSpPr>
          <p:cNvPr id="30" name="Text 27"/>
          <p:cNvSpPr/>
          <p:nvPr/>
        </p:nvSpPr>
        <p:spPr>
          <a:xfrm>
            <a:off x="4846320" y="2889504"/>
            <a:ext cx="3840480" cy="237744"/>
          </a:xfrm>
          <a:prstGeom prst="rect">
            <a:avLst/>
          </a:prstGeom>
          <a:noFill/>
          <a:ln/>
        </p:spPr>
        <p:txBody>
          <a:bodyPr wrap="square" lIns="0" tIns="0" rIns="0" bIns="0" rtlCol="0" anchor="ctr"/>
          <a:lstStyle/>
          <a:p>
            <a:pPr marL="0" indent="0">
              <a:buNone/>
            </a:pPr>
            <a:r>
              <a:rPr lang="en-US" sz="1100" b="1" dirty="0">
                <a:solidFill>
                  <a:srgbClr val="00897B"/>
                </a:solidFill>
                <a:latin typeface="Calibri" pitchFamily="34" charset="0"/>
                <a:ea typeface="Calibri" pitchFamily="34" charset="-122"/>
                <a:cs typeface="Calibri" pitchFamily="34" charset="-120"/>
              </a:rPr>
              <a:t>Internal DC-DC Converter + Power Gating</a:t>
            </a:r>
            <a:endParaRPr lang="en-US" sz="1100" dirty="0"/>
          </a:p>
        </p:txBody>
      </p:sp>
      <p:sp>
        <p:nvSpPr>
          <p:cNvPr id="31" name="Text 28"/>
          <p:cNvSpPr/>
          <p:nvPr/>
        </p:nvSpPr>
        <p:spPr>
          <a:xfrm>
            <a:off x="4846320" y="3145536"/>
            <a:ext cx="3840480" cy="621792"/>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DCDC_SW (pin 18) → L1 10µH (Taiyo Yuden) → C5/C8 10µF → VDDS rail. The switching converter is more efficient than a pure LDO for the CPU core supply. Both LP5907 EN pins are connected to CC2640R2F GPIOs — firmware can shut off sensors completely during BLE sleep, achieving &lt;1µA standby and ~73h on 150mAh battery.</a:t>
            </a:r>
            <a:endParaRPr lang="en-US" sz="880" dirty="0"/>
          </a:p>
        </p:txBody>
      </p:sp>
      <p:sp>
        <p:nvSpPr>
          <p:cNvPr id="32" name="Shape 29"/>
          <p:cNvSpPr/>
          <p:nvPr/>
        </p:nvSpPr>
        <p:spPr>
          <a:xfrm>
            <a:off x="274320" y="3913632"/>
            <a:ext cx="8595360" cy="804672"/>
          </a:xfrm>
          <a:prstGeom prst="rect">
            <a:avLst/>
          </a:prstGeom>
          <a:solidFill>
            <a:srgbClr val="FFFDE7"/>
          </a:solidFill>
          <a:ln w="12700">
            <a:solidFill>
              <a:srgbClr val="F9A825"/>
            </a:solidFill>
            <a:prstDash val="solid"/>
          </a:ln>
        </p:spPr>
      </p:sp>
      <p:pic>
        <p:nvPicPr>
          <p:cNvPr id="33" name="Image 1" descr="preencoded.png"/>
          <p:cNvPicPr>
            <a:picLocks noChangeAspect="1"/>
          </p:cNvPicPr>
          <p:nvPr/>
        </p:nvPicPr>
        <p:blipFill>
          <a:blip r:embed="rId4"/>
          <a:stretch>
            <a:fillRect/>
          </a:stretch>
        </p:blipFill>
        <p:spPr>
          <a:xfrm>
            <a:off x="365760" y="3986784"/>
            <a:ext cx="274320" cy="274320"/>
          </a:xfrm>
          <a:prstGeom prst="rect">
            <a:avLst/>
          </a:prstGeom>
        </p:spPr>
      </p:pic>
      <p:sp>
        <p:nvSpPr>
          <p:cNvPr id="34" name="Text 30"/>
          <p:cNvSpPr/>
          <p:nvPr/>
        </p:nvSpPr>
        <p:spPr>
          <a:xfrm>
            <a:off x="731520" y="3968496"/>
            <a:ext cx="804672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Teaching note — Why does the MAX30102 need its own separate 1.8V rail?</a:t>
            </a:r>
            <a:endParaRPr lang="en-US" sz="1000" dirty="0"/>
          </a:p>
        </p:txBody>
      </p:sp>
      <p:sp>
        <p:nvSpPr>
          <p:cNvPr id="35" name="Text 31"/>
          <p:cNvSpPr/>
          <p:nvPr/>
        </p:nvSpPr>
        <p:spPr>
          <a:xfrm>
            <a:off x="365760" y="4242816"/>
            <a:ext cx="8412480" cy="402336"/>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The MAX30102 analogue front end (the optical sensor circuitry) is extremely sensitive to power supply noise. A shared noisy rail would contaminate the tiny photocurrent signals it measures, producing false heart rate readings. Giving it a dedicated ultra-low-noise 1.8V supply isolates it completely. This is a classic analogue/digital separation principle in mixed-signal PCB design.</a:t>
            </a:r>
            <a:endParaRPr lang="en-US" sz="950" dirty="0"/>
          </a:p>
        </p:txBody>
      </p:sp>
      <p:sp>
        <p:nvSpPr>
          <p:cNvPr id="9901" name="SlideNum6"/>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6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RF, Timing &amp; Support Components</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Crystals, RF matching, ferrite bead, and expansion header — each has a precise engineering purpose</a:t>
            </a:r>
            <a:endParaRPr lang="en-US" sz="1100" dirty="0"/>
          </a:p>
        </p:txBody>
      </p:sp>
      <p:sp>
        <p:nvSpPr>
          <p:cNvPr id="6" name="Shape 3"/>
          <p:cNvSpPr/>
          <p:nvPr/>
        </p:nvSpPr>
        <p:spPr>
          <a:xfrm>
            <a:off x="274320" y="1078992"/>
            <a:ext cx="4160520" cy="1097280"/>
          </a:xfrm>
          <a:prstGeom prst="rect">
            <a:avLst/>
          </a:prstGeom>
          <a:solidFill>
            <a:srgbClr val="ECEFF1"/>
          </a:solidFill>
          <a:ln/>
          <a:effectLst>
            <a:outerShdw blurRad="101600" dist="38100" dir="8100000" algn="bl" rotWithShape="0">
              <a:srgbClr val="000000">
                <a:alpha val="12000"/>
              </a:srgbClr>
            </a:outerShdw>
          </a:effectLst>
        </p:spPr>
      </p:sp>
      <p:sp>
        <p:nvSpPr>
          <p:cNvPr id="7" name="Shape 4"/>
          <p:cNvSpPr/>
          <p:nvPr/>
        </p:nvSpPr>
        <p:spPr>
          <a:xfrm>
            <a:off x="274320" y="1078992"/>
            <a:ext cx="384048" cy="1097280"/>
          </a:xfrm>
          <a:prstGeom prst="rect">
            <a:avLst/>
          </a:prstGeom>
          <a:solidFill>
            <a:srgbClr val="1565C0"/>
          </a:solidFill>
          <a:ln/>
        </p:spPr>
      </p:sp>
      <p:pic>
        <p:nvPicPr>
          <p:cNvPr id="8" name="Image 1" descr="preencoded.png"/>
          <p:cNvPicPr>
            <a:picLocks noChangeAspect="1"/>
          </p:cNvPicPr>
          <p:nvPr/>
        </p:nvPicPr>
        <p:blipFill>
          <a:blip r:embed="rId4"/>
          <a:stretch>
            <a:fillRect/>
          </a:stretch>
        </p:blipFill>
        <p:spPr>
          <a:xfrm>
            <a:off x="320040" y="1463040"/>
            <a:ext cx="292608" cy="292608"/>
          </a:xfrm>
          <a:prstGeom prst="rect">
            <a:avLst/>
          </a:prstGeom>
        </p:spPr>
      </p:pic>
      <p:sp>
        <p:nvSpPr>
          <p:cNvPr id="9" name="Text 5"/>
          <p:cNvSpPr/>
          <p:nvPr/>
        </p:nvSpPr>
        <p:spPr>
          <a:xfrm>
            <a:off x="777240" y="1124712"/>
            <a:ext cx="3547872" cy="237744"/>
          </a:xfrm>
          <a:prstGeom prst="rect">
            <a:avLst/>
          </a:prstGeom>
          <a:noFill/>
          <a:ln/>
        </p:spPr>
        <p:txBody>
          <a:bodyPr wrap="square" lIns="0" tIns="0" rIns="0" bIns="0" rtlCol="0" anchor="ctr"/>
          <a:lstStyle/>
          <a:p>
            <a:pPr marL="0" indent="0">
              <a:buNone/>
            </a:pPr>
            <a:r>
              <a:rPr lang="en-US" sz="1150" b="1" dirty="0">
                <a:solidFill>
                  <a:srgbClr val="1565C0"/>
                </a:solidFill>
                <a:latin typeface="Calibri" pitchFamily="34" charset="0"/>
                <a:ea typeface="Calibri" pitchFamily="34" charset="-122"/>
                <a:cs typeface="Calibri" pitchFamily="34" charset="-120"/>
              </a:rPr>
              <a:t>24MHz Crystal Y1</a:t>
            </a:r>
            <a:endParaRPr lang="en-US" sz="1150" dirty="0"/>
          </a:p>
        </p:txBody>
      </p:sp>
      <p:sp>
        <p:nvSpPr>
          <p:cNvPr id="10" name="Text 6"/>
          <p:cNvSpPr/>
          <p:nvPr/>
        </p:nvSpPr>
        <p:spPr>
          <a:xfrm>
            <a:off x="777240" y="1353312"/>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NX2016SA (NDK) | X24M_P/N pins 31/30</a:t>
            </a:r>
            <a:endParaRPr lang="en-US" sz="850" dirty="0"/>
          </a:p>
        </p:txBody>
      </p:sp>
      <p:sp>
        <p:nvSpPr>
          <p:cNvPr id="11" name="Text 7"/>
          <p:cNvSpPr/>
          <p:nvPr/>
        </p:nvSpPr>
        <p:spPr>
          <a:xfrm>
            <a:off x="777240" y="1554480"/>
            <a:ext cx="3547872" cy="566928"/>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BLE requires a precise 24MHz clock for its 2.4GHz radio frequency synthesis (2400MHz = N × 24MHz). Without this crystal the BLE radio cannot operate. Load caps C22/C23 marked DNM — CC2640R2F has sufficient internal capacitance. Connects to X24M_P (pin 31) and X24M_N (pin 30).</a:t>
            </a:r>
            <a:endParaRPr lang="en-US" sz="850" dirty="0"/>
          </a:p>
        </p:txBody>
      </p:sp>
      <p:sp>
        <p:nvSpPr>
          <p:cNvPr id="12" name="Shape 8"/>
          <p:cNvSpPr/>
          <p:nvPr/>
        </p:nvSpPr>
        <p:spPr>
          <a:xfrm>
            <a:off x="4754880" y="1078992"/>
            <a:ext cx="4160520" cy="1097280"/>
          </a:xfrm>
          <a:prstGeom prst="rect">
            <a:avLst/>
          </a:prstGeom>
          <a:solidFill>
            <a:srgbClr val="ECEFF1"/>
          </a:solidFill>
          <a:ln/>
          <a:effectLst>
            <a:outerShdw blurRad="101600" dist="38100" dir="8100000" algn="bl" rotWithShape="0">
              <a:srgbClr val="000000">
                <a:alpha val="12000"/>
              </a:srgbClr>
            </a:outerShdw>
          </a:effectLst>
        </p:spPr>
      </p:sp>
      <p:sp>
        <p:nvSpPr>
          <p:cNvPr id="13" name="Shape 9"/>
          <p:cNvSpPr/>
          <p:nvPr/>
        </p:nvSpPr>
        <p:spPr>
          <a:xfrm>
            <a:off x="4754880" y="1078992"/>
            <a:ext cx="384048" cy="1097280"/>
          </a:xfrm>
          <a:prstGeom prst="rect">
            <a:avLst/>
          </a:prstGeom>
          <a:solidFill>
            <a:srgbClr val="0097A7"/>
          </a:solidFill>
          <a:ln/>
        </p:spPr>
      </p:sp>
      <p:pic>
        <p:nvPicPr>
          <p:cNvPr id="14" name="Image 2" descr="preencoded.png"/>
          <p:cNvPicPr>
            <a:picLocks noChangeAspect="1"/>
          </p:cNvPicPr>
          <p:nvPr/>
        </p:nvPicPr>
        <p:blipFill>
          <a:blip r:embed="rId5"/>
          <a:stretch>
            <a:fillRect/>
          </a:stretch>
        </p:blipFill>
        <p:spPr>
          <a:xfrm>
            <a:off x="4800600" y="1463040"/>
            <a:ext cx="292608" cy="292608"/>
          </a:xfrm>
          <a:prstGeom prst="rect">
            <a:avLst/>
          </a:prstGeom>
        </p:spPr>
      </p:pic>
      <p:sp>
        <p:nvSpPr>
          <p:cNvPr id="15" name="Text 10"/>
          <p:cNvSpPr/>
          <p:nvPr/>
        </p:nvSpPr>
        <p:spPr>
          <a:xfrm>
            <a:off x="5257800" y="1124712"/>
            <a:ext cx="3547872" cy="237744"/>
          </a:xfrm>
          <a:prstGeom prst="rect">
            <a:avLst/>
          </a:prstGeom>
          <a:noFill/>
          <a:ln/>
        </p:spPr>
        <p:txBody>
          <a:bodyPr wrap="square" lIns="0" tIns="0" rIns="0" bIns="0" rtlCol="0" anchor="ctr"/>
          <a:lstStyle/>
          <a:p>
            <a:pPr marL="0" indent="0">
              <a:buNone/>
            </a:pPr>
            <a:r>
              <a:rPr lang="en-US" sz="1150" b="1" dirty="0">
                <a:solidFill>
                  <a:srgbClr val="0097A7"/>
                </a:solidFill>
                <a:latin typeface="Calibri" pitchFamily="34" charset="0"/>
                <a:ea typeface="Calibri" pitchFamily="34" charset="-122"/>
                <a:cs typeface="Calibri" pitchFamily="34" charset="-120"/>
              </a:rPr>
              <a:t>32kHz Crystal Y2</a:t>
            </a:r>
            <a:endParaRPr lang="en-US" sz="1150" dirty="0"/>
          </a:p>
        </p:txBody>
      </p:sp>
      <p:sp>
        <p:nvSpPr>
          <p:cNvPr id="16" name="Text 11"/>
          <p:cNvSpPr/>
          <p:nvPr/>
        </p:nvSpPr>
        <p:spPr>
          <a:xfrm>
            <a:off x="5257800" y="1353312"/>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ECS-.327-7-34B-TR | X32K_Q1/Q2 pins 5/6</a:t>
            </a:r>
            <a:endParaRPr lang="en-US" sz="850" dirty="0"/>
          </a:p>
        </p:txBody>
      </p:sp>
      <p:sp>
        <p:nvSpPr>
          <p:cNvPr id="17" name="Text 12"/>
          <p:cNvSpPr/>
          <p:nvPr/>
        </p:nvSpPr>
        <p:spPr>
          <a:xfrm>
            <a:off x="5257800" y="1554480"/>
            <a:ext cx="3547872" cy="566928"/>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The low-power real-time clock crystal. During deep sleep the 24MHz crystal is off (saves power), but Y2 keeps ticking at 32.768kHz (~1µA). It wakes the chip at precise BLE advertising intervals (every 100ms by default). Load caps C1/C2 (12pF) are populated. The 'magic' frequency 32.768kHz = 2¹⁵ — easy to divide into seconds.</a:t>
            </a:r>
            <a:endParaRPr lang="en-US" sz="850" dirty="0"/>
          </a:p>
        </p:txBody>
      </p:sp>
      <p:sp>
        <p:nvSpPr>
          <p:cNvPr id="18" name="Shape 13"/>
          <p:cNvSpPr/>
          <p:nvPr/>
        </p:nvSpPr>
        <p:spPr>
          <a:xfrm>
            <a:off x="274320" y="2286000"/>
            <a:ext cx="4160520" cy="1097280"/>
          </a:xfrm>
          <a:prstGeom prst="rect">
            <a:avLst/>
          </a:prstGeom>
          <a:solidFill>
            <a:srgbClr val="ECEFF1"/>
          </a:solidFill>
          <a:ln/>
          <a:effectLst>
            <a:outerShdw blurRad="101600" dist="38100" dir="8100000" algn="bl" rotWithShape="0">
              <a:srgbClr val="000000">
                <a:alpha val="12000"/>
              </a:srgbClr>
            </a:outerShdw>
          </a:effectLst>
        </p:spPr>
      </p:sp>
      <p:sp>
        <p:nvSpPr>
          <p:cNvPr id="19" name="Shape 14"/>
          <p:cNvSpPr/>
          <p:nvPr/>
        </p:nvSpPr>
        <p:spPr>
          <a:xfrm>
            <a:off x="274320" y="2286000"/>
            <a:ext cx="384048" cy="1097280"/>
          </a:xfrm>
          <a:prstGeom prst="rect">
            <a:avLst/>
          </a:prstGeom>
          <a:solidFill>
            <a:srgbClr val="00BCD4"/>
          </a:solidFill>
          <a:ln/>
        </p:spPr>
      </p:sp>
      <p:pic>
        <p:nvPicPr>
          <p:cNvPr id="20" name="Image 3" descr="preencoded.png"/>
          <p:cNvPicPr>
            <a:picLocks noChangeAspect="1"/>
          </p:cNvPicPr>
          <p:nvPr/>
        </p:nvPicPr>
        <p:blipFill>
          <a:blip r:embed="rId6"/>
          <a:stretch>
            <a:fillRect/>
          </a:stretch>
        </p:blipFill>
        <p:spPr>
          <a:xfrm>
            <a:off x="320040" y="2670048"/>
            <a:ext cx="292608" cy="292608"/>
          </a:xfrm>
          <a:prstGeom prst="rect">
            <a:avLst/>
          </a:prstGeom>
        </p:spPr>
      </p:pic>
      <p:sp>
        <p:nvSpPr>
          <p:cNvPr id="21" name="Text 15"/>
          <p:cNvSpPr/>
          <p:nvPr/>
        </p:nvSpPr>
        <p:spPr>
          <a:xfrm>
            <a:off x="777240" y="2331720"/>
            <a:ext cx="3547872" cy="237744"/>
          </a:xfrm>
          <a:prstGeom prst="rect">
            <a:avLst/>
          </a:prstGeom>
          <a:noFill/>
          <a:ln/>
        </p:spPr>
        <p:txBody>
          <a:bodyPr wrap="square" lIns="0" tIns="0" rIns="0" bIns="0" rtlCol="0" anchor="ctr"/>
          <a:lstStyle/>
          <a:p>
            <a:pPr marL="0" indent="0">
              <a:buNone/>
            </a:pPr>
            <a:r>
              <a:rPr lang="en-US" sz="1150" b="1" dirty="0">
                <a:solidFill>
                  <a:srgbClr val="00BCD4"/>
                </a:solidFill>
                <a:latin typeface="Calibri" pitchFamily="34" charset="0"/>
                <a:ea typeface="Calibri" pitchFamily="34" charset="-122"/>
                <a:cs typeface="Calibri" pitchFamily="34" charset="-120"/>
              </a:rPr>
              <a:t>RF Inductors L12 + L21</a:t>
            </a:r>
            <a:endParaRPr lang="en-US" sz="1150" dirty="0"/>
          </a:p>
        </p:txBody>
      </p:sp>
      <p:sp>
        <p:nvSpPr>
          <p:cNvPr id="22" name="Text 16"/>
          <p:cNvSpPr/>
          <p:nvPr/>
        </p:nvSpPr>
        <p:spPr>
          <a:xfrm>
            <a:off x="777240" y="2560320"/>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Murata LQP03T 0201 | 2nH + 15nH</a:t>
            </a:r>
            <a:endParaRPr lang="en-US" sz="850" dirty="0"/>
          </a:p>
        </p:txBody>
      </p:sp>
      <p:sp>
        <p:nvSpPr>
          <p:cNvPr id="23" name="Text 17"/>
          <p:cNvSpPr/>
          <p:nvPr/>
        </p:nvSpPr>
        <p:spPr>
          <a:xfrm>
            <a:off x="777240" y="2761488"/>
            <a:ext cx="3547872" cy="566928"/>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Impedance matching network between CC2640R2F RF pins and the 50Ω PCB antenna. The CC2640R2F RF port is NOT 50Ω — L21 (15nH) + L12 (2nH) + C14 (12pF) transform it to 50Ω at 2.4GHz. Without this network, most of the BLE transmit power reflects back instead of radiating — range would be severely reduced. Designed per TI reference design.</a:t>
            </a:r>
            <a:endParaRPr lang="en-US" sz="850" dirty="0"/>
          </a:p>
        </p:txBody>
      </p:sp>
      <p:sp>
        <p:nvSpPr>
          <p:cNvPr id="24" name="Shape 18"/>
          <p:cNvSpPr/>
          <p:nvPr/>
        </p:nvSpPr>
        <p:spPr>
          <a:xfrm>
            <a:off x="4754880" y="2286000"/>
            <a:ext cx="4160520" cy="1097280"/>
          </a:xfrm>
          <a:prstGeom prst="rect">
            <a:avLst/>
          </a:prstGeom>
          <a:solidFill>
            <a:srgbClr val="ECEFF1"/>
          </a:solidFill>
          <a:ln/>
          <a:effectLst>
            <a:outerShdw blurRad="101600" dist="38100" dir="8100000" algn="bl" rotWithShape="0">
              <a:srgbClr val="000000">
                <a:alpha val="12000"/>
              </a:srgbClr>
            </a:outerShdw>
          </a:effectLst>
        </p:spPr>
      </p:sp>
      <p:sp>
        <p:nvSpPr>
          <p:cNvPr id="25" name="Shape 19"/>
          <p:cNvSpPr/>
          <p:nvPr/>
        </p:nvSpPr>
        <p:spPr>
          <a:xfrm>
            <a:off x="4754880" y="2286000"/>
            <a:ext cx="384048" cy="1097280"/>
          </a:xfrm>
          <a:prstGeom prst="rect">
            <a:avLst/>
          </a:prstGeom>
          <a:solidFill>
            <a:srgbClr val="1A237E"/>
          </a:solidFill>
          <a:ln/>
        </p:spPr>
      </p:sp>
      <p:pic>
        <p:nvPicPr>
          <p:cNvPr id="26" name="Image 4" descr="preencoded.png"/>
          <p:cNvPicPr>
            <a:picLocks noChangeAspect="1"/>
          </p:cNvPicPr>
          <p:nvPr/>
        </p:nvPicPr>
        <p:blipFill>
          <a:blip r:embed="rId4"/>
          <a:stretch>
            <a:fillRect/>
          </a:stretch>
        </p:blipFill>
        <p:spPr>
          <a:xfrm>
            <a:off x="4800600" y="2670048"/>
            <a:ext cx="292608" cy="292608"/>
          </a:xfrm>
          <a:prstGeom prst="rect">
            <a:avLst/>
          </a:prstGeom>
        </p:spPr>
      </p:pic>
      <p:sp>
        <p:nvSpPr>
          <p:cNvPr id="27" name="Text 20"/>
          <p:cNvSpPr/>
          <p:nvPr/>
        </p:nvSpPr>
        <p:spPr>
          <a:xfrm>
            <a:off x="5257800" y="2331720"/>
            <a:ext cx="3547872" cy="237744"/>
          </a:xfrm>
          <a:prstGeom prst="rect">
            <a:avLst/>
          </a:prstGeom>
          <a:noFill/>
          <a:ln/>
        </p:spPr>
        <p:txBody>
          <a:bodyPr wrap="square" lIns="0" tIns="0" rIns="0" bIns="0"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PCB Trace Antenna</a:t>
            </a:r>
            <a:endParaRPr lang="en-US" sz="1150" dirty="0"/>
          </a:p>
        </p:txBody>
      </p:sp>
      <p:sp>
        <p:nvSpPr>
          <p:cNvPr id="28" name="Text 21"/>
          <p:cNvSpPr/>
          <p:nvPr/>
        </p:nvSpPr>
        <p:spPr>
          <a:xfrm>
            <a:off x="5257800" y="2560320"/>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TI AN043 SWRA117D — Inverted-F (IFA)</a:t>
            </a:r>
            <a:endParaRPr lang="en-US" sz="850" dirty="0"/>
          </a:p>
        </p:txBody>
      </p:sp>
      <p:sp>
        <p:nvSpPr>
          <p:cNvPr id="29" name="Text 22"/>
          <p:cNvSpPr/>
          <p:nvPr/>
        </p:nvSpPr>
        <p:spPr>
          <a:xfrm>
            <a:off x="5257800" y="2761488"/>
            <a:ext cx="3547872" cy="566928"/>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A copper trace shaped like an upside-down F etched onto the PCB top layer. No separate component needed. Inverted-F antennas are common in wearables: compact, cheap, and omnidirectional. Geometry follows TI application note AN043. The transmission line connecting it to L12 is exactly 50Ω impedance (line width calculated per JLCPCB PCB specs).</a:t>
            </a:r>
            <a:endParaRPr lang="en-US" sz="850" dirty="0"/>
          </a:p>
        </p:txBody>
      </p:sp>
      <p:sp>
        <p:nvSpPr>
          <p:cNvPr id="30" name="Shape 23"/>
          <p:cNvSpPr/>
          <p:nvPr/>
        </p:nvSpPr>
        <p:spPr>
          <a:xfrm>
            <a:off x="274320" y="3493008"/>
            <a:ext cx="4160520" cy="1097280"/>
          </a:xfrm>
          <a:prstGeom prst="rect">
            <a:avLst/>
          </a:prstGeom>
          <a:solidFill>
            <a:srgbClr val="ECEFF1"/>
          </a:solidFill>
          <a:ln/>
          <a:effectLst>
            <a:outerShdw blurRad="101600" dist="38100" dir="8100000" algn="bl" rotWithShape="0">
              <a:srgbClr val="000000">
                <a:alpha val="12000"/>
              </a:srgbClr>
            </a:outerShdw>
          </a:effectLst>
        </p:spPr>
      </p:sp>
      <p:sp>
        <p:nvSpPr>
          <p:cNvPr id="31" name="Shape 24"/>
          <p:cNvSpPr/>
          <p:nvPr/>
        </p:nvSpPr>
        <p:spPr>
          <a:xfrm>
            <a:off x="274320" y="3493008"/>
            <a:ext cx="384048" cy="1097280"/>
          </a:xfrm>
          <a:prstGeom prst="rect">
            <a:avLst/>
          </a:prstGeom>
          <a:solidFill>
            <a:srgbClr val="607D8B"/>
          </a:solidFill>
          <a:ln/>
        </p:spPr>
      </p:sp>
      <p:pic>
        <p:nvPicPr>
          <p:cNvPr id="32" name="Image 5" descr="preencoded.png"/>
          <p:cNvPicPr>
            <a:picLocks noChangeAspect="1"/>
          </p:cNvPicPr>
          <p:nvPr/>
        </p:nvPicPr>
        <p:blipFill>
          <a:blip r:embed="rId7"/>
          <a:stretch>
            <a:fillRect/>
          </a:stretch>
        </p:blipFill>
        <p:spPr>
          <a:xfrm>
            <a:off x="320040" y="3877056"/>
            <a:ext cx="292608" cy="292608"/>
          </a:xfrm>
          <a:prstGeom prst="rect">
            <a:avLst/>
          </a:prstGeom>
        </p:spPr>
      </p:pic>
      <p:sp>
        <p:nvSpPr>
          <p:cNvPr id="33" name="Text 25"/>
          <p:cNvSpPr/>
          <p:nvPr/>
        </p:nvSpPr>
        <p:spPr>
          <a:xfrm>
            <a:off x="777240" y="3538728"/>
            <a:ext cx="3547872" cy="237744"/>
          </a:xfrm>
          <a:prstGeom prst="rect">
            <a:avLst/>
          </a:prstGeom>
          <a:noFill/>
          <a:ln/>
        </p:spPr>
        <p:txBody>
          <a:bodyPr wrap="square" lIns="0" tIns="0" rIns="0" bIns="0" rtlCol="0" anchor="ctr"/>
          <a:lstStyle/>
          <a:p>
            <a:pPr marL="0" indent="0">
              <a:buNone/>
            </a:pPr>
            <a:r>
              <a:rPr lang="en-US" sz="1150" b="1" dirty="0">
                <a:solidFill>
                  <a:srgbClr val="607D8B"/>
                </a:solidFill>
                <a:latin typeface="Calibri" pitchFamily="34" charset="0"/>
                <a:ea typeface="Calibri" pitchFamily="34" charset="-122"/>
                <a:cs typeface="Calibri" pitchFamily="34" charset="-120"/>
              </a:rPr>
              <a:t>Ferrite Bead FL1</a:t>
            </a:r>
            <a:endParaRPr lang="en-US" sz="1150" dirty="0"/>
          </a:p>
        </p:txBody>
      </p:sp>
      <p:sp>
        <p:nvSpPr>
          <p:cNvPr id="34" name="Text 26"/>
          <p:cNvSpPr/>
          <p:nvPr/>
        </p:nvSpPr>
        <p:spPr>
          <a:xfrm>
            <a:off x="777240" y="3767328"/>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Murata BLM18HE152SN1D | 0603</a:t>
            </a:r>
            <a:endParaRPr lang="en-US" sz="850" dirty="0"/>
          </a:p>
        </p:txBody>
      </p:sp>
      <p:sp>
        <p:nvSpPr>
          <p:cNvPr id="35" name="Text 27"/>
          <p:cNvSpPr/>
          <p:nvPr/>
        </p:nvSpPr>
        <p:spPr>
          <a:xfrm>
            <a:off x="777240" y="3968496"/>
            <a:ext cx="3547872" cy="566928"/>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Acts as a frequency-dependent resistor: near-zero impedance at DC (power passes freely), 1500Ω impedance at 100MHz (RF noise is blocked). Placed in series on the 3.3V external supply input line. Prevents RF interference radiated by the BLE antenna from coupling backwards into the sensitive analogue sensor supply rails — a key EMI suppression technique.</a:t>
            </a:r>
            <a:endParaRPr lang="en-US" sz="850" dirty="0"/>
          </a:p>
        </p:txBody>
      </p:sp>
      <p:sp>
        <p:nvSpPr>
          <p:cNvPr id="36" name="Shape 28"/>
          <p:cNvSpPr/>
          <p:nvPr/>
        </p:nvSpPr>
        <p:spPr>
          <a:xfrm>
            <a:off x="4754880" y="3493008"/>
            <a:ext cx="4160520" cy="1097280"/>
          </a:xfrm>
          <a:prstGeom prst="rect">
            <a:avLst/>
          </a:prstGeom>
          <a:solidFill>
            <a:srgbClr val="ECEFF1"/>
          </a:solidFill>
          <a:ln/>
          <a:effectLst>
            <a:outerShdw blurRad="101600" dist="38100" dir="8100000" algn="bl" rotWithShape="0">
              <a:srgbClr val="000000">
                <a:alpha val="12000"/>
              </a:srgbClr>
            </a:outerShdw>
          </a:effectLst>
        </p:spPr>
      </p:sp>
      <p:sp>
        <p:nvSpPr>
          <p:cNvPr id="37" name="Shape 29"/>
          <p:cNvSpPr/>
          <p:nvPr/>
        </p:nvSpPr>
        <p:spPr>
          <a:xfrm>
            <a:off x="4754880" y="3493008"/>
            <a:ext cx="384048" cy="1097280"/>
          </a:xfrm>
          <a:prstGeom prst="rect">
            <a:avLst/>
          </a:prstGeom>
          <a:solidFill>
            <a:srgbClr val="00897B"/>
          </a:solidFill>
          <a:ln/>
        </p:spPr>
      </p:sp>
      <p:pic>
        <p:nvPicPr>
          <p:cNvPr id="38" name="Image 6" descr="preencoded.png"/>
          <p:cNvPicPr>
            <a:picLocks noChangeAspect="1"/>
          </p:cNvPicPr>
          <p:nvPr/>
        </p:nvPicPr>
        <p:blipFill>
          <a:blip r:embed="rId8"/>
          <a:stretch>
            <a:fillRect/>
          </a:stretch>
        </p:blipFill>
        <p:spPr>
          <a:xfrm>
            <a:off x="4800600" y="3877056"/>
            <a:ext cx="292608" cy="292608"/>
          </a:xfrm>
          <a:prstGeom prst="rect">
            <a:avLst/>
          </a:prstGeom>
        </p:spPr>
      </p:pic>
      <p:sp>
        <p:nvSpPr>
          <p:cNvPr id="39" name="Text 30"/>
          <p:cNvSpPr/>
          <p:nvPr/>
        </p:nvSpPr>
        <p:spPr>
          <a:xfrm>
            <a:off x="5257800" y="3538728"/>
            <a:ext cx="3547872" cy="237744"/>
          </a:xfrm>
          <a:prstGeom prst="rect">
            <a:avLst/>
          </a:prstGeom>
          <a:noFill/>
          <a:ln/>
        </p:spPr>
        <p:txBody>
          <a:bodyPr wrap="square" lIns="0" tIns="0" rIns="0" bIns="0" rtlCol="0" anchor="ctr"/>
          <a:lstStyle/>
          <a:p>
            <a:pPr marL="0" indent="0">
              <a:buNone/>
            </a:pPr>
            <a:r>
              <a:rPr lang="en-US" sz="1150" b="1" dirty="0">
                <a:solidFill>
                  <a:srgbClr val="00897B"/>
                </a:solidFill>
                <a:latin typeface="Calibri" pitchFamily="34" charset="0"/>
                <a:ea typeface="Calibri" pitchFamily="34" charset="-122"/>
                <a:cs typeface="Calibri" pitchFamily="34" charset="-120"/>
              </a:rPr>
              <a:t>Expansion Header P1</a:t>
            </a:r>
            <a:endParaRPr lang="en-US" sz="1150" dirty="0"/>
          </a:p>
        </p:txBody>
      </p:sp>
      <p:sp>
        <p:nvSpPr>
          <p:cNvPr id="40" name="Text 31"/>
          <p:cNvSpPr/>
          <p:nvPr/>
        </p:nvSpPr>
        <p:spPr>
          <a:xfrm>
            <a:off x="5257800" y="3767328"/>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Samtec HTSW-109-07-G-D | 18-pin 9×2</a:t>
            </a:r>
            <a:endParaRPr lang="en-US" sz="850" dirty="0"/>
          </a:p>
        </p:txBody>
      </p:sp>
      <p:sp>
        <p:nvSpPr>
          <p:cNvPr id="41" name="Text 32"/>
          <p:cNvSpPr/>
          <p:nvPr/>
        </p:nvSpPr>
        <p:spPr>
          <a:xfrm>
            <a:off x="5257800" y="3968496"/>
            <a:ext cx="3547872" cy="566928"/>
          </a:xfrm>
          <a:prstGeom prst="rect">
            <a:avLst/>
          </a:prstGeom>
          <a:noFill/>
          <a:ln/>
        </p:spPr>
        <p:txBody>
          <a:bodyPr wrap="square" lIns="0" tIns="0" rIns="0" bIns="0" rtlCol="0" anchor="ctr"/>
          <a:lstStyle/>
          <a:p>
            <a:pPr marL="0" indent="0">
              <a:buNone/>
            </a:pPr>
            <a:r>
              <a:rPr lang="en-US" sz="850" dirty="0">
                <a:solidFill>
                  <a:srgbClr val="1A237E"/>
                </a:solidFill>
                <a:latin typeface="Calibri" pitchFamily="34" charset="0"/>
                <a:ea typeface="Calibri" pitchFamily="34" charset="-122"/>
                <a:cs typeface="Calibri" pitchFamily="34" charset="-120"/>
              </a:rPr>
              <a:t>18-pin through-hole header exposing every key signal: DIO_0–DIO_9, JTAG_TCK/TMS/TDI/TDO, nRESET, VBAT, 3V3, GND. Primary development interface — TI XDS110 JTAG probe connects here for CCS firmware programming and debugging. Also used in the prototype phase with a Raspberry Pi for serial sensor data readout. Essential for student development and testing.</a:t>
            </a:r>
            <a:endParaRPr lang="en-US" sz="850" dirty="0"/>
          </a:p>
        </p:txBody>
      </p:sp>
      <p:sp>
        <p:nvSpPr>
          <p:cNvPr id="9901" name="SlideNum7"/>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897B"/>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Passive Components — Capacitors &amp; Resistors</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27 capacitors + 11 resistors — each placed for a specific electrical engineering reason</a:t>
            </a:r>
            <a:endParaRPr lang="en-US" sz="1100" dirty="0"/>
          </a:p>
        </p:txBody>
      </p:sp>
      <p:sp>
        <p:nvSpPr>
          <p:cNvPr id="6" name="Text 3"/>
          <p:cNvSpPr/>
          <p:nvPr/>
        </p:nvSpPr>
        <p:spPr>
          <a:xfrm>
            <a:off x="274320" y="1078992"/>
            <a:ext cx="8595360" cy="256032"/>
          </a:xfrm>
          <a:prstGeom prst="rect">
            <a:avLst/>
          </a:prstGeom>
          <a:noFill/>
          <a:ln/>
        </p:spPr>
        <p:txBody>
          <a:bodyPr wrap="square" lIns="0" tIns="0" rIns="0" bIns="0" rtlCol="0" anchor="ctr"/>
          <a:lstStyle/>
          <a:p>
            <a:pPr marL="0" indent="0">
              <a:buNone/>
            </a:pPr>
            <a:r>
              <a:rPr lang="en-US" sz="1200" b="1" dirty="0">
                <a:solidFill>
                  <a:srgbClr val="00897B"/>
                </a:solidFill>
                <a:latin typeface="Calibri" pitchFamily="34" charset="0"/>
                <a:ea typeface="Calibri" pitchFamily="34" charset="-122"/>
                <a:cs typeface="Calibri" pitchFamily="34" charset="-120"/>
              </a:rPr>
              <a:t>Capacitors — MLCCs (Murata, Samsung, KEMET) | 0201 and 0402 packages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1996440"/>
        </p:xfrm>
        <a:graphic>
          <a:graphicData uri="http://schemas.openxmlformats.org/drawingml/2006/table">
            <a:tbl>
              <a:tblPr/>
              <a:tblGrid>
                <a:gridCol w="1417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19507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Reference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897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Value / Package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897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Location</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897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Engineering Purpose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897B"/>
                    </a:solidFill>
                  </a:tcPr>
                </a:tc>
                <a:extLst>
                  <a:ext uri="{0D108BD9-81ED-4DB2-BD59-A6C34878D82A}">
                    <a16:rowId xmlns:a16="http://schemas.microsoft.com/office/drawing/2014/main" val="10000"/>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C1, C2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12pF / 0201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32kHz crystal Y2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Load capacitors — set resonant frequency of Y2 crystal precisely</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C3,C4,C6,C9,C10,C20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0.1µF / 0201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CC2640R2F supply pins</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High-freq decoupling — absorbs switching noise at each supply pin</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extLst>
                  <a:ext uri="{0D108BD9-81ED-4DB2-BD59-A6C34878D82A}">
                    <a16:rowId xmlns:a16="http://schemas.microsoft.com/office/drawing/2014/main" val="10002"/>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C5, C8, C106, C109</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10µF / 0402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DC-DC converter + sensor rails</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Bulk energy storage — handles large current transients at startup</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C14</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12pF / 0201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RF matching network</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Shunt capacitor in LC matching — tunes antenna impedance at 2.4GHz</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extLst>
                  <a:ext uri="{0D108BD9-81ED-4DB2-BD59-A6C34878D82A}">
                    <a16:rowId xmlns:a16="http://schemas.microsoft.com/office/drawing/2014/main" val="10004"/>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C19,C101,C103,C104,C107</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1µF / 0402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LP5907 regulators</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Regulator stability caps — prevent oscillation in LDO feedback loop</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C105,C108,C110,C112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0.1µF / 0402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Beside each sensor IC</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High-freq decoupling at sensor supply pins — keeps noise off sensors</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extLst>
                  <a:ext uri="{0D108BD9-81ED-4DB2-BD59-A6C34878D82A}">
                    <a16:rowId xmlns:a16="http://schemas.microsoft.com/office/drawing/2014/main" val="10006"/>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C111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4.7µF / 0402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MAX30102 analogue section</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Low-freq supply filter — removes voltage ripple that mimics heartbeat</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5072">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C22, C23</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12pF / 0201 DNM</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24MHz crystal Y1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Not mounted — CC2640R2F internal capacitance is sufficient</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8F1"/>
                    </a:solidFill>
                  </a:tcPr>
                </a:tc>
                <a:extLst>
                  <a:ext uri="{0D108BD9-81ED-4DB2-BD59-A6C34878D82A}">
                    <a16:rowId xmlns:a16="http://schemas.microsoft.com/office/drawing/2014/main" val="10008"/>
                  </a:ext>
                </a:extLst>
              </a:tr>
            </a:tbl>
          </a:graphicData>
        </a:graphic>
      </p:graphicFrame>
      <p:sp>
        <p:nvSpPr>
          <p:cNvPr id="8" name="Text 4"/>
          <p:cNvSpPr/>
          <p:nvPr/>
        </p:nvSpPr>
        <p:spPr>
          <a:xfrm>
            <a:off x="274320" y="3145536"/>
            <a:ext cx="8595360" cy="256032"/>
          </a:xfrm>
          <a:prstGeom prst="rect">
            <a:avLst/>
          </a:prstGeom>
          <a:noFill/>
          <a:ln/>
        </p:spPr>
        <p:txBody>
          <a:bodyPr wrap="square" lIns="0" tIns="0" rIns="0" bIns="0" rtlCol="0" anchor="ctr"/>
          <a:lstStyle/>
          <a:p>
            <a:pPr marL="0" indent="0">
              <a:buNone/>
            </a:pPr>
            <a:r>
              <a:rPr lang="en-US" sz="1200" b="1" dirty="0">
                <a:solidFill>
                  <a:srgbClr val="0097A7"/>
                </a:solidFill>
                <a:latin typeface="Calibri" pitchFamily="34" charset="0"/>
                <a:ea typeface="Calibri" pitchFamily="34" charset="-122"/>
                <a:cs typeface="Calibri" pitchFamily="34" charset="-120"/>
              </a:rPr>
              <a:t>Resistors — Yageo RC0402 + Vishay CRCW0402 | all 0402 (1.0×0.5mm)</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274320" y="3419856"/>
          <a:ext cx="8595360" cy="1554480"/>
        </p:xfrm>
        <a:graphic>
          <a:graphicData uri="http://schemas.openxmlformats.org/drawingml/2006/table">
            <a:tbl>
              <a:tblPr/>
              <a:tblGrid>
                <a:gridCol w="1188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195943">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Reference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97A7"/>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97A7"/>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Engineering Purpose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97A7"/>
                    </a:solidFill>
                  </a:tcPr>
                </a:tc>
                <a:extLst>
                  <a:ext uri="{0D108BD9-81ED-4DB2-BD59-A6C34878D82A}">
                    <a16:rowId xmlns:a16="http://schemas.microsoft.com/office/drawing/2014/main" val="10000"/>
                  </a:ext>
                </a:extLst>
              </a:tr>
              <a:tr h="195943">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100kΩ (Yageo)</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nRESET pull-up — guarantees chip starts in defined (not-reset) state; without this, a floating reset pin would cause random resets</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5943">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R15, R16</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0Ω jumpers (Yageo)</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Zero-ohm jumpers — act as PCB wire links for JTAG_TDO/TDI routing; can be cut to re-route signals without PCB revision</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extLst>
                  <a:ext uri="{0D108BD9-81ED-4DB2-BD59-A6C34878D82A}">
                    <a16:rowId xmlns:a16="http://schemas.microsoft.com/office/drawing/2014/main" val="10002"/>
                  </a:ext>
                </a:extLst>
              </a:tr>
              <a:tr h="195943">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R100, R120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10kΩ (Yageo)</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Button pull-ups — DIO_0/DIO_1 held HIGH when buttons not pressed; pressing connects to GND giving a clean LOW signal</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5943">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R103, R104</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10kΩ (Yageo)</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I²C bus pull-ups on SCL (DIO_5) + SDA (DIO_6) — I²C is open-drain; these resistors pull lines HIGH when idle</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extLst>
                  <a:ext uri="{0D108BD9-81ED-4DB2-BD59-A6C34878D82A}">
                    <a16:rowId xmlns:a16="http://schemas.microsoft.com/office/drawing/2014/main" val="10004"/>
                  </a:ext>
                </a:extLst>
              </a:tr>
              <a:tr h="195943">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R110, R111</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100Ω (Vishay)</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Series ESD protection on SW101/SW102 — limits current if GPIO pin is accidentally driven hard; protects CC2640R2F</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5943">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R17, R18</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DNM</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tc>
                  <a:txBody>
                    <a:bodyPr/>
                    <a:lstStyle/>
                    <a:p>
                      <a:pPr marL="0" indent="0">
                        <a:buNone/>
                      </a:pPr>
                      <a:r>
                        <a:rPr lang="en-US" sz="850" dirty="0">
                          <a:solidFill>
                            <a:srgbClr val="1A237E"/>
                          </a:solidFill>
                          <a:latin typeface="Calibri" pitchFamily="34" charset="0"/>
                          <a:ea typeface="Calibri" pitchFamily="34" charset="-122"/>
                          <a:cs typeface="Calibri" pitchFamily="34" charset="-120"/>
                        </a:rPr>
                        <a:t>Reserved configuration pads — unpopulated in Rev1; provides future routing flexibility without PCB respin</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7FA"/>
                    </a:solidFill>
                  </a:tcPr>
                </a:tc>
                <a:extLst>
                  <a:ext uri="{0D108BD9-81ED-4DB2-BD59-A6C34878D82A}">
                    <a16:rowId xmlns:a16="http://schemas.microsoft.com/office/drawing/2014/main" val="10006"/>
                  </a:ext>
                </a:extLst>
              </a:tr>
            </a:tbl>
          </a:graphicData>
        </a:graphic>
      </p:graphicFrame>
      <p:sp>
        <p:nvSpPr>
          <p:cNvPr id="9901" name="SlideNum8"/>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8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BCD4"/>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Communication Architecture — I²C + BLE + JTAG</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Three separate communication channels — each serves a different purpose</a:t>
            </a:r>
            <a:endParaRPr lang="en-US" sz="1100" dirty="0"/>
          </a:p>
        </p:txBody>
      </p:sp>
      <p:sp>
        <p:nvSpPr>
          <p:cNvPr id="6" name="Shape 3"/>
          <p:cNvSpPr/>
          <p:nvPr/>
        </p:nvSpPr>
        <p:spPr>
          <a:xfrm>
            <a:off x="274320" y="1078992"/>
            <a:ext cx="8595360" cy="1261872"/>
          </a:xfrm>
          <a:prstGeom prst="rect">
            <a:avLst/>
          </a:prstGeom>
          <a:solidFill>
            <a:srgbClr val="ECEFF1"/>
          </a:solidFill>
          <a:ln/>
          <a:effectLst>
            <a:outerShdw blurRad="101600" dist="38100" dir="8100000" algn="bl" rotWithShape="0">
              <a:srgbClr val="000000">
                <a:alpha val="12000"/>
              </a:srgbClr>
            </a:outerShdw>
          </a:effectLst>
        </p:spPr>
      </p:sp>
      <p:sp>
        <p:nvSpPr>
          <p:cNvPr id="7" name="Text 4"/>
          <p:cNvSpPr/>
          <p:nvPr/>
        </p:nvSpPr>
        <p:spPr>
          <a:xfrm>
            <a:off x="457200" y="1133856"/>
            <a:ext cx="8229600" cy="237744"/>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I²C Bus — Sensor Communication (DIO_5=SCL, DIO_6=SDA, 400kHz fast mode)</a:t>
            </a:r>
            <a:endParaRPr lang="en-US" sz="1100" dirty="0"/>
          </a:p>
        </p:txBody>
      </p:sp>
      <p:sp>
        <p:nvSpPr>
          <p:cNvPr id="8" name="Shape 5"/>
          <p:cNvSpPr/>
          <p:nvPr/>
        </p:nvSpPr>
        <p:spPr>
          <a:xfrm>
            <a:off x="457200" y="1417320"/>
            <a:ext cx="1645920" cy="658368"/>
          </a:xfrm>
          <a:prstGeom prst="rect">
            <a:avLst/>
          </a:prstGeom>
          <a:solidFill>
            <a:srgbClr val="1565C0"/>
          </a:solidFill>
          <a:ln/>
        </p:spPr>
      </p:sp>
      <p:sp>
        <p:nvSpPr>
          <p:cNvPr id="9" name="Text 6"/>
          <p:cNvSpPr/>
          <p:nvPr/>
        </p:nvSpPr>
        <p:spPr>
          <a:xfrm>
            <a:off x="457200" y="1417320"/>
            <a:ext cx="16459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CC2640R2F</a:t>
            </a:r>
            <a:endParaRPr lang="en-US" sz="1100" dirty="0"/>
          </a:p>
        </p:txBody>
      </p:sp>
      <p:sp>
        <p:nvSpPr>
          <p:cNvPr id="10" name="Text 7"/>
          <p:cNvSpPr/>
          <p:nvPr/>
        </p:nvSpPr>
        <p:spPr>
          <a:xfrm>
            <a:off x="457200" y="1746504"/>
            <a:ext cx="1645920" cy="256032"/>
          </a:xfrm>
          <a:prstGeom prst="rect">
            <a:avLst/>
          </a:prstGeom>
          <a:noFill/>
          <a:ln/>
        </p:spPr>
        <p:txBody>
          <a:bodyPr wrap="square" lIns="0" tIns="0" rIns="0" bIns="0" rtlCol="0" anchor="ctr"/>
          <a:lstStyle/>
          <a:p>
            <a:pPr marL="0" indent="0" algn="ctr">
              <a:buNone/>
            </a:pPr>
            <a:r>
              <a:rPr lang="en-US" sz="850" dirty="0">
                <a:solidFill>
                  <a:srgbClr val="BBDEFB"/>
                </a:solidFill>
                <a:latin typeface="Calibri" pitchFamily="34" charset="0"/>
                <a:ea typeface="Calibri" pitchFamily="34" charset="-122"/>
                <a:cs typeface="Calibri" pitchFamily="34" charset="-120"/>
              </a:rPr>
              <a:t>Bus Master</a:t>
            </a:r>
            <a:endParaRPr lang="en-US" sz="850" dirty="0"/>
          </a:p>
        </p:txBody>
      </p:sp>
      <p:sp>
        <p:nvSpPr>
          <p:cNvPr id="11" name="Shape 8"/>
          <p:cNvSpPr/>
          <p:nvPr/>
        </p:nvSpPr>
        <p:spPr>
          <a:xfrm>
            <a:off x="2103120" y="1746504"/>
            <a:ext cx="5029200" cy="0"/>
          </a:xfrm>
          <a:prstGeom prst="line">
            <a:avLst/>
          </a:prstGeom>
          <a:noFill/>
          <a:ln w="38100">
            <a:solidFill>
              <a:srgbClr val="00BCD4"/>
            </a:solidFill>
            <a:prstDash val="solid"/>
          </a:ln>
        </p:spPr>
      </p:sp>
      <p:sp>
        <p:nvSpPr>
          <p:cNvPr id="12" name="Text 9"/>
          <p:cNvSpPr/>
          <p:nvPr/>
        </p:nvSpPr>
        <p:spPr>
          <a:xfrm>
            <a:off x="2926080" y="1554480"/>
            <a:ext cx="1828800" cy="182880"/>
          </a:xfrm>
          <a:prstGeom prst="rect">
            <a:avLst/>
          </a:prstGeom>
          <a:noFill/>
          <a:ln/>
        </p:spPr>
        <p:txBody>
          <a:bodyPr wrap="square" lIns="0" tIns="0" rIns="0" bIns="0" rtlCol="0" anchor="ctr"/>
          <a:lstStyle/>
          <a:p>
            <a:pPr marL="0" indent="0">
              <a:buNone/>
            </a:pPr>
            <a:r>
              <a:rPr lang="en-US" sz="800" dirty="0">
                <a:solidFill>
                  <a:srgbClr val="00BCD4"/>
                </a:solidFill>
                <a:latin typeface="Calibri" pitchFamily="34" charset="0"/>
                <a:ea typeface="Calibri" pitchFamily="34" charset="-122"/>
                <a:cs typeface="Calibri" pitchFamily="34" charset="-120"/>
              </a:rPr>
              <a:t>SCL (clock)</a:t>
            </a:r>
            <a:endParaRPr lang="en-US" sz="800" dirty="0"/>
          </a:p>
        </p:txBody>
      </p:sp>
      <p:sp>
        <p:nvSpPr>
          <p:cNvPr id="13" name="Text 10"/>
          <p:cNvSpPr/>
          <p:nvPr/>
        </p:nvSpPr>
        <p:spPr>
          <a:xfrm>
            <a:off x="2926080" y="1719072"/>
            <a:ext cx="1828800" cy="182880"/>
          </a:xfrm>
          <a:prstGeom prst="rect">
            <a:avLst/>
          </a:prstGeom>
          <a:noFill/>
          <a:ln/>
        </p:spPr>
        <p:txBody>
          <a:bodyPr wrap="square" lIns="0" tIns="0" rIns="0" bIns="0" rtlCol="0" anchor="ctr"/>
          <a:lstStyle/>
          <a:p>
            <a:pPr marL="0" indent="0">
              <a:buNone/>
            </a:pPr>
            <a:r>
              <a:rPr lang="en-US" sz="800" dirty="0">
                <a:solidFill>
                  <a:srgbClr val="00BCD4"/>
                </a:solidFill>
                <a:latin typeface="Calibri" pitchFamily="34" charset="0"/>
                <a:ea typeface="Calibri" pitchFamily="34" charset="-122"/>
                <a:cs typeface="Calibri" pitchFamily="34" charset="-120"/>
              </a:rPr>
              <a:t>SDA (data)</a:t>
            </a:r>
            <a:endParaRPr lang="en-US" sz="800" dirty="0"/>
          </a:p>
        </p:txBody>
      </p:sp>
      <p:sp>
        <p:nvSpPr>
          <p:cNvPr id="14" name="Shape 11"/>
          <p:cNvSpPr/>
          <p:nvPr/>
        </p:nvSpPr>
        <p:spPr>
          <a:xfrm>
            <a:off x="2834640" y="1746504"/>
            <a:ext cx="0" cy="384048"/>
          </a:xfrm>
          <a:prstGeom prst="line">
            <a:avLst/>
          </a:prstGeom>
          <a:noFill/>
          <a:ln w="25400">
            <a:solidFill>
              <a:srgbClr val="0097A7"/>
            </a:solidFill>
            <a:prstDash val="solid"/>
          </a:ln>
        </p:spPr>
      </p:sp>
      <p:sp>
        <p:nvSpPr>
          <p:cNvPr id="15" name="Shape 12"/>
          <p:cNvSpPr/>
          <p:nvPr/>
        </p:nvSpPr>
        <p:spPr>
          <a:xfrm>
            <a:off x="2286000" y="2130552"/>
            <a:ext cx="1371600" cy="164592"/>
          </a:xfrm>
          <a:prstGeom prst="rect">
            <a:avLst/>
          </a:prstGeom>
          <a:solidFill>
            <a:srgbClr val="0097A7"/>
          </a:solidFill>
          <a:ln/>
        </p:spPr>
      </p:sp>
      <p:sp>
        <p:nvSpPr>
          <p:cNvPr id="16" name="Text 13"/>
          <p:cNvSpPr/>
          <p:nvPr/>
        </p:nvSpPr>
        <p:spPr>
          <a:xfrm>
            <a:off x="2286000" y="2130552"/>
            <a:ext cx="1371600" cy="16459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MAX30102 (0x57)</a:t>
            </a:r>
            <a:endParaRPr lang="en-US" sz="750" dirty="0"/>
          </a:p>
        </p:txBody>
      </p:sp>
      <p:sp>
        <p:nvSpPr>
          <p:cNvPr id="17" name="Shape 14"/>
          <p:cNvSpPr/>
          <p:nvPr/>
        </p:nvSpPr>
        <p:spPr>
          <a:xfrm>
            <a:off x="4846320" y="1746504"/>
            <a:ext cx="0" cy="384048"/>
          </a:xfrm>
          <a:prstGeom prst="line">
            <a:avLst/>
          </a:prstGeom>
          <a:noFill/>
          <a:ln w="25400">
            <a:solidFill>
              <a:srgbClr val="F57C00"/>
            </a:solidFill>
            <a:prstDash val="solid"/>
          </a:ln>
        </p:spPr>
      </p:sp>
      <p:sp>
        <p:nvSpPr>
          <p:cNvPr id="18" name="Shape 15"/>
          <p:cNvSpPr/>
          <p:nvPr/>
        </p:nvSpPr>
        <p:spPr>
          <a:xfrm>
            <a:off x="4297680" y="2130552"/>
            <a:ext cx="1371600" cy="164592"/>
          </a:xfrm>
          <a:prstGeom prst="rect">
            <a:avLst/>
          </a:prstGeom>
          <a:solidFill>
            <a:srgbClr val="F57C00"/>
          </a:solidFill>
          <a:ln/>
        </p:spPr>
      </p:sp>
      <p:sp>
        <p:nvSpPr>
          <p:cNvPr id="19" name="Text 16"/>
          <p:cNvSpPr/>
          <p:nvPr/>
        </p:nvSpPr>
        <p:spPr>
          <a:xfrm>
            <a:off x="4297680" y="2130552"/>
            <a:ext cx="1371600" cy="16459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MAX30205 (0x90)</a:t>
            </a:r>
            <a:endParaRPr lang="en-US" sz="750" dirty="0"/>
          </a:p>
        </p:txBody>
      </p:sp>
      <p:sp>
        <p:nvSpPr>
          <p:cNvPr id="20" name="Shape 17"/>
          <p:cNvSpPr/>
          <p:nvPr/>
        </p:nvSpPr>
        <p:spPr>
          <a:xfrm>
            <a:off x="6492240" y="1746504"/>
            <a:ext cx="0" cy="384048"/>
          </a:xfrm>
          <a:prstGeom prst="line">
            <a:avLst/>
          </a:prstGeom>
          <a:noFill/>
          <a:ln w="25400">
            <a:solidFill>
              <a:srgbClr val="00897B"/>
            </a:solidFill>
            <a:prstDash val="solid"/>
          </a:ln>
        </p:spPr>
      </p:sp>
      <p:sp>
        <p:nvSpPr>
          <p:cNvPr id="21" name="Shape 18"/>
          <p:cNvSpPr/>
          <p:nvPr/>
        </p:nvSpPr>
        <p:spPr>
          <a:xfrm>
            <a:off x="5943600" y="2130552"/>
            <a:ext cx="1371600" cy="164592"/>
          </a:xfrm>
          <a:prstGeom prst="rect">
            <a:avLst/>
          </a:prstGeom>
          <a:solidFill>
            <a:srgbClr val="00897B"/>
          </a:solidFill>
          <a:ln/>
        </p:spPr>
      </p:sp>
      <p:sp>
        <p:nvSpPr>
          <p:cNvPr id="22" name="Text 19"/>
          <p:cNvSpPr/>
          <p:nvPr/>
        </p:nvSpPr>
        <p:spPr>
          <a:xfrm>
            <a:off x="5943600" y="2130552"/>
            <a:ext cx="1371600" cy="16459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LIS331DL (0x19)</a:t>
            </a:r>
            <a:endParaRPr lang="en-US" sz="750" dirty="0"/>
          </a:p>
        </p:txBody>
      </p:sp>
      <p:sp>
        <p:nvSpPr>
          <p:cNvPr id="23" name="Text 20"/>
          <p:cNvSpPr/>
          <p:nvPr/>
        </p:nvSpPr>
        <p:spPr>
          <a:xfrm>
            <a:off x="457200" y="2331720"/>
            <a:ext cx="8229600" cy="256032"/>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How I²C works: Master sends START + 7-bit slave address + R/W bit → addressed slave responds with ACK → data bytes exchanged → STOP. Only 2 wires for any number of devices.</a:t>
            </a:r>
            <a:endParaRPr lang="en-US" sz="850" dirty="0"/>
          </a:p>
        </p:txBody>
      </p:sp>
      <p:sp>
        <p:nvSpPr>
          <p:cNvPr id="24" name="Shape 21"/>
          <p:cNvSpPr/>
          <p:nvPr/>
        </p:nvSpPr>
        <p:spPr>
          <a:xfrm>
            <a:off x="274320" y="2743200"/>
            <a:ext cx="8595360" cy="777240"/>
          </a:xfrm>
          <a:prstGeom prst="rect">
            <a:avLst/>
          </a:prstGeom>
          <a:solidFill>
            <a:srgbClr val="EEF2FF"/>
          </a:solidFill>
          <a:ln w="12700">
            <a:solidFill>
              <a:srgbClr val="1565C0"/>
            </a:solidFill>
            <a:prstDash val="solid"/>
          </a:ln>
        </p:spPr>
      </p:sp>
      <p:sp>
        <p:nvSpPr>
          <p:cNvPr id="25" name="Text 22"/>
          <p:cNvSpPr/>
          <p:nvPr/>
        </p:nvSpPr>
        <p:spPr>
          <a:xfrm>
            <a:off x="457200" y="2798064"/>
            <a:ext cx="8229600" cy="237744"/>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BLE 5.1 — Wireless Data Transmission to Phone / Gateway</a:t>
            </a:r>
            <a:endParaRPr lang="en-US" sz="1100" dirty="0"/>
          </a:p>
        </p:txBody>
      </p:sp>
      <p:sp>
        <p:nvSpPr>
          <p:cNvPr id="26" name="Text 23"/>
          <p:cNvSpPr/>
          <p:nvPr/>
        </p:nvSpPr>
        <p:spPr>
          <a:xfrm>
            <a:off x="457200" y="3054096"/>
            <a:ext cx="8229600" cy="411480"/>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CC2640R2F  →  RF_P/RF_N  →  L12(2nH)+L21(15nH)+C14(12pF) impedance matching  →  PCB trace IFA antenna (TI AN043, 50Ω)  →  2.4GHz BLE</a:t>
            </a:r>
            <a:endParaRPr lang="en-US" sz="880" dirty="0"/>
          </a:p>
          <a:p>
            <a:pPr marL="0" indent="0">
              <a:buNone/>
            </a:pPr>
            <a:r>
              <a:rPr lang="en-US" sz="880" dirty="0">
                <a:solidFill>
                  <a:srgbClr val="1A237E"/>
                </a:solidFill>
                <a:latin typeface="Calibri" pitchFamily="34" charset="0"/>
                <a:ea typeface="Calibri" pitchFamily="34" charset="-122"/>
                <a:cs typeface="Calibri" pitchFamily="34" charset="-120"/>
              </a:rPr>
              <a:t>Advertises every 100ms (DEFAULT_ADVERTISING_INTERVAL=160 × 0.625ms). Once connected, sends GATT notifications every 350ms with 6-byte sensor data array.</a:t>
            </a:r>
            <a:endParaRPr lang="en-US" sz="880" dirty="0"/>
          </a:p>
          <a:p>
            <a:pPr marL="0" indent="0">
              <a:buNone/>
            </a:pPr>
            <a:r>
              <a:rPr lang="en-US" sz="880" dirty="0">
                <a:solidFill>
                  <a:srgbClr val="1A237E"/>
                </a:solidFill>
                <a:latin typeface="Calibri" pitchFamily="34" charset="0"/>
                <a:ea typeface="Calibri" pitchFamily="34" charset="-122"/>
                <a:cs typeface="Calibri" pitchFamily="34" charset="-120"/>
              </a:rPr>
              <a:t>Range: typically 10–30 metres (indoor). Power: ~2mA average current including all sensors.</a:t>
            </a:r>
            <a:endParaRPr lang="en-US" sz="880" dirty="0"/>
          </a:p>
        </p:txBody>
      </p:sp>
      <p:sp>
        <p:nvSpPr>
          <p:cNvPr id="27" name="Shape 24"/>
          <p:cNvSpPr/>
          <p:nvPr/>
        </p:nvSpPr>
        <p:spPr>
          <a:xfrm>
            <a:off x="274320" y="3584448"/>
            <a:ext cx="8595360" cy="658368"/>
          </a:xfrm>
          <a:prstGeom prst="rect">
            <a:avLst/>
          </a:prstGeom>
          <a:solidFill>
            <a:srgbClr val="F3E5F5"/>
          </a:solidFill>
          <a:ln w="12700">
            <a:solidFill>
              <a:srgbClr val="7B1FA2"/>
            </a:solidFill>
            <a:prstDash val="solid"/>
          </a:ln>
        </p:spPr>
      </p:sp>
      <p:sp>
        <p:nvSpPr>
          <p:cNvPr id="28" name="Text 25"/>
          <p:cNvSpPr/>
          <p:nvPr/>
        </p:nvSpPr>
        <p:spPr>
          <a:xfrm>
            <a:off x="457200" y="3639312"/>
            <a:ext cx="8229600" cy="237744"/>
          </a:xfrm>
          <a:prstGeom prst="rect">
            <a:avLst/>
          </a:prstGeom>
          <a:noFill/>
          <a:ln/>
        </p:spPr>
        <p:txBody>
          <a:bodyPr wrap="square" lIns="0" tIns="0" rIns="0" bIns="0" rtlCol="0" anchor="ctr"/>
          <a:lstStyle/>
          <a:p>
            <a:pPr marL="0" indent="0">
              <a:buNone/>
            </a:pPr>
            <a:r>
              <a:rPr lang="en-US" sz="1100" b="1" dirty="0">
                <a:solidFill>
                  <a:srgbClr val="7B1FA2"/>
                </a:solidFill>
                <a:latin typeface="Calibri" pitchFamily="34" charset="0"/>
                <a:ea typeface="Calibri" pitchFamily="34" charset="-122"/>
                <a:cs typeface="Calibri" pitchFamily="34" charset="-120"/>
              </a:rPr>
              <a:t>JTAG — Firmware Programming &amp; Debugging via P1 Header</a:t>
            </a:r>
            <a:endParaRPr lang="en-US" sz="1100" dirty="0"/>
          </a:p>
        </p:txBody>
      </p:sp>
      <p:sp>
        <p:nvSpPr>
          <p:cNvPr id="29" name="Text 26"/>
          <p:cNvSpPr/>
          <p:nvPr/>
        </p:nvSpPr>
        <p:spPr>
          <a:xfrm>
            <a:off x="457200" y="3895344"/>
            <a:ext cx="8229600" cy="292608"/>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P1 header (18-pin)  →  JTAG_TCK(DIO_3) + JTAG_TMS(DIO_4) + TDI + TDO + nRESET  →  TI XDS110 USB Debug Probe  →  Code Composer Studio</a:t>
            </a:r>
            <a:endParaRPr lang="en-US" sz="880" dirty="0"/>
          </a:p>
          <a:p>
            <a:pPr marL="0" indent="0">
              <a:buNone/>
            </a:pPr>
            <a:r>
              <a:rPr lang="en-US" sz="880" dirty="0">
                <a:solidFill>
                  <a:srgbClr val="1A237E"/>
                </a:solidFill>
                <a:latin typeface="Calibri" pitchFamily="34" charset="0"/>
                <a:ea typeface="Calibri" pitchFamily="34" charset="-122"/>
                <a:cs typeface="Calibri" pitchFamily="34" charset="-120"/>
              </a:rPr>
              <a:t>Used to: flash firmware (.hex/.out files), set breakpoints, inspect memory registers, step through code line by line, and measure power consumption.</a:t>
            </a:r>
            <a:endParaRPr lang="en-US" sz="880" dirty="0"/>
          </a:p>
        </p:txBody>
      </p:sp>
      <p:sp>
        <p:nvSpPr>
          <p:cNvPr id="30" name="Shape 27"/>
          <p:cNvSpPr/>
          <p:nvPr/>
        </p:nvSpPr>
        <p:spPr>
          <a:xfrm>
            <a:off x="274320" y="4297680"/>
            <a:ext cx="8595360" cy="685800"/>
          </a:xfrm>
          <a:prstGeom prst="rect">
            <a:avLst/>
          </a:prstGeom>
          <a:solidFill>
            <a:srgbClr val="FFFDE7"/>
          </a:solidFill>
          <a:ln w="12700">
            <a:solidFill>
              <a:srgbClr val="F9A825"/>
            </a:solidFill>
            <a:prstDash val="solid"/>
          </a:ln>
        </p:spPr>
      </p:sp>
      <p:pic>
        <p:nvPicPr>
          <p:cNvPr id="31" name="Image 1" descr="preencoded.png"/>
          <p:cNvPicPr>
            <a:picLocks noChangeAspect="1"/>
          </p:cNvPicPr>
          <p:nvPr/>
        </p:nvPicPr>
        <p:blipFill>
          <a:blip r:embed="rId4"/>
          <a:stretch>
            <a:fillRect/>
          </a:stretch>
        </p:blipFill>
        <p:spPr>
          <a:xfrm>
            <a:off x="365760" y="4370832"/>
            <a:ext cx="274320" cy="274320"/>
          </a:xfrm>
          <a:prstGeom prst="rect">
            <a:avLst/>
          </a:prstGeom>
        </p:spPr>
      </p:pic>
      <p:sp>
        <p:nvSpPr>
          <p:cNvPr id="32" name="Text 28"/>
          <p:cNvSpPr/>
          <p:nvPr/>
        </p:nvSpPr>
        <p:spPr>
          <a:xfrm>
            <a:off x="731520" y="4352544"/>
            <a:ext cx="804672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Teaching note — What is GATT and why does BLE use it?</a:t>
            </a:r>
            <a:endParaRPr lang="en-US" sz="1000" dirty="0"/>
          </a:p>
        </p:txBody>
      </p:sp>
      <p:sp>
        <p:nvSpPr>
          <p:cNvPr id="33" name="Text 29"/>
          <p:cNvSpPr/>
          <p:nvPr/>
        </p:nvSpPr>
        <p:spPr>
          <a:xfrm>
            <a:off x="365760" y="4626864"/>
            <a:ext cx="8412480" cy="283464"/>
          </a:xfrm>
          <a:prstGeom prst="rect">
            <a:avLst/>
          </a:prstGeom>
          <a:noFill/>
          <a:ln/>
        </p:spPr>
        <p:txBody>
          <a:bodyPr wrap="square" lIns="0" tIns="0" rIns="0" bIns="0" rtlCol="0" anchor="ctr"/>
          <a:lstStyle/>
          <a:p>
            <a:pPr marL="0" indent="0">
              <a:buNone/>
            </a:pPr>
            <a:r>
              <a:rPr lang="en-US" sz="950" dirty="0">
                <a:solidFill>
                  <a:srgbClr val="1A237E"/>
                </a:solidFill>
                <a:latin typeface="Calibri" pitchFamily="34" charset="0"/>
                <a:ea typeface="Calibri" pitchFamily="34" charset="-122"/>
                <a:cs typeface="Calibri" pitchFamily="34" charset="-120"/>
              </a:rPr>
              <a:t>GATT (Generic Attribute Profile) organises BLE data into Services and Characteristics — like a menu. This device exposes Service 0xFFF0 with 5 characteristics (CHAR1–CHAR5). CHAR1 holds the 6-byte sensor array. A phone app simply reads CHAR1 every 350ms — no custom protocol needed. Any BLE scanner app (nRF Connect) can read raw sensor data from this band without any custom app.</a:t>
            </a:r>
            <a:endParaRPr lang="en-US" sz="950" dirty="0"/>
          </a:p>
        </p:txBody>
      </p:sp>
      <p:sp>
        <p:nvSpPr>
          <p:cNvPr id="9901" name="SlideNum9"/>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9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7C00"/>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PCB Layout Principles — Design Decisions Explained</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Understanding WHY components are placed where they are — key embedded PCB design knowledge</a:t>
            </a:r>
            <a:endParaRPr lang="en-US" sz="1100" dirty="0"/>
          </a:p>
        </p:txBody>
      </p:sp>
      <p:sp>
        <p:nvSpPr>
          <p:cNvPr id="6" name="Shape 3"/>
          <p:cNvSpPr/>
          <p:nvPr/>
        </p:nvSpPr>
        <p:spPr>
          <a:xfrm>
            <a:off x="274320" y="1078992"/>
            <a:ext cx="4160520" cy="1115568"/>
          </a:xfrm>
          <a:prstGeom prst="rect">
            <a:avLst/>
          </a:prstGeom>
          <a:solidFill>
            <a:srgbClr val="ECEFF1"/>
          </a:solidFill>
          <a:ln/>
          <a:effectLst>
            <a:outerShdw blurRad="101600" dist="38100" dir="8100000" algn="bl" rotWithShape="0">
              <a:srgbClr val="000000">
                <a:alpha val="12000"/>
              </a:srgbClr>
            </a:outerShdw>
          </a:effectLst>
        </p:spPr>
      </p:sp>
      <p:sp>
        <p:nvSpPr>
          <p:cNvPr id="7" name="Shape 4"/>
          <p:cNvSpPr/>
          <p:nvPr/>
        </p:nvSpPr>
        <p:spPr>
          <a:xfrm>
            <a:off x="274320" y="1078992"/>
            <a:ext cx="384048" cy="1115568"/>
          </a:xfrm>
          <a:prstGeom prst="rect">
            <a:avLst/>
          </a:prstGeom>
          <a:solidFill>
            <a:srgbClr val="0097A7"/>
          </a:solidFill>
          <a:ln/>
        </p:spPr>
      </p:sp>
      <p:pic>
        <p:nvPicPr>
          <p:cNvPr id="8" name="Image 1" descr="preencoded.png"/>
          <p:cNvPicPr>
            <a:picLocks noChangeAspect="1"/>
          </p:cNvPicPr>
          <p:nvPr/>
        </p:nvPicPr>
        <p:blipFill>
          <a:blip r:embed="rId4"/>
          <a:stretch>
            <a:fillRect/>
          </a:stretch>
        </p:blipFill>
        <p:spPr>
          <a:xfrm>
            <a:off x="320040" y="1435608"/>
            <a:ext cx="292608" cy="292608"/>
          </a:xfrm>
          <a:prstGeom prst="rect">
            <a:avLst/>
          </a:prstGeom>
        </p:spPr>
      </p:pic>
      <p:sp>
        <p:nvSpPr>
          <p:cNvPr id="9" name="Text 5"/>
          <p:cNvSpPr/>
          <p:nvPr/>
        </p:nvSpPr>
        <p:spPr>
          <a:xfrm>
            <a:off x="777240" y="1143000"/>
            <a:ext cx="3566160" cy="256032"/>
          </a:xfrm>
          <a:prstGeom prst="rect">
            <a:avLst/>
          </a:prstGeom>
          <a:noFill/>
          <a:ln/>
        </p:spPr>
        <p:txBody>
          <a:bodyPr wrap="square" lIns="0" tIns="0" rIns="0" bIns="0" rtlCol="0" anchor="ctr"/>
          <a:lstStyle/>
          <a:p>
            <a:pPr marL="0" indent="0">
              <a:buNone/>
            </a:pPr>
            <a:r>
              <a:rPr lang="en-US" sz="1200" b="1" dirty="0">
                <a:solidFill>
                  <a:srgbClr val="0097A7"/>
                </a:solidFill>
                <a:latin typeface="Calibri" pitchFamily="34" charset="0"/>
                <a:ea typeface="Calibri" pitchFamily="34" charset="-122"/>
                <a:cs typeface="Calibri" pitchFamily="34" charset="-120"/>
              </a:rPr>
              <a:t>Sensor placement — bottom side</a:t>
            </a:r>
            <a:endParaRPr lang="en-US" sz="1200" dirty="0"/>
          </a:p>
        </p:txBody>
      </p:sp>
      <p:sp>
        <p:nvSpPr>
          <p:cNvPr id="10" name="Text 6"/>
          <p:cNvSpPr/>
          <p:nvPr/>
        </p:nvSpPr>
        <p:spPr>
          <a:xfrm>
            <a:off x="777240" y="1426464"/>
            <a:ext cx="3566160" cy="694944"/>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MAX30102 (HR) and MAX30205 (temperature) are mounted on the PCB bottom (solder side). When worn on the wrist, the bottom faces the skin — giving the optical sensor direct skin contact for PPG measurement and the temperature sensor direct skin contact for body temperature. This is not accidental — it is a fundamental hardware design decision.</a:t>
            </a:r>
            <a:endParaRPr lang="en-US" sz="900" dirty="0"/>
          </a:p>
        </p:txBody>
      </p:sp>
      <p:sp>
        <p:nvSpPr>
          <p:cNvPr id="11" name="Shape 7"/>
          <p:cNvSpPr/>
          <p:nvPr/>
        </p:nvSpPr>
        <p:spPr>
          <a:xfrm>
            <a:off x="4754880" y="1078992"/>
            <a:ext cx="4160520" cy="1115568"/>
          </a:xfrm>
          <a:prstGeom prst="rect">
            <a:avLst/>
          </a:prstGeom>
          <a:solidFill>
            <a:srgbClr val="ECEFF1"/>
          </a:solidFill>
          <a:ln/>
          <a:effectLst>
            <a:outerShdw blurRad="101600" dist="38100" dir="8100000" algn="bl" rotWithShape="0">
              <a:srgbClr val="000000">
                <a:alpha val="12000"/>
              </a:srgbClr>
            </a:outerShdw>
          </a:effectLst>
        </p:spPr>
      </p:sp>
      <p:sp>
        <p:nvSpPr>
          <p:cNvPr id="12" name="Shape 8"/>
          <p:cNvSpPr/>
          <p:nvPr/>
        </p:nvSpPr>
        <p:spPr>
          <a:xfrm>
            <a:off x="4754880" y="1078992"/>
            <a:ext cx="384048" cy="1115568"/>
          </a:xfrm>
          <a:prstGeom prst="rect">
            <a:avLst/>
          </a:prstGeom>
          <a:solidFill>
            <a:srgbClr val="1565C0"/>
          </a:solidFill>
          <a:ln/>
        </p:spPr>
      </p:sp>
      <p:pic>
        <p:nvPicPr>
          <p:cNvPr id="13" name="Image 2" descr="preencoded.png"/>
          <p:cNvPicPr>
            <a:picLocks noChangeAspect="1"/>
          </p:cNvPicPr>
          <p:nvPr/>
        </p:nvPicPr>
        <p:blipFill>
          <a:blip r:embed="rId5"/>
          <a:stretch>
            <a:fillRect/>
          </a:stretch>
        </p:blipFill>
        <p:spPr>
          <a:xfrm>
            <a:off x="4800600" y="1435608"/>
            <a:ext cx="292608" cy="292608"/>
          </a:xfrm>
          <a:prstGeom prst="rect">
            <a:avLst/>
          </a:prstGeom>
        </p:spPr>
      </p:pic>
      <p:sp>
        <p:nvSpPr>
          <p:cNvPr id="14" name="Text 9"/>
          <p:cNvSpPr/>
          <p:nvPr/>
        </p:nvSpPr>
        <p:spPr>
          <a:xfrm>
            <a:off x="5257800" y="1143000"/>
            <a:ext cx="3566160" cy="256032"/>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Decoupling capacitors — placed beside each IC</a:t>
            </a:r>
            <a:endParaRPr lang="en-US" sz="1200" dirty="0"/>
          </a:p>
        </p:txBody>
      </p:sp>
      <p:sp>
        <p:nvSpPr>
          <p:cNvPr id="15" name="Text 10"/>
          <p:cNvSpPr/>
          <p:nvPr/>
        </p:nvSpPr>
        <p:spPr>
          <a:xfrm>
            <a:off x="5257800" y="1426464"/>
            <a:ext cx="3566160" cy="694944"/>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Every IC has 0.1µF and/or 10µF capacitors placed as physically close as possible. This is critical: when a digital IC switches states, it draws a brief current spike. Without a nearby capacitor, this spike causes a voltage dip on the power rail. The cap acts as a local charge reservoir — it supplies the spike current instantly. The larger the distance to the cap, the more inductance in the path and the less effective it is.</a:t>
            </a:r>
            <a:endParaRPr lang="en-US" sz="900" dirty="0"/>
          </a:p>
        </p:txBody>
      </p:sp>
      <p:sp>
        <p:nvSpPr>
          <p:cNvPr id="16" name="Shape 11"/>
          <p:cNvSpPr/>
          <p:nvPr/>
        </p:nvSpPr>
        <p:spPr>
          <a:xfrm>
            <a:off x="274320" y="2313432"/>
            <a:ext cx="4160520" cy="1115568"/>
          </a:xfrm>
          <a:prstGeom prst="rect">
            <a:avLst/>
          </a:prstGeom>
          <a:solidFill>
            <a:srgbClr val="ECEFF1"/>
          </a:solidFill>
          <a:ln/>
          <a:effectLst>
            <a:outerShdw blurRad="101600" dist="38100" dir="8100000" algn="bl" rotWithShape="0">
              <a:srgbClr val="000000">
                <a:alpha val="12000"/>
              </a:srgbClr>
            </a:outerShdw>
          </a:effectLst>
        </p:spPr>
      </p:sp>
      <p:sp>
        <p:nvSpPr>
          <p:cNvPr id="17" name="Shape 12"/>
          <p:cNvSpPr/>
          <p:nvPr/>
        </p:nvSpPr>
        <p:spPr>
          <a:xfrm>
            <a:off x="274320" y="2313432"/>
            <a:ext cx="384048" cy="1115568"/>
          </a:xfrm>
          <a:prstGeom prst="rect">
            <a:avLst/>
          </a:prstGeom>
          <a:solidFill>
            <a:srgbClr val="7B1FA2"/>
          </a:solidFill>
          <a:ln/>
        </p:spPr>
      </p:sp>
      <p:pic>
        <p:nvPicPr>
          <p:cNvPr id="18" name="Image 3" descr="preencoded.png"/>
          <p:cNvPicPr>
            <a:picLocks noChangeAspect="1"/>
          </p:cNvPicPr>
          <p:nvPr/>
        </p:nvPicPr>
        <p:blipFill>
          <a:blip r:embed="rId6"/>
          <a:stretch>
            <a:fillRect/>
          </a:stretch>
        </p:blipFill>
        <p:spPr>
          <a:xfrm>
            <a:off x="320040" y="2670048"/>
            <a:ext cx="292608" cy="292608"/>
          </a:xfrm>
          <a:prstGeom prst="rect">
            <a:avLst/>
          </a:prstGeom>
        </p:spPr>
      </p:pic>
      <p:sp>
        <p:nvSpPr>
          <p:cNvPr id="19" name="Text 13"/>
          <p:cNvSpPr/>
          <p:nvPr/>
        </p:nvSpPr>
        <p:spPr>
          <a:xfrm>
            <a:off x="777240" y="2377440"/>
            <a:ext cx="3566160" cy="256032"/>
          </a:xfrm>
          <a:prstGeom prst="rect">
            <a:avLst/>
          </a:prstGeom>
          <a:noFill/>
          <a:ln/>
        </p:spPr>
        <p:txBody>
          <a:bodyPr wrap="square" lIns="0" tIns="0" rIns="0" bIns="0" rtlCol="0" anchor="ctr"/>
          <a:lstStyle/>
          <a:p>
            <a:pPr marL="0" indent="0">
              <a:buNone/>
            </a:pPr>
            <a:r>
              <a:rPr lang="en-US" sz="1200" b="1" dirty="0">
                <a:solidFill>
                  <a:srgbClr val="7B1FA2"/>
                </a:solidFill>
                <a:latin typeface="Calibri" pitchFamily="34" charset="0"/>
                <a:ea typeface="Calibri" pitchFamily="34" charset="-122"/>
                <a:cs typeface="Calibri" pitchFamily="34" charset="-120"/>
              </a:rPr>
              <a:t>Separate power planes — VDDS and 3V3</a:t>
            </a:r>
            <a:endParaRPr lang="en-US" sz="1200" dirty="0"/>
          </a:p>
        </p:txBody>
      </p:sp>
      <p:sp>
        <p:nvSpPr>
          <p:cNvPr id="20" name="Text 14"/>
          <p:cNvSpPr/>
          <p:nvPr/>
        </p:nvSpPr>
        <p:spPr>
          <a:xfrm>
            <a:off x="777240" y="2660904"/>
            <a:ext cx="3566160" cy="694944"/>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The PCB has separate copper power planes for VDDS (CC2640R2F internal supply) and 3V3 (external supply). This prevents digital switching noise from the MCU coupling onto the 3V3 rail that powers the analogue sensors. The ferrite bead FL1 adds a further barrier between the external supply input and the internal planes — a standard mixed-signal PCB technique.</a:t>
            </a:r>
            <a:endParaRPr lang="en-US" sz="900" dirty="0"/>
          </a:p>
        </p:txBody>
      </p:sp>
      <p:sp>
        <p:nvSpPr>
          <p:cNvPr id="21" name="Shape 15"/>
          <p:cNvSpPr/>
          <p:nvPr/>
        </p:nvSpPr>
        <p:spPr>
          <a:xfrm>
            <a:off x="4754880" y="2313432"/>
            <a:ext cx="4160520" cy="1115568"/>
          </a:xfrm>
          <a:prstGeom prst="rect">
            <a:avLst/>
          </a:prstGeom>
          <a:solidFill>
            <a:srgbClr val="ECEFF1"/>
          </a:solidFill>
          <a:ln/>
          <a:effectLst>
            <a:outerShdw blurRad="101600" dist="38100" dir="8100000" algn="bl" rotWithShape="0">
              <a:srgbClr val="000000">
                <a:alpha val="12000"/>
              </a:srgbClr>
            </a:outerShdw>
          </a:effectLst>
        </p:spPr>
      </p:sp>
      <p:sp>
        <p:nvSpPr>
          <p:cNvPr id="22" name="Shape 16"/>
          <p:cNvSpPr/>
          <p:nvPr/>
        </p:nvSpPr>
        <p:spPr>
          <a:xfrm>
            <a:off x="4754880" y="2313432"/>
            <a:ext cx="384048" cy="1115568"/>
          </a:xfrm>
          <a:prstGeom prst="rect">
            <a:avLst/>
          </a:prstGeom>
          <a:solidFill>
            <a:srgbClr val="00BCD4"/>
          </a:solidFill>
          <a:ln/>
        </p:spPr>
      </p:sp>
      <p:pic>
        <p:nvPicPr>
          <p:cNvPr id="23" name="Image 4" descr="preencoded.png"/>
          <p:cNvPicPr>
            <a:picLocks noChangeAspect="1"/>
          </p:cNvPicPr>
          <p:nvPr/>
        </p:nvPicPr>
        <p:blipFill>
          <a:blip r:embed="rId7"/>
          <a:stretch>
            <a:fillRect/>
          </a:stretch>
        </p:blipFill>
        <p:spPr>
          <a:xfrm>
            <a:off x="4800600" y="2670048"/>
            <a:ext cx="292608" cy="292608"/>
          </a:xfrm>
          <a:prstGeom prst="rect">
            <a:avLst/>
          </a:prstGeom>
        </p:spPr>
      </p:pic>
      <p:sp>
        <p:nvSpPr>
          <p:cNvPr id="24" name="Text 17"/>
          <p:cNvSpPr/>
          <p:nvPr/>
        </p:nvSpPr>
        <p:spPr>
          <a:xfrm>
            <a:off x="5257800" y="2377440"/>
            <a:ext cx="3566160" cy="256032"/>
          </a:xfrm>
          <a:prstGeom prst="rect">
            <a:avLst/>
          </a:prstGeom>
          <a:noFill/>
          <a:ln/>
        </p:spPr>
        <p:txBody>
          <a:bodyPr wrap="square" lIns="0" tIns="0" rIns="0" bIns="0"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RF section — keep-out zone and 50Ω line</a:t>
            </a:r>
            <a:endParaRPr lang="en-US" sz="1200" dirty="0"/>
          </a:p>
        </p:txBody>
      </p:sp>
      <p:sp>
        <p:nvSpPr>
          <p:cNvPr id="25" name="Text 18"/>
          <p:cNvSpPr/>
          <p:nvPr/>
        </p:nvSpPr>
        <p:spPr>
          <a:xfrm>
            <a:off x="5257800" y="2660904"/>
            <a:ext cx="3566160" cy="694944"/>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The PCB trace antenna requires a ground-plane keep-out zone underneath it — a copper-free area so the antenna radiates upward rather than shorting into ground. The transmission line between the RF matching network (L12/L21/C14) and the antenna is carefully sized for 50Ω characteristic impedance. Any mismatch reflects power and reduces range.</a:t>
            </a:r>
            <a:endParaRPr lang="en-US" sz="900" dirty="0"/>
          </a:p>
        </p:txBody>
      </p:sp>
      <p:sp>
        <p:nvSpPr>
          <p:cNvPr id="26" name="Shape 19"/>
          <p:cNvSpPr/>
          <p:nvPr/>
        </p:nvSpPr>
        <p:spPr>
          <a:xfrm>
            <a:off x="274320" y="3547872"/>
            <a:ext cx="4160520" cy="1115568"/>
          </a:xfrm>
          <a:prstGeom prst="rect">
            <a:avLst/>
          </a:prstGeom>
          <a:solidFill>
            <a:srgbClr val="ECEFF1"/>
          </a:solidFill>
          <a:ln/>
          <a:effectLst>
            <a:outerShdw blurRad="101600" dist="38100" dir="8100000" algn="bl" rotWithShape="0">
              <a:srgbClr val="000000">
                <a:alpha val="12000"/>
              </a:srgbClr>
            </a:outerShdw>
          </a:effectLst>
        </p:spPr>
      </p:sp>
      <p:sp>
        <p:nvSpPr>
          <p:cNvPr id="27" name="Shape 20"/>
          <p:cNvSpPr/>
          <p:nvPr/>
        </p:nvSpPr>
        <p:spPr>
          <a:xfrm>
            <a:off x="274320" y="3547872"/>
            <a:ext cx="384048" cy="1115568"/>
          </a:xfrm>
          <a:prstGeom prst="rect">
            <a:avLst/>
          </a:prstGeom>
          <a:solidFill>
            <a:srgbClr val="00897B"/>
          </a:solidFill>
          <a:ln/>
        </p:spPr>
      </p:sp>
      <p:pic>
        <p:nvPicPr>
          <p:cNvPr id="28" name="Image 5" descr="preencoded.png"/>
          <p:cNvPicPr>
            <a:picLocks noChangeAspect="1"/>
          </p:cNvPicPr>
          <p:nvPr/>
        </p:nvPicPr>
        <p:blipFill>
          <a:blip r:embed="rId8"/>
          <a:stretch>
            <a:fillRect/>
          </a:stretch>
        </p:blipFill>
        <p:spPr>
          <a:xfrm>
            <a:off x="320040" y="3904488"/>
            <a:ext cx="292608" cy="292608"/>
          </a:xfrm>
          <a:prstGeom prst="rect">
            <a:avLst/>
          </a:prstGeom>
        </p:spPr>
      </p:pic>
      <p:sp>
        <p:nvSpPr>
          <p:cNvPr id="29" name="Text 21"/>
          <p:cNvSpPr/>
          <p:nvPr/>
        </p:nvSpPr>
        <p:spPr>
          <a:xfrm>
            <a:off x="777240" y="3611880"/>
            <a:ext cx="3566160" cy="256032"/>
          </a:xfrm>
          <a:prstGeom prst="rect">
            <a:avLst/>
          </a:prstGeom>
          <a:noFill/>
          <a:ln/>
        </p:spPr>
        <p:txBody>
          <a:bodyPr wrap="square" lIns="0" tIns="0" rIns="0" bIns="0" rtlCol="0" anchor="ctr"/>
          <a:lstStyle/>
          <a:p>
            <a:pPr marL="0" indent="0">
              <a:buNone/>
            </a:pPr>
            <a:r>
              <a:rPr lang="en-US" sz="1200" b="1" dirty="0">
                <a:solidFill>
                  <a:srgbClr val="00897B"/>
                </a:solidFill>
                <a:latin typeface="Calibri" pitchFamily="34" charset="0"/>
                <a:ea typeface="Calibri" pitchFamily="34" charset="-122"/>
                <a:cs typeface="Calibri" pitchFamily="34" charset="-120"/>
              </a:rPr>
              <a:t>4-layer PCB stack-up</a:t>
            </a:r>
            <a:endParaRPr lang="en-US" sz="1200" dirty="0"/>
          </a:p>
        </p:txBody>
      </p:sp>
      <p:sp>
        <p:nvSpPr>
          <p:cNvPr id="30" name="Text 22"/>
          <p:cNvSpPr/>
          <p:nvPr/>
        </p:nvSpPr>
        <p:spPr>
          <a:xfrm>
            <a:off x="777240" y="3895344"/>
            <a:ext cx="3566160" cy="694944"/>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The original research paper (Pinheiro et al. 2022) specifies a 4-layer PCB: top copper (components + antenna), inner ground plane (EMI shield), inner power plane (stable reference), bottom copper (sensors). The ground plane between the digital and analogue layers shields sensor circuits from digital switching noise — essential for clinical-grade accuracy.</a:t>
            </a:r>
            <a:endParaRPr lang="en-US" sz="900" dirty="0"/>
          </a:p>
        </p:txBody>
      </p:sp>
      <p:sp>
        <p:nvSpPr>
          <p:cNvPr id="31" name="Shape 23"/>
          <p:cNvSpPr/>
          <p:nvPr/>
        </p:nvSpPr>
        <p:spPr>
          <a:xfrm>
            <a:off x="4754880" y="3547872"/>
            <a:ext cx="4160520" cy="1115568"/>
          </a:xfrm>
          <a:prstGeom prst="rect">
            <a:avLst/>
          </a:prstGeom>
          <a:solidFill>
            <a:srgbClr val="ECEFF1"/>
          </a:solidFill>
          <a:ln/>
          <a:effectLst>
            <a:outerShdw blurRad="101600" dist="38100" dir="8100000" algn="bl" rotWithShape="0">
              <a:srgbClr val="000000">
                <a:alpha val="12000"/>
              </a:srgbClr>
            </a:outerShdw>
          </a:effectLst>
        </p:spPr>
      </p:sp>
      <p:sp>
        <p:nvSpPr>
          <p:cNvPr id="32" name="Shape 24"/>
          <p:cNvSpPr/>
          <p:nvPr/>
        </p:nvSpPr>
        <p:spPr>
          <a:xfrm>
            <a:off x="4754880" y="3547872"/>
            <a:ext cx="384048" cy="1115568"/>
          </a:xfrm>
          <a:prstGeom prst="rect">
            <a:avLst/>
          </a:prstGeom>
          <a:solidFill>
            <a:srgbClr val="F57C00"/>
          </a:solidFill>
          <a:ln/>
        </p:spPr>
      </p:sp>
      <p:pic>
        <p:nvPicPr>
          <p:cNvPr id="33" name="Image 6" descr="preencoded.png"/>
          <p:cNvPicPr>
            <a:picLocks noChangeAspect="1"/>
          </p:cNvPicPr>
          <p:nvPr/>
        </p:nvPicPr>
        <p:blipFill>
          <a:blip r:embed="rId9"/>
          <a:stretch>
            <a:fillRect/>
          </a:stretch>
        </p:blipFill>
        <p:spPr>
          <a:xfrm>
            <a:off x="4800600" y="3904488"/>
            <a:ext cx="292608" cy="292608"/>
          </a:xfrm>
          <a:prstGeom prst="rect">
            <a:avLst/>
          </a:prstGeom>
        </p:spPr>
      </p:pic>
      <p:sp>
        <p:nvSpPr>
          <p:cNvPr id="34" name="Text 25"/>
          <p:cNvSpPr/>
          <p:nvPr/>
        </p:nvSpPr>
        <p:spPr>
          <a:xfrm>
            <a:off x="5257800" y="3611880"/>
            <a:ext cx="3566160" cy="256032"/>
          </a:xfrm>
          <a:prstGeom prst="rect">
            <a:avLst/>
          </a:prstGeom>
          <a:noFill/>
          <a:ln/>
        </p:spPr>
        <p:txBody>
          <a:bodyPr wrap="square" lIns="0" tIns="0" rIns="0" bIns="0" rtlCol="0" anchor="ctr"/>
          <a:lstStyle/>
          <a:p>
            <a:pPr marL="0" indent="0">
              <a:buNone/>
            </a:pPr>
            <a:r>
              <a:rPr lang="en-US" sz="1200" b="1" dirty="0">
                <a:solidFill>
                  <a:srgbClr val="F57C00"/>
                </a:solidFill>
                <a:latin typeface="Calibri" pitchFamily="34" charset="0"/>
                <a:ea typeface="Calibri" pitchFamily="34" charset="-122"/>
                <a:cs typeface="Calibri" pitchFamily="34" charset="-120"/>
              </a:rPr>
              <a:t>Component packages — 0201 and 0402</a:t>
            </a:r>
            <a:endParaRPr lang="en-US" sz="1200" dirty="0"/>
          </a:p>
        </p:txBody>
      </p:sp>
      <p:sp>
        <p:nvSpPr>
          <p:cNvPr id="35" name="Text 26"/>
          <p:cNvSpPr/>
          <p:nvPr/>
        </p:nvSpPr>
        <p:spPr>
          <a:xfrm>
            <a:off x="5257800" y="3895344"/>
            <a:ext cx="3566160" cy="694944"/>
          </a:xfrm>
          <a:prstGeom prst="rect">
            <a:avLst/>
          </a:prstGeom>
          <a:noFill/>
          <a:ln/>
        </p:spPr>
        <p:txBody>
          <a:bodyPr wrap="square" lIns="0" tIns="0" rIns="0" bIns="0" rtlCol="0" anchor="ctr"/>
          <a:lstStyle/>
          <a:p>
            <a:pPr marL="0" indent="0">
              <a:buNone/>
            </a:pPr>
            <a:r>
              <a:rPr lang="en-US" sz="900" dirty="0">
                <a:solidFill>
                  <a:srgbClr val="1A237E"/>
                </a:solidFill>
                <a:latin typeface="Calibri" pitchFamily="34" charset="0"/>
                <a:ea typeface="Calibri" pitchFamily="34" charset="-122"/>
                <a:cs typeface="Calibri" pitchFamily="34" charset="-120"/>
              </a:rPr>
              <a:t>Most passive components use 0201 (0.6×0.3mm) or 0402 (1.0×0.5mm) packages — tiny SMD components requiring reflow soldering. This miniaturisation enables the 34×40mm form factor. RF components (L12, L21, C14) use 0201 specifically — at 2.4GHz even a 1mm trace has significant inductance, so minimising component size is essential for RF performance.</a:t>
            </a:r>
            <a:endParaRPr lang="en-US" sz="900" dirty="0"/>
          </a:p>
        </p:txBody>
      </p:sp>
      <p:sp>
        <p:nvSpPr>
          <p:cNvPr id="9901" name="SlideNum10"/>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10 /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137"/>
          </a:solidFill>
          <a:ln/>
        </p:spPr>
      </p:sp>
      <p:sp>
        <p:nvSpPr>
          <p:cNvPr id="3" name="Text 1"/>
          <p:cNvSpPr/>
          <p:nvPr/>
        </p:nvSpPr>
        <p:spPr>
          <a:xfrm>
            <a:off x="274320" y="0"/>
            <a:ext cx="822960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How Everything Works Together</a:t>
            </a:r>
            <a:endParaRPr lang="en-US" sz="2000" dirty="0"/>
          </a:p>
        </p:txBody>
      </p:sp>
      <p:pic>
        <p:nvPicPr>
          <p:cNvPr id="4" name="Image 0" descr="preencoded.png"/>
          <p:cNvPicPr>
            <a:picLocks noChangeAspect="1"/>
          </p:cNvPicPr>
          <p:nvPr/>
        </p:nvPicPr>
        <p:blipFill>
          <a:blip r:embed="rId3"/>
          <a:stretch>
            <a:fillRect/>
          </a:stretch>
        </p:blipFill>
        <p:spPr>
          <a:xfrm>
            <a:off x="8503920" y="109728"/>
            <a:ext cx="457200" cy="457200"/>
          </a:xfrm>
          <a:prstGeom prst="rect">
            <a:avLst/>
          </a:prstGeom>
        </p:spPr>
      </p:pic>
      <p:sp>
        <p:nvSpPr>
          <p:cNvPr id="5" name="Text 2"/>
          <p:cNvSpPr/>
          <p:nvPr/>
        </p:nvSpPr>
        <p:spPr>
          <a:xfrm>
            <a:off x="274320" y="777240"/>
            <a:ext cx="8595360" cy="256032"/>
          </a:xfrm>
          <a:prstGeom prst="rect">
            <a:avLst/>
          </a:prstGeom>
          <a:noFill/>
          <a:ln/>
        </p:spPr>
        <p:txBody>
          <a:bodyPr wrap="square" lIns="0" tIns="0" rIns="0" bIns="0"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End-to-end data flow — from skin contact to smartphone screen</a:t>
            </a:r>
            <a:endParaRPr lang="en-US" sz="1100" dirty="0"/>
          </a:p>
        </p:txBody>
      </p:sp>
      <p:sp>
        <p:nvSpPr>
          <p:cNvPr id="6" name="Shape 3"/>
          <p:cNvSpPr/>
          <p:nvPr/>
        </p:nvSpPr>
        <p:spPr>
          <a:xfrm>
            <a:off x="274320" y="1078992"/>
            <a:ext cx="4160520" cy="1078992"/>
          </a:xfrm>
          <a:prstGeom prst="rect">
            <a:avLst/>
          </a:prstGeom>
          <a:solidFill>
            <a:srgbClr val="ECEFF1"/>
          </a:solidFill>
          <a:ln/>
          <a:effectLst>
            <a:outerShdw blurRad="101600" dist="38100" dir="8100000" algn="bl" rotWithShape="0">
              <a:srgbClr val="000000">
                <a:alpha val="12000"/>
              </a:srgbClr>
            </a:outerShdw>
          </a:effectLst>
        </p:spPr>
      </p:sp>
      <p:sp>
        <p:nvSpPr>
          <p:cNvPr id="7" name="Shape 4"/>
          <p:cNvSpPr/>
          <p:nvPr/>
        </p:nvSpPr>
        <p:spPr>
          <a:xfrm>
            <a:off x="274320" y="1078992"/>
            <a:ext cx="457200" cy="1078992"/>
          </a:xfrm>
          <a:prstGeom prst="rect">
            <a:avLst/>
          </a:prstGeom>
          <a:solidFill>
            <a:srgbClr val="0097A7"/>
          </a:solidFill>
          <a:ln/>
        </p:spPr>
      </p:sp>
      <p:sp>
        <p:nvSpPr>
          <p:cNvPr id="8" name="Shape 5"/>
          <p:cNvSpPr/>
          <p:nvPr/>
        </p:nvSpPr>
        <p:spPr>
          <a:xfrm>
            <a:off x="347472" y="1426464"/>
            <a:ext cx="320040" cy="320040"/>
          </a:xfrm>
          <a:prstGeom prst="ellipse">
            <a:avLst/>
          </a:prstGeom>
          <a:solidFill>
            <a:srgbClr val="FFFFFF"/>
          </a:solidFill>
          <a:ln/>
        </p:spPr>
      </p:sp>
      <p:sp>
        <p:nvSpPr>
          <p:cNvPr id="9" name="Text 6"/>
          <p:cNvSpPr/>
          <p:nvPr/>
        </p:nvSpPr>
        <p:spPr>
          <a:xfrm>
            <a:off x="347472" y="1426464"/>
            <a:ext cx="320040" cy="320040"/>
          </a:xfrm>
          <a:prstGeom prst="rect">
            <a:avLst/>
          </a:prstGeom>
          <a:noFill/>
          <a:ln/>
        </p:spPr>
        <p:txBody>
          <a:bodyPr wrap="square" lIns="0" tIns="0" rIns="0" bIns="0" rtlCol="0" anchor="ctr"/>
          <a:lstStyle/>
          <a:p>
            <a:pPr marL="0" indent="0" algn="ctr">
              <a:buNone/>
            </a:pPr>
            <a:r>
              <a:rPr lang="en-US" sz="1400" b="1" dirty="0">
                <a:solidFill>
                  <a:srgbClr val="0097A7"/>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841248" y="1133856"/>
            <a:ext cx="3474720" cy="256032"/>
          </a:xfrm>
          <a:prstGeom prst="rect">
            <a:avLst/>
          </a:prstGeom>
          <a:noFill/>
          <a:ln/>
        </p:spPr>
        <p:txBody>
          <a:bodyPr wrap="square" lIns="0" tIns="0" rIns="0" bIns="0" rtlCol="0" anchor="ctr"/>
          <a:lstStyle/>
          <a:p>
            <a:pPr marL="0" indent="0">
              <a:buNone/>
            </a:pPr>
            <a:r>
              <a:rPr lang="en-US" sz="1100" b="1" dirty="0">
                <a:solidFill>
                  <a:srgbClr val="0097A7"/>
                </a:solidFill>
                <a:latin typeface="Calibri" pitchFamily="34" charset="0"/>
                <a:ea typeface="Calibri" pitchFamily="34" charset="-122"/>
                <a:cs typeface="Calibri" pitchFamily="34" charset="-120"/>
              </a:rPr>
              <a:t>Sensor measures vital sign</a:t>
            </a:r>
            <a:endParaRPr lang="en-US" sz="1100" dirty="0"/>
          </a:p>
        </p:txBody>
      </p:sp>
      <p:sp>
        <p:nvSpPr>
          <p:cNvPr id="11" name="Text 8"/>
          <p:cNvSpPr/>
          <p:nvPr/>
        </p:nvSpPr>
        <p:spPr>
          <a:xfrm>
            <a:off x="841248" y="1426464"/>
            <a:ext cx="3474720" cy="676656"/>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MAX30102 shines LEDs through wrist skin and photodetects reflected light. MAX30205 measures skin temperature via bandgap. LIS331DL detects wrist acceleration. Each sensor generates digital data.</a:t>
            </a:r>
            <a:endParaRPr lang="en-US" sz="880" dirty="0"/>
          </a:p>
        </p:txBody>
      </p:sp>
      <p:sp>
        <p:nvSpPr>
          <p:cNvPr id="12" name="Shape 9"/>
          <p:cNvSpPr/>
          <p:nvPr/>
        </p:nvSpPr>
        <p:spPr>
          <a:xfrm>
            <a:off x="4754880" y="1078992"/>
            <a:ext cx="4160520" cy="1078992"/>
          </a:xfrm>
          <a:prstGeom prst="rect">
            <a:avLst/>
          </a:prstGeom>
          <a:solidFill>
            <a:srgbClr val="ECEFF1"/>
          </a:solidFill>
          <a:ln/>
          <a:effectLst>
            <a:outerShdw blurRad="101600" dist="38100" dir="8100000" algn="bl" rotWithShape="0">
              <a:srgbClr val="000000">
                <a:alpha val="12000"/>
              </a:srgbClr>
            </a:outerShdw>
          </a:effectLst>
        </p:spPr>
      </p:sp>
      <p:sp>
        <p:nvSpPr>
          <p:cNvPr id="13" name="Shape 10"/>
          <p:cNvSpPr/>
          <p:nvPr/>
        </p:nvSpPr>
        <p:spPr>
          <a:xfrm>
            <a:off x="4754880" y="1078992"/>
            <a:ext cx="457200" cy="1078992"/>
          </a:xfrm>
          <a:prstGeom prst="rect">
            <a:avLst/>
          </a:prstGeom>
          <a:solidFill>
            <a:srgbClr val="1565C0"/>
          </a:solidFill>
          <a:ln/>
        </p:spPr>
      </p:sp>
      <p:sp>
        <p:nvSpPr>
          <p:cNvPr id="14" name="Shape 11"/>
          <p:cNvSpPr/>
          <p:nvPr/>
        </p:nvSpPr>
        <p:spPr>
          <a:xfrm>
            <a:off x="4828032" y="1426464"/>
            <a:ext cx="320040" cy="320040"/>
          </a:xfrm>
          <a:prstGeom prst="ellipse">
            <a:avLst/>
          </a:prstGeom>
          <a:solidFill>
            <a:srgbClr val="FFFFFF"/>
          </a:solidFill>
          <a:ln/>
        </p:spPr>
      </p:sp>
      <p:sp>
        <p:nvSpPr>
          <p:cNvPr id="15" name="Text 12"/>
          <p:cNvSpPr/>
          <p:nvPr/>
        </p:nvSpPr>
        <p:spPr>
          <a:xfrm>
            <a:off x="4828032" y="1426464"/>
            <a:ext cx="320040" cy="320040"/>
          </a:xfrm>
          <a:prstGeom prst="rect">
            <a:avLst/>
          </a:prstGeom>
          <a:noFill/>
          <a:ln/>
        </p:spPr>
        <p:txBody>
          <a:bodyPr wrap="square" lIns="0" tIns="0" rIns="0" bIns="0" rtlCol="0" anchor="ctr"/>
          <a:lstStyle/>
          <a:p>
            <a:pPr marL="0" indent="0" algn="ctr">
              <a:buNone/>
            </a:pPr>
            <a:r>
              <a:rPr lang="en-US" sz="1400" b="1" dirty="0">
                <a:solidFill>
                  <a:srgbClr val="1565C0"/>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5321808" y="1133856"/>
            <a:ext cx="3474720" cy="256032"/>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CC2640R2F reads via I²C</a:t>
            </a:r>
            <a:endParaRPr lang="en-US" sz="1100" dirty="0"/>
          </a:p>
        </p:txBody>
      </p:sp>
      <p:sp>
        <p:nvSpPr>
          <p:cNvPr id="17" name="Text 14"/>
          <p:cNvSpPr/>
          <p:nvPr/>
        </p:nvSpPr>
        <p:spPr>
          <a:xfrm>
            <a:off x="5321808" y="1426464"/>
            <a:ext cx="3474720" cy="676656"/>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Firmware (simple_peripheral.c) running on the ARM Cortex-M3 sends I²C read commands every 350ms. Addresses: 0x57 (HR), 0x90 (temp), 0x19 (accel). Data arrives as raw bytes via DIO_5/DIO_6.</a:t>
            </a:r>
            <a:endParaRPr lang="en-US" sz="880" dirty="0"/>
          </a:p>
        </p:txBody>
      </p:sp>
      <p:sp>
        <p:nvSpPr>
          <p:cNvPr id="18" name="Shape 15"/>
          <p:cNvSpPr/>
          <p:nvPr/>
        </p:nvSpPr>
        <p:spPr>
          <a:xfrm>
            <a:off x="274320" y="2286000"/>
            <a:ext cx="4160520" cy="1078992"/>
          </a:xfrm>
          <a:prstGeom prst="rect">
            <a:avLst/>
          </a:prstGeom>
          <a:solidFill>
            <a:srgbClr val="ECEFF1"/>
          </a:solidFill>
          <a:ln/>
          <a:effectLst>
            <a:outerShdw blurRad="101600" dist="38100" dir="8100000" algn="bl" rotWithShape="0">
              <a:srgbClr val="000000">
                <a:alpha val="12000"/>
              </a:srgbClr>
            </a:outerShdw>
          </a:effectLst>
        </p:spPr>
      </p:sp>
      <p:sp>
        <p:nvSpPr>
          <p:cNvPr id="19" name="Shape 16"/>
          <p:cNvSpPr/>
          <p:nvPr/>
        </p:nvSpPr>
        <p:spPr>
          <a:xfrm>
            <a:off x="274320" y="2286000"/>
            <a:ext cx="457200" cy="1078992"/>
          </a:xfrm>
          <a:prstGeom prst="rect">
            <a:avLst/>
          </a:prstGeom>
          <a:solidFill>
            <a:srgbClr val="7B1FA2"/>
          </a:solidFill>
          <a:ln/>
        </p:spPr>
      </p:sp>
      <p:sp>
        <p:nvSpPr>
          <p:cNvPr id="20" name="Shape 17"/>
          <p:cNvSpPr/>
          <p:nvPr/>
        </p:nvSpPr>
        <p:spPr>
          <a:xfrm>
            <a:off x="347472" y="2633472"/>
            <a:ext cx="320040" cy="320040"/>
          </a:xfrm>
          <a:prstGeom prst="ellipse">
            <a:avLst/>
          </a:prstGeom>
          <a:solidFill>
            <a:srgbClr val="FFFFFF"/>
          </a:solidFill>
          <a:ln/>
        </p:spPr>
      </p:sp>
      <p:sp>
        <p:nvSpPr>
          <p:cNvPr id="21" name="Text 18"/>
          <p:cNvSpPr/>
          <p:nvPr/>
        </p:nvSpPr>
        <p:spPr>
          <a:xfrm>
            <a:off x="347472" y="2633472"/>
            <a:ext cx="320040" cy="320040"/>
          </a:xfrm>
          <a:prstGeom prst="rect">
            <a:avLst/>
          </a:prstGeom>
          <a:noFill/>
          <a:ln/>
        </p:spPr>
        <p:txBody>
          <a:bodyPr wrap="square" lIns="0" tIns="0" rIns="0" bIns="0" rtlCol="0" anchor="ctr"/>
          <a:lstStyle/>
          <a:p>
            <a:pPr marL="0" indent="0" algn="ctr">
              <a:buNone/>
            </a:pPr>
            <a:r>
              <a:rPr lang="en-US" sz="1400" b="1" dirty="0">
                <a:solidFill>
                  <a:srgbClr val="7B1FA2"/>
                </a:solidFill>
                <a:latin typeface="Calibri" pitchFamily="34" charset="0"/>
                <a:ea typeface="Calibri" pitchFamily="34" charset="-122"/>
                <a:cs typeface="Calibri" pitchFamily="34" charset="-120"/>
              </a:rPr>
              <a:t>3</a:t>
            </a:r>
            <a:endParaRPr lang="en-US" sz="1400" dirty="0"/>
          </a:p>
        </p:txBody>
      </p:sp>
      <p:sp>
        <p:nvSpPr>
          <p:cNvPr id="22" name="Text 19"/>
          <p:cNvSpPr/>
          <p:nvPr/>
        </p:nvSpPr>
        <p:spPr>
          <a:xfrm>
            <a:off x="841248" y="2340864"/>
            <a:ext cx="3474720" cy="256032"/>
          </a:xfrm>
          <a:prstGeom prst="rect">
            <a:avLst/>
          </a:prstGeom>
          <a:noFill/>
          <a:ln/>
        </p:spPr>
        <p:txBody>
          <a:bodyPr wrap="square" lIns="0" tIns="0" rIns="0" bIns="0" rtlCol="0" anchor="ctr"/>
          <a:lstStyle/>
          <a:p>
            <a:pPr marL="0" indent="0">
              <a:buNone/>
            </a:pPr>
            <a:r>
              <a:rPr lang="en-US" sz="1100" b="1" dirty="0">
                <a:solidFill>
                  <a:srgbClr val="7B1FA2"/>
                </a:solidFill>
                <a:latin typeface="Calibri" pitchFamily="34" charset="0"/>
                <a:ea typeface="Calibri" pitchFamily="34" charset="-122"/>
                <a:cs typeface="Calibri" pitchFamily="34" charset="-120"/>
              </a:rPr>
              <a:t>Firmware processes data</a:t>
            </a:r>
            <a:endParaRPr lang="en-US" sz="1100" dirty="0"/>
          </a:p>
        </p:txBody>
      </p:sp>
      <p:sp>
        <p:nvSpPr>
          <p:cNvPr id="23" name="Text 20"/>
          <p:cNvSpPr/>
          <p:nvPr/>
        </p:nvSpPr>
        <p:spPr>
          <a:xfrm>
            <a:off x="841248" y="2633472"/>
            <a:ext cx="3474720" cy="676656"/>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Raw bytes converted to meaningful values: temp × 0.00390625 = °C. PPG signal processed for HR. Accelerometer data used for step counting and motion artifact removal from PPG.</a:t>
            </a:r>
            <a:endParaRPr lang="en-US" sz="880" dirty="0"/>
          </a:p>
        </p:txBody>
      </p:sp>
      <p:sp>
        <p:nvSpPr>
          <p:cNvPr id="24" name="Shape 21"/>
          <p:cNvSpPr/>
          <p:nvPr/>
        </p:nvSpPr>
        <p:spPr>
          <a:xfrm>
            <a:off x="4754880" y="2286000"/>
            <a:ext cx="4160520" cy="1078992"/>
          </a:xfrm>
          <a:prstGeom prst="rect">
            <a:avLst/>
          </a:prstGeom>
          <a:solidFill>
            <a:srgbClr val="ECEFF1"/>
          </a:solidFill>
          <a:ln/>
          <a:effectLst>
            <a:outerShdw blurRad="101600" dist="38100" dir="8100000" algn="bl" rotWithShape="0">
              <a:srgbClr val="000000">
                <a:alpha val="12000"/>
              </a:srgbClr>
            </a:outerShdw>
          </a:effectLst>
        </p:spPr>
      </p:sp>
      <p:sp>
        <p:nvSpPr>
          <p:cNvPr id="25" name="Shape 22"/>
          <p:cNvSpPr/>
          <p:nvPr/>
        </p:nvSpPr>
        <p:spPr>
          <a:xfrm>
            <a:off x="4754880" y="2286000"/>
            <a:ext cx="457200" cy="1078992"/>
          </a:xfrm>
          <a:prstGeom prst="rect">
            <a:avLst/>
          </a:prstGeom>
          <a:solidFill>
            <a:srgbClr val="1A237E"/>
          </a:solidFill>
          <a:ln/>
        </p:spPr>
      </p:sp>
      <p:sp>
        <p:nvSpPr>
          <p:cNvPr id="26" name="Shape 23"/>
          <p:cNvSpPr/>
          <p:nvPr/>
        </p:nvSpPr>
        <p:spPr>
          <a:xfrm>
            <a:off x="4828032" y="2633472"/>
            <a:ext cx="320040" cy="320040"/>
          </a:xfrm>
          <a:prstGeom prst="ellipse">
            <a:avLst/>
          </a:prstGeom>
          <a:solidFill>
            <a:srgbClr val="FFFFFF"/>
          </a:solidFill>
          <a:ln/>
        </p:spPr>
      </p:sp>
      <p:sp>
        <p:nvSpPr>
          <p:cNvPr id="27" name="Text 24"/>
          <p:cNvSpPr/>
          <p:nvPr/>
        </p:nvSpPr>
        <p:spPr>
          <a:xfrm>
            <a:off x="4828032" y="2633472"/>
            <a:ext cx="320040" cy="320040"/>
          </a:xfrm>
          <a:prstGeom prst="rect">
            <a:avLst/>
          </a:prstGeom>
          <a:noFill/>
          <a:ln/>
        </p:spPr>
        <p:txBody>
          <a:bodyPr wrap="square" lIns="0" tIns="0" rIns="0" bIns="0" rtlCol="0" anchor="ctr"/>
          <a:lstStyle/>
          <a:p>
            <a:pPr marL="0" indent="0" algn="ctr">
              <a:buNone/>
            </a:pPr>
            <a:r>
              <a:rPr lang="en-US" sz="1400" b="1" dirty="0">
                <a:solidFill>
                  <a:srgbClr val="1A237E"/>
                </a:solidFill>
                <a:latin typeface="Calibri" pitchFamily="34" charset="0"/>
                <a:ea typeface="Calibri" pitchFamily="34" charset="-122"/>
                <a:cs typeface="Calibri" pitchFamily="34" charset="-120"/>
              </a:rPr>
              <a:t>4</a:t>
            </a:r>
            <a:endParaRPr lang="en-US" sz="1400" dirty="0"/>
          </a:p>
        </p:txBody>
      </p:sp>
      <p:sp>
        <p:nvSpPr>
          <p:cNvPr id="28" name="Text 25"/>
          <p:cNvSpPr/>
          <p:nvPr/>
        </p:nvSpPr>
        <p:spPr>
          <a:xfrm>
            <a:off x="5321808" y="2340864"/>
            <a:ext cx="3474720" cy="256032"/>
          </a:xfrm>
          <a:prstGeom prst="rect">
            <a:avLst/>
          </a:prstGeom>
          <a:noFill/>
          <a:ln/>
        </p:spPr>
        <p:txBody>
          <a:bodyPr wrap="square" lIns="0" tIns="0" rIns="0" bIns="0" rtlCol="0" anchor="ctr"/>
          <a:lstStyle/>
          <a:p>
            <a:pPr marL="0" indent="0">
              <a:buNone/>
            </a:pPr>
            <a:r>
              <a:rPr lang="en-US" sz="1100" b="1" dirty="0">
                <a:solidFill>
                  <a:srgbClr val="1A237E"/>
                </a:solidFill>
                <a:latin typeface="Calibri" pitchFamily="34" charset="0"/>
                <a:ea typeface="Calibri" pitchFamily="34" charset="-122"/>
                <a:cs typeface="Calibri" pitchFamily="34" charset="-120"/>
              </a:rPr>
              <a:t>BLE GATT characteristic updated</a:t>
            </a:r>
            <a:endParaRPr lang="en-US" sz="1100" dirty="0"/>
          </a:p>
        </p:txBody>
      </p:sp>
      <p:sp>
        <p:nvSpPr>
          <p:cNvPr id="29" name="Text 26"/>
          <p:cNvSpPr/>
          <p:nvPr/>
        </p:nvSpPr>
        <p:spPr>
          <a:xfrm>
            <a:off x="5321808" y="2633472"/>
            <a:ext cx="3474720" cy="676656"/>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6-byte array [sensor_id, accel_whoami, accel_xh, accel_xl, temp_high, temp_low] written to CHAR1 (UUID 0xFFF1). TI BLE stack automatically sends GATT notification to connected phone.</a:t>
            </a:r>
            <a:endParaRPr lang="en-US" sz="880" dirty="0"/>
          </a:p>
        </p:txBody>
      </p:sp>
      <p:sp>
        <p:nvSpPr>
          <p:cNvPr id="30" name="Shape 27"/>
          <p:cNvSpPr/>
          <p:nvPr/>
        </p:nvSpPr>
        <p:spPr>
          <a:xfrm>
            <a:off x="274320" y="3493008"/>
            <a:ext cx="4160520" cy="1078992"/>
          </a:xfrm>
          <a:prstGeom prst="rect">
            <a:avLst/>
          </a:prstGeom>
          <a:solidFill>
            <a:srgbClr val="ECEFF1"/>
          </a:solidFill>
          <a:ln/>
          <a:effectLst>
            <a:outerShdw blurRad="101600" dist="38100" dir="8100000" algn="bl" rotWithShape="0">
              <a:srgbClr val="000000">
                <a:alpha val="12000"/>
              </a:srgbClr>
            </a:outerShdw>
          </a:effectLst>
        </p:spPr>
      </p:sp>
      <p:sp>
        <p:nvSpPr>
          <p:cNvPr id="31" name="Shape 28"/>
          <p:cNvSpPr/>
          <p:nvPr/>
        </p:nvSpPr>
        <p:spPr>
          <a:xfrm>
            <a:off x="274320" y="3493008"/>
            <a:ext cx="457200" cy="1078992"/>
          </a:xfrm>
          <a:prstGeom prst="rect">
            <a:avLst/>
          </a:prstGeom>
          <a:solidFill>
            <a:srgbClr val="00BCD4"/>
          </a:solidFill>
          <a:ln/>
        </p:spPr>
      </p:sp>
      <p:sp>
        <p:nvSpPr>
          <p:cNvPr id="32" name="Shape 29"/>
          <p:cNvSpPr/>
          <p:nvPr/>
        </p:nvSpPr>
        <p:spPr>
          <a:xfrm>
            <a:off x="347472" y="3840480"/>
            <a:ext cx="320040" cy="320040"/>
          </a:xfrm>
          <a:prstGeom prst="ellipse">
            <a:avLst/>
          </a:prstGeom>
          <a:solidFill>
            <a:srgbClr val="FFFFFF"/>
          </a:solidFill>
          <a:ln/>
        </p:spPr>
      </p:sp>
      <p:sp>
        <p:nvSpPr>
          <p:cNvPr id="33" name="Text 30"/>
          <p:cNvSpPr/>
          <p:nvPr/>
        </p:nvSpPr>
        <p:spPr>
          <a:xfrm>
            <a:off x="347472" y="3840480"/>
            <a:ext cx="320040" cy="320040"/>
          </a:xfrm>
          <a:prstGeom prst="rect">
            <a:avLst/>
          </a:prstGeom>
          <a:noFill/>
          <a:ln/>
        </p:spPr>
        <p:txBody>
          <a:bodyPr wrap="square" lIns="0" tIns="0" rIns="0" bIns="0" rtlCol="0" anchor="ctr"/>
          <a:lstStyle/>
          <a:p>
            <a:pPr marL="0" indent="0" algn="ctr">
              <a:buNone/>
            </a:pPr>
            <a:r>
              <a:rPr lang="en-US" sz="1400" b="1" dirty="0">
                <a:solidFill>
                  <a:srgbClr val="00BCD4"/>
                </a:solidFill>
                <a:latin typeface="Calibri" pitchFamily="34" charset="0"/>
                <a:ea typeface="Calibri" pitchFamily="34" charset="-122"/>
                <a:cs typeface="Calibri" pitchFamily="34" charset="-120"/>
              </a:rPr>
              <a:t>5</a:t>
            </a:r>
            <a:endParaRPr lang="en-US" sz="1400" dirty="0"/>
          </a:p>
        </p:txBody>
      </p:sp>
      <p:sp>
        <p:nvSpPr>
          <p:cNvPr id="34" name="Text 31"/>
          <p:cNvSpPr/>
          <p:nvPr/>
        </p:nvSpPr>
        <p:spPr>
          <a:xfrm>
            <a:off x="841248" y="3547872"/>
            <a:ext cx="3474720" cy="256032"/>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BLE radio transmits</a:t>
            </a:r>
            <a:endParaRPr lang="en-US" sz="1100" dirty="0"/>
          </a:p>
        </p:txBody>
      </p:sp>
      <p:sp>
        <p:nvSpPr>
          <p:cNvPr id="35" name="Text 32"/>
          <p:cNvSpPr/>
          <p:nvPr/>
        </p:nvSpPr>
        <p:spPr>
          <a:xfrm>
            <a:off x="841248" y="3840480"/>
            <a:ext cx="3474720" cy="676656"/>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Data modulated onto 2.4GHz BLE carrier. RF matching network (L12/L21/C14) ensures maximum power transfer to PCB trace IFA antenna. Signal propagates wirelessly up to 30m.</a:t>
            </a:r>
            <a:endParaRPr lang="en-US" sz="880" dirty="0"/>
          </a:p>
        </p:txBody>
      </p:sp>
      <p:sp>
        <p:nvSpPr>
          <p:cNvPr id="36" name="Shape 33"/>
          <p:cNvSpPr/>
          <p:nvPr/>
        </p:nvSpPr>
        <p:spPr>
          <a:xfrm>
            <a:off x="4754880" y="3493008"/>
            <a:ext cx="4160520" cy="1078992"/>
          </a:xfrm>
          <a:prstGeom prst="rect">
            <a:avLst/>
          </a:prstGeom>
          <a:solidFill>
            <a:srgbClr val="ECEFF1"/>
          </a:solidFill>
          <a:ln/>
          <a:effectLst>
            <a:outerShdw blurRad="101600" dist="38100" dir="8100000" algn="bl" rotWithShape="0">
              <a:srgbClr val="000000">
                <a:alpha val="12000"/>
              </a:srgbClr>
            </a:outerShdw>
          </a:effectLst>
        </p:spPr>
      </p:sp>
      <p:sp>
        <p:nvSpPr>
          <p:cNvPr id="37" name="Shape 34"/>
          <p:cNvSpPr/>
          <p:nvPr/>
        </p:nvSpPr>
        <p:spPr>
          <a:xfrm>
            <a:off x="4754880" y="3493008"/>
            <a:ext cx="457200" cy="1078992"/>
          </a:xfrm>
          <a:prstGeom prst="rect">
            <a:avLst/>
          </a:prstGeom>
          <a:solidFill>
            <a:srgbClr val="00897B"/>
          </a:solidFill>
          <a:ln/>
        </p:spPr>
      </p:sp>
      <p:sp>
        <p:nvSpPr>
          <p:cNvPr id="38" name="Shape 35"/>
          <p:cNvSpPr/>
          <p:nvPr/>
        </p:nvSpPr>
        <p:spPr>
          <a:xfrm>
            <a:off x="4828032" y="3840480"/>
            <a:ext cx="320040" cy="320040"/>
          </a:xfrm>
          <a:prstGeom prst="ellipse">
            <a:avLst/>
          </a:prstGeom>
          <a:solidFill>
            <a:srgbClr val="FFFFFF"/>
          </a:solidFill>
          <a:ln/>
        </p:spPr>
      </p:sp>
      <p:sp>
        <p:nvSpPr>
          <p:cNvPr id="39" name="Text 36"/>
          <p:cNvSpPr/>
          <p:nvPr/>
        </p:nvSpPr>
        <p:spPr>
          <a:xfrm>
            <a:off x="4828032" y="3840480"/>
            <a:ext cx="320040" cy="320040"/>
          </a:xfrm>
          <a:prstGeom prst="rect">
            <a:avLst/>
          </a:prstGeom>
          <a:noFill/>
          <a:ln/>
        </p:spPr>
        <p:txBody>
          <a:bodyPr wrap="square" lIns="0" tIns="0" rIns="0" bIns="0" rtlCol="0" anchor="ctr"/>
          <a:lstStyle/>
          <a:p>
            <a:pPr marL="0" indent="0" algn="ctr">
              <a:buNone/>
            </a:pPr>
            <a:r>
              <a:rPr lang="en-US" sz="1400" b="1" dirty="0">
                <a:solidFill>
                  <a:srgbClr val="00897B"/>
                </a:solidFill>
                <a:latin typeface="Calibri" pitchFamily="34" charset="0"/>
                <a:ea typeface="Calibri" pitchFamily="34" charset="-122"/>
                <a:cs typeface="Calibri" pitchFamily="34" charset="-120"/>
              </a:rPr>
              <a:t>6</a:t>
            </a:r>
            <a:endParaRPr lang="en-US" sz="1400" dirty="0"/>
          </a:p>
        </p:txBody>
      </p:sp>
      <p:sp>
        <p:nvSpPr>
          <p:cNvPr id="40" name="Text 37"/>
          <p:cNvSpPr/>
          <p:nvPr/>
        </p:nvSpPr>
        <p:spPr>
          <a:xfrm>
            <a:off x="5321808" y="3547872"/>
            <a:ext cx="3474720" cy="256032"/>
          </a:xfrm>
          <a:prstGeom prst="rect">
            <a:avLst/>
          </a:prstGeom>
          <a:noFill/>
          <a:ln/>
        </p:spPr>
        <p:txBody>
          <a:bodyPr wrap="square" lIns="0" tIns="0" rIns="0" bIns="0" rtlCol="0" anchor="ctr"/>
          <a:lstStyle/>
          <a:p>
            <a:pPr marL="0" indent="0">
              <a:buNone/>
            </a:pPr>
            <a:r>
              <a:rPr lang="en-US" sz="1100" b="1" dirty="0">
                <a:solidFill>
                  <a:srgbClr val="00897B"/>
                </a:solidFill>
                <a:latin typeface="Calibri" pitchFamily="34" charset="0"/>
                <a:ea typeface="Calibri" pitchFamily="34" charset="-122"/>
                <a:cs typeface="Calibri" pitchFamily="34" charset="-120"/>
              </a:rPr>
              <a:t>Smartphone / gateway receives</a:t>
            </a:r>
            <a:endParaRPr lang="en-US" sz="1100" dirty="0"/>
          </a:p>
        </p:txBody>
      </p:sp>
      <p:sp>
        <p:nvSpPr>
          <p:cNvPr id="41" name="Text 38"/>
          <p:cNvSpPr/>
          <p:nvPr/>
        </p:nvSpPr>
        <p:spPr>
          <a:xfrm>
            <a:off x="5321808" y="3840480"/>
            <a:ext cx="3474720" cy="676656"/>
          </a:xfrm>
          <a:prstGeom prst="rect">
            <a:avLst/>
          </a:prstGeom>
          <a:noFill/>
          <a:ln/>
        </p:spPr>
        <p:txBody>
          <a:bodyPr wrap="square" lIns="0" tIns="0" rIns="0" bIns="0" rtlCol="0" anchor="ctr"/>
          <a:lstStyle/>
          <a:p>
            <a:pPr marL="0" indent="0">
              <a:buNone/>
            </a:pPr>
            <a:r>
              <a:rPr lang="en-US" sz="880" dirty="0">
                <a:solidFill>
                  <a:srgbClr val="1A237E"/>
                </a:solidFill>
                <a:latin typeface="Calibri" pitchFamily="34" charset="0"/>
                <a:ea typeface="Calibri" pitchFamily="34" charset="-122"/>
                <a:cs typeface="Calibri" pitchFamily="34" charset="-120"/>
              </a:rPr>
              <a:t>Phone app or Raspberry Pi gateway receives GATT notification. Data decoded, displayed in real-time. Healthcare worker monitors patient vitals remotely — no physical contact needed.</a:t>
            </a:r>
            <a:endParaRPr lang="en-US" sz="880" dirty="0"/>
          </a:p>
        </p:txBody>
      </p:sp>
      <p:sp>
        <p:nvSpPr>
          <p:cNvPr id="42" name="Shape 39"/>
          <p:cNvSpPr/>
          <p:nvPr/>
        </p:nvSpPr>
        <p:spPr>
          <a:xfrm>
            <a:off x="274320" y="4645152"/>
            <a:ext cx="8595360" cy="347472"/>
          </a:xfrm>
          <a:prstGeom prst="rect">
            <a:avLst/>
          </a:prstGeom>
          <a:solidFill>
            <a:srgbClr val="FFF8E1"/>
          </a:solidFill>
          <a:ln w="12700">
            <a:solidFill>
              <a:srgbClr val="F9A825"/>
            </a:solidFill>
            <a:prstDash val="solid"/>
          </a:ln>
        </p:spPr>
      </p:sp>
      <p:sp>
        <p:nvSpPr>
          <p:cNvPr id="43" name="Text 40"/>
          <p:cNvSpPr/>
          <p:nvPr/>
        </p:nvSpPr>
        <p:spPr>
          <a:xfrm>
            <a:off x="457200" y="4681728"/>
            <a:ext cx="8229600" cy="256032"/>
          </a:xfrm>
          <a:prstGeom prst="rect">
            <a:avLst/>
          </a:prstGeom>
          <a:noFill/>
          <a:ln/>
        </p:spPr>
        <p:txBody>
          <a:bodyPr wrap="square" lIns="0" tIns="0" rIns="0" bIns="0" rtlCol="0" anchor="ctr"/>
          <a:lstStyle/>
          <a:p>
            <a:pPr marL="0" indent="0">
              <a:buNone/>
            </a:pPr>
            <a:r>
              <a:rPr lang="en-US" sz="900" dirty="0">
                <a:solidFill>
                  <a:srgbClr val="E65100"/>
                </a:solidFill>
                <a:latin typeface="Calibri" pitchFamily="34" charset="0"/>
                <a:ea typeface="Calibri" pitchFamily="34" charset="-122"/>
                <a:cs typeface="Calibri" pitchFamily="34" charset="-120"/>
              </a:rPr>
              <a:t>Power budget: ~2.0mA average (all sensors + BLE active)  |  &lt;1µA deep sleep  |  150mAh LiPo → ~73 hours continuous operation (Pinheiro et al. 2022)</a:t>
            </a:r>
            <a:endParaRPr lang="en-US" sz="900" dirty="0"/>
          </a:p>
        </p:txBody>
      </p:sp>
      <p:sp>
        <p:nvSpPr>
          <p:cNvPr id="9901" name="SlideNum11"/>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11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6217920" y="-731520"/>
            <a:ext cx="3840480" cy="3840480"/>
          </a:xfrm>
          <a:prstGeom prst="ellipse">
            <a:avLst/>
          </a:prstGeom>
          <a:solidFill>
            <a:srgbClr val="1A3A5C"/>
          </a:solidFill>
          <a:ln w="12700">
            <a:solidFill>
              <a:srgbClr val="1A3A5C"/>
            </a:solidFill>
            <a:prstDash val="solid"/>
          </a:ln>
        </p:spPr>
      </p:sp>
      <p:sp>
        <p:nvSpPr>
          <p:cNvPr id="3" name="Shape 1"/>
          <p:cNvSpPr/>
          <p:nvPr/>
        </p:nvSpPr>
        <p:spPr>
          <a:xfrm>
            <a:off x="-457200" y="3474720"/>
            <a:ext cx="2743200" cy="2743200"/>
          </a:xfrm>
          <a:prstGeom prst="ellipse">
            <a:avLst/>
          </a:prstGeom>
          <a:solidFill>
            <a:srgbClr val="142D47"/>
          </a:solidFill>
          <a:ln w="12700">
            <a:solidFill>
              <a:srgbClr val="142D47"/>
            </a:solidFill>
            <a:prstDash val="solid"/>
          </a:ln>
        </p:spPr>
      </p:sp>
      <p:sp>
        <p:nvSpPr>
          <p:cNvPr id="4" name="Text 2"/>
          <p:cNvSpPr/>
          <p:nvPr/>
        </p:nvSpPr>
        <p:spPr>
          <a:xfrm>
            <a:off x="457200" y="320040"/>
            <a:ext cx="8229600" cy="5486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5" name="Text 3"/>
          <p:cNvSpPr/>
          <p:nvPr/>
        </p:nvSpPr>
        <p:spPr>
          <a:xfrm>
            <a:off x="457200" y="914400"/>
            <a:ext cx="8229600" cy="292608"/>
          </a:xfrm>
          <a:prstGeom prst="rect">
            <a:avLst/>
          </a:prstGeom>
          <a:noFill/>
          <a:ln/>
        </p:spPr>
        <p:txBody>
          <a:bodyPr wrap="square" lIns="0" tIns="0" rIns="0" bIns="0" rtlCol="0" anchor="ctr"/>
          <a:lstStyle/>
          <a:p>
            <a:pPr marL="0" indent="0">
              <a:buNone/>
            </a:pPr>
            <a:r>
              <a:rPr lang="en-US" sz="1300" dirty="0">
                <a:solidFill>
                  <a:srgbClr val="00BCD4"/>
                </a:solidFill>
                <a:latin typeface="Calibri" pitchFamily="34" charset="0"/>
                <a:ea typeface="Calibri" pitchFamily="34" charset="-122"/>
                <a:cs typeface="Calibri" pitchFamily="34" charset="-120"/>
              </a:rPr>
              <a:t>Band01_Rev1 — 52-Component BLE Health Wearable | Project Work Task 1</a:t>
            </a:r>
            <a:endParaRPr lang="en-US" sz="1300" dirty="0"/>
          </a:p>
        </p:txBody>
      </p:sp>
      <p:sp>
        <p:nvSpPr>
          <p:cNvPr id="6" name="Shape 4"/>
          <p:cNvSpPr/>
          <p:nvPr/>
        </p:nvSpPr>
        <p:spPr>
          <a:xfrm>
            <a:off x="365760" y="1371600"/>
            <a:ext cx="384048" cy="384048"/>
          </a:xfrm>
          <a:prstGeom prst="ellipse">
            <a:avLst/>
          </a:prstGeom>
          <a:solidFill>
            <a:srgbClr val="1565C0"/>
          </a:solidFill>
          <a:ln/>
        </p:spPr>
      </p:sp>
      <p:pic>
        <p:nvPicPr>
          <p:cNvPr id="7" name="Image 0" descr="preencoded.png"/>
          <p:cNvPicPr>
            <a:picLocks noChangeAspect="1"/>
          </p:cNvPicPr>
          <p:nvPr/>
        </p:nvPicPr>
        <p:blipFill>
          <a:blip r:embed="rId3"/>
          <a:stretch>
            <a:fillRect/>
          </a:stretch>
        </p:blipFill>
        <p:spPr>
          <a:xfrm>
            <a:off x="402336" y="1389888"/>
            <a:ext cx="310896" cy="310896"/>
          </a:xfrm>
          <a:prstGeom prst="rect">
            <a:avLst/>
          </a:prstGeom>
        </p:spPr>
      </p:pic>
      <p:sp>
        <p:nvSpPr>
          <p:cNvPr id="8" name="Text 5"/>
          <p:cNvSpPr/>
          <p:nvPr/>
        </p:nvSpPr>
        <p:spPr>
          <a:xfrm>
            <a:off x="896112" y="1353312"/>
            <a:ext cx="78638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CC2640R2F is a 32-bit ARM Cortex-M3 BLE 5.1 MCU — central processor reading sensors via I²C and transmitting data wirelessly</a:t>
            </a:r>
            <a:endParaRPr lang="en-US" sz="1050" dirty="0"/>
          </a:p>
        </p:txBody>
      </p:sp>
      <p:sp>
        <p:nvSpPr>
          <p:cNvPr id="9" name="Shape 6"/>
          <p:cNvSpPr/>
          <p:nvPr/>
        </p:nvSpPr>
        <p:spPr>
          <a:xfrm>
            <a:off x="365760" y="1993392"/>
            <a:ext cx="384048" cy="384048"/>
          </a:xfrm>
          <a:prstGeom prst="ellipse">
            <a:avLst/>
          </a:prstGeom>
          <a:solidFill>
            <a:srgbClr val="0097A7"/>
          </a:solidFill>
          <a:ln/>
        </p:spPr>
      </p:sp>
      <p:pic>
        <p:nvPicPr>
          <p:cNvPr id="10" name="Image 1" descr="preencoded.png"/>
          <p:cNvPicPr>
            <a:picLocks noChangeAspect="1"/>
          </p:cNvPicPr>
          <p:nvPr/>
        </p:nvPicPr>
        <p:blipFill>
          <a:blip r:embed="rId4"/>
          <a:stretch>
            <a:fillRect/>
          </a:stretch>
        </p:blipFill>
        <p:spPr>
          <a:xfrm>
            <a:off x="402336" y="2011680"/>
            <a:ext cx="310896" cy="310896"/>
          </a:xfrm>
          <a:prstGeom prst="rect">
            <a:avLst/>
          </a:prstGeom>
        </p:spPr>
      </p:pic>
      <p:sp>
        <p:nvSpPr>
          <p:cNvPr id="11" name="Text 7"/>
          <p:cNvSpPr/>
          <p:nvPr/>
        </p:nvSpPr>
        <p:spPr>
          <a:xfrm>
            <a:off x="896112" y="1975104"/>
            <a:ext cx="78638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3 sensors on one shared I²C bus: MAX30102 (PPG heart rate + SpO2 via LED/photodetector), MAX30205 (±0.1°C clinical temperature), LIS331DL (MEMS accelerometer)</a:t>
            </a:r>
            <a:endParaRPr lang="en-US" sz="1050" dirty="0"/>
          </a:p>
        </p:txBody>
      </p:sp>
      <p:sp>
        <p:nvSpPr>
          <p:cNvPr id="12" name="Shape 8"/>
          <p:cNvSpPr/>
          <p:nvPr/>
        </p:nvSpPr>
        <p:spPr>
          <a:xfrm>
            <a:off x="365760" y="2615184"/>
            <a:ext cx="384048" cy="384048"/>
          </a:xfrm>
          <a:prstGeom prst="ellipse">
            <a:avLst/>
          </a:prstGeom>
          <a:solidFill>
            <a:srgbClr val="7B1FA2"/>
          </a:solidFill>
          <a:ln/>
        </p:spPr>
      </p:sp>
      <p:pic>
        <p:nvPicPr>
          <p:cNvPr id="13" name="Image 2" descr="preencoded.png"/>
          <p:cNvPicPr>
            <a:picLocks noChangeAspect="1"/>
          </p:cNvPicPr>
          <p:nvPr/>
        </p:nvPicPr>
        <p:blipFill>
          <a:blip r:embed="rId5"/>
          <a:stretch>
            <a:fillRect/>
          </a:stretch>
        </p:blipFill>
        <p:spPr>
          <a:xfrm>
            <a:off x="402336" y="2633472"/>
            <a:ext cx="310896" cy="310896"/>
          </a:xfrm>
          <a:prstGeom prst="rect">
            <a:avLst/>
          </a:prstGeom>
        </p:spPr>
      </p:pic>
      <p:sp>
        <p:nvSpPr>
          <p:cNvPr id="14" name="Text 9"/>
          <p:cNvSpPr/>
          <p:nvPr/>
        </p:nvSpPr>
        <p:spPr>
          <a:xfrm>
            <a:off x="896112" y="2596896"/>
            <a:ext cx="78638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Dual LP5907 ultra-low-noise LDO regulators (3.3V + 1.8V) with firmware-controlled EN pins — enables &lt;1µA deep sleep and 73-hour battery life</a:t>
            </a:r>
            <a:endParaRPr lang="en-US" sz="1050" dirty="0"/>
          </a:p>
        </p:txBody>
      </p:sp>
      <p:sp>
        <p:nvSpPr>
          <p:cNvPr id="15" name="Shape 10"/>
          <p:cNvSpPr/>
          <p:nvPr/>
        </p:nvSpPr>
        <p:spPr>
          <a:xfrm>
            <a:off x="365760" y="3236976"/>
            <a:ext cx="384048" cy="384048"/>
          </a:xfrm>
          <a:prstGeom prst="ellipse">
            <a:avLst/>
          </a:prstGeom>
          <a:solidFill>
            <a:srgbClr val="00BCD4"/>
          </a:solidFill>
          <a:ln/>
        </p:spPr>
      </p:sp>
      <p:pic>
        <p:nvPicPr>
          <p:cNvPr id="16" name="Image 3" descr="preencoded.png"/>
          <p:cNvPicPr>
            <a:picLocks noChangeAspect="1"/>
          </p:cNvPicPr>
          <p:nvPr/>
        </p:nvPicPr>
        <p:blipFill>
          <a:blip r:embed="rId6"/>
          <a:stretch>
            <a:fillRect/>
          </a:stretch>
        </p:blipFill>
        <p:spPr>
          <a:xfrm>
            <a:off x="402336" y="3255264"/>
            <a:ext cx="310896" cy="310896"/>
          </a:xfrm>
          <a:prstGeom prst="rect">
            <a:avLst/>
          </a:prstGeom>
        </p:spPr>
      </p:pic>
      <p:sp>
        <p:nvSpPr>
          <p:cNvPr id="17" name="Text 11"/>
          <p:cNvSpPr/>
          <p:nvPr/>
        </p:nvSpPr>
        <p:spPr>
          <a:xfrm>
            <a:off x="896112" y="3218688"/>
            <a:ext cx="78638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Inverted-F PCB trace antenna (TI AN043) + L12/L21/C14 RF matching network + FL1 ferrite bead — complete BLE 2.4GHz RF subsystem</a:t>
            </a:r>
            <a:endParaRPr lang="en-US" sz="1050" dirty="0"/>
          </a:p>
        </p:txBody>
      </p:sp>
      <p:sp>
        <p:nvSpPr>
          <p:cNvPr id="18" name="Shape 12"/>
          <p:cNvSpPr/>
          <p:nvPr/>
        </p:nvSpPr>
        <p:spPr>
          <a:xfrm>
            <a:off x="365760" y="3858768"/>
            <a:ext cx="384048" cy="384048"/>
          </a:xfrm>
          <a:prstGeom prst="ellipse">
            <a:avLst/>
          </a:prstGeom>
          <a:solidFill>
            <a:srgbClr val="00897B"/>
          </a:solidFill>
          <a:ln/>
        </p:spPr>
      </p:sp>
      <p:pic>
        <p:nvPicPr>
          <p:cNvPr id="19" name="Image 4" descr="preencoded.png"/>
          <p:cNvPicPr>
            <a:picLocks noChangeAspect="1"/>
          </p:cNvPicPr>
          <p:nvPr/>
        </p:nvPicPr>
        <p:blipFill>
          <a:blip r:embed="rId7"/>
          <a:stretch>
            <a:fillRect/>
          </a:stretch>
        </p:blipFill>
        <p:spPr>
          <a:xfrm>
            <a:off x="402336" y="3877056"/>
            <a:ext cx="310896" cy="310896"/>
          </a:xfrm>
          <a:prstGeom prst="rect">
            <a:avLst/>
          </a:prstGeom>
        </p:spPr>
      </p:pic>
      <p:sp>
        <p:nvSpPr>
          <p:cNvPr id="20" name="Text 13"/>
          <p:cNvSpPr/>
          <p:nvPr/>
        </p:nvSpPr>
        <p:spPr>
          <a:xfrm>
            <a:off x="896112" y="3840480"/>
            <a:ext cx="78638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52 components confirmed in Aisler BOM (March 2026) from TI, Analog Devices, STMicro, Murata, NDK, ECS, Samtec, Yageo, Vishay, Samsung, KEMET, Taiyo Yuden, Panasonic</a:t>
            </a:r>
            <a:endParaRPr lang="en-US" sz="1050" dirty="0"/>
          </a:p>
        </p:txBody>
      </p:sp>
      <p:sp>
        <p:nvSpPr>
          <p:cNvPr id="21" name="Shape 14"/>
          <p:cNvSpPr/>
          <p:nvPr/>
        </p:nvSpPr>
        <p:spPr>
          <a:xfrm>
            <a:off x="365760" y="4480560"/>
            <a:ext cx="384048" cy="384048"/>
          </a:xfrm>
          <a:prstGeom prst="ellipse">
            <a:avLst/>
          </a:prstGeom>
          <a:solidFill>
            <a:srgbClr val="F57C00"/>
          </a:solidFill>
          <a:ln/>
        </p:spPr>
      </p:sp>
      <p:pic>
        <p:nvPicPr>
          <p:cNvPr id="22" name="Image 5" descr="preencoded.png"/>
          <p:cNvPicPr>
            <a:picLocks noChangeAspect="1"/>
          </p:cNvPicPr>
          <p:nvPr/>
        </p:nvPicPr>
        <p:blipFill>
          <a:blip r:embed="rId8"/>
          <a:stretch>
            <a:fillRect/>
          </a:stretch>
        </p:blipFill>
        <p:spPr>
          <a:xfrm>
            <a:off x="402336" y="4498848"/>
            <a:ext cx="310896" cy="310896"/>
          </a:xfrm>
          <a:prstGeom prst="rect">
            <a:avLst/>
          </a:prstGeom>
        </p:spPr>
      </p:pic>
      <p:sp>
        <p:nvSpPr>
          <p:cNvPr id="23" name="Text 15"/>
          <p:cNvSpPr/>
          <p:nvPr/>
        </p:nvSpPr>
        <p:spPr>
          <a:xfrm>
            <a:off x="896112" y="4462272"/>
            <a:ext cx="78638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Next: Task 2 — firmware analysis in Code Composer Studio. Every pin mapping (DIO_5=SCL, DIO_8=interrupt...) and power rail studied here maps directly to firmware code</a:t>
            </a:r>
            <a:endParaRPr lang="en-US" sz="1050" dirty="0"/>
          </a:p>
        </p:txBody>
      </p:sp>
      <p:sp>
        <p:nvSpPr>
          <p:cNvPr id="24" name="Text 16"/>
          <p:cNvSpPr/>
          <p:nvPr/>
        </p:nvSpPr>
        <p:spPr>
          <a:xfrm>
            <a:off x="457200" y="4846320"/>
            <a:ext cx="8229600" cy="201168"/>
          </a:xfrm>
          <a:prstGeom prst="rect">
            <a:avLst/>
          </a:prstGeom>
          <a:noFill/>
          <a:ln/>
        </p:spPr>
        <p:txBody>
          <a:bodyPr wrap="square" lIns="0" tIns="0" rIns="0" bIns="0" rtlCol="0" anchor="ctr"/>
          <a:lstStyle/>
          <a:p>
            <a:pPr marL="0" indent="0">
              <a:buNone/>
            </a:pPr>
            <a:r>
              <a:rPr lang="en-US" sz="900" dirty="0">
                <a:solidFill>
                  <a:srgbClr val="546E7A"/>
                </a:solidFill>
                <a:latin typeface="Calibri" pitchFamily="34" charset="0"/>
                <a:ea typeface="Calibri" pitchFamily="34" charset="-122"/>
                <a:cs typeface="Calibri" pitchFamily="34" charset="-120"/>
              </a:rPr>
              <a:t>Masrur Jamil Prochchhod  |  HSHL  |  18 May 2026  |  Matriculation: 2210028</a:t>
            </a:r>
            <a:endParaRPr lang="en-US" sz="900" dirty="0"/>
          </a:p>
        </p:txBody>
      </p:sp>
      <p:sp>
        <p:nvSpPr>
          <p:cNvPr id="9901" name="SlideNum12"/>
          <p:cNvSpPr>
            <a:spLocks noGrp="1"/>
          </p:cNvSpPr>
          <p:nvPr/>
        </p:nvSpPr>
        <p:spPr>
          <a:xfrm>
            <a:off x="8509200" y="57150"/>
            <a:ext cx="533400" cy="228600"/>
          </a:xfrm>
          <a:prstGeom prst="roundRect">
            <a:avLst>
              <a:gd name="adj" fmla="val 16667"/>
            </a:avLst>
          </a:prstGeom>
          <a:solidFill>
            <a:srgbClr val="000000">
              <a:alpha val="55000"/>
            </a:srgbClr>
          </a:solidFill>
          <a:ln>
            <a:noFill/>
          </a:ln>
        </p:spPr>
        <p:txBody>
          <a:bodyPr anchor="ctr" insFull="0" lIns="45720" rIns="45720" tIns="0" bIns="0"/>
          <a:lstStyle/>
          <a:p>
            <a:pPr algn="ctr"/>
            <a:r>
              <a:rPr lang="en-US" sz="900" b="1" dirty="0">
                <a:solidFill>
                  <a:srgbClr val="FFFFFF"/>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3612</Words>
  <Application>Microsoft Office PowerPoint</Application>
  <PresentationFormat>On-screen Show (16:9)</PresentationFormat>
  <Paragraphs>294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Wearable Device — PCB Component Analysis</dc:title>
  <dc:subject>PptxGenJS Presentation</dc:subject>
  <dc:creator>Masrur Jamil Prochchhod</dc:creator>
  <cp:lastModifiedBy>Masrur Jamil Prochchhod</cp:lastModifiedBy>
  <cp:revision>2</cp:revision>
  <dcterms:created xsi:type="dcterms:W3CDTF">2026-05-26T09:55:01Z</dcterms:created>
  <dcterms:modified xsi:type="dcterms:W3CDTF">2026-05-26T10:00:22Z</dcterms:modified>
</cp:coreProperties>
</file>