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3840480" cy="3840480"/>
          </a:xfrm>
          <a:prstGeom prst="ellipse">
            <a:avLst/>
          </a:prstGeom>
          <a:solidFill>
            <a:srgbClr val="1565C0">
              <a:alpha val="35000"/>
            </a:srgbClr>
          </a:solidFill>
          <a:ln w="12700">
            <a:solidFill>
              <a:srgbClr val="1565C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926080"/>
            <a:ext cx="2560320" cy="2560320"/>
          </a:xfrm>
          <a:prstGeom prst="ellipse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1148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EQUIPMENT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03327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REPORT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Band01_Rev1 Smartband  ·  Task 3 Preparation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502920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40864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Javidi da Costa, Joao Paulo
</a:t>
            </a:r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Masrur Jamil Prochchhod
</a:t>
            </a:r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Matriculation: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2210028
</a:t>
            </a:r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May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133088"/>
            <a:ext cx="8412480" cy="566928"/>
          </a:xfrm>
          <a:prstGeom prst="rect">
            <a:avLst/>
          </a:prstGeom>
          <a:solidFill>
            <a:srgbClr val="00695C">
              <a:alpha val="80000"/>
            </a:srgbClr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17880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Status:  PCB manufactured &amp; available  ·  Firmware compiled (0 errors, 28 May 2026)  ·  No debug probe  ·  No power supply defined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HSHL Internship Project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Power Architecture — Read Before Connecting Anything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58368"/>
          </a:xfrm>
          <a:prstGeom prst="rect">
            <a:avLst/>
          </a:prstGeom>
          <a:solidFill>
            <a:srgbClr val="FFCDD2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64008" cy="6583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78638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 incorrect power connection will permanently damage the LP5907 LDO regulator on the PCB. AMS1117-3.3 modules MUST NOT be used — they will destroy U101.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Header Power Pins — confirmed from Altium schematic: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47088"/>
            <a:ext cx="914400" cy="585216"/>
          </a:xfrm>
          <a:prstGeom prst="rect">
            <a:avLst/>
          </a:prstGeom>
          <a:solidFill>
            <a:srgbClr val="E8F5E9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1847088"/>
            <a:ext cx="1097280" cy="585216"/>
          </a:xfrm>
          <a:prstGeom prst="rect">
            <a:avLst/>
          </a:prstGeom>
          <a:solidFill>
            <a:srgbClr val="E8F5E9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847088"/>
            <a:ext cx="3840480" cy="585216"/>
          </a:xfrm>
          <a:prstGeom prst="rect">
            <a:avLst/>
          </a:prstGeom>
          <a:solidFill>
            <a:srgbClr val="E8F5E9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847088"/>
            <a:ext cx="2743200" cy="585216"/>
          </a:xfrm>
          <a:prstGeom prst="rect">
            <a:avLst/>
          </a:prstGeom>
          <a:solidFill>
            <a:srgbClr val="E8F5E9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847088"/>
            <a:ext cx="64008" cy="58521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025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12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20025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59152" y="193852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input to LP5907 U101 and U102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6208" y="2002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— connect power here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05456"/>
            <a:ext cx="914400" cy="585216"/>
          </a:xfrm>
          <a:prstGeom prst="rect">
            <a:avLst/>
          </a:prstGeom>
          <a:solidFill>
            <a:srgbClr val="E8F5E9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2505456"/>
            <a:ext cx="1097280" cy="585216"/>
          </a:xfrm>
          <a:prstGeom prst="rect">
            <a:avLst/>
          </a:prstGeom>
          <a:solidFill>
            <a:srgbClr val="E8F5E9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2505456"/>
            <a:ext cx="3840480" cy="585216"/>
          </a:xfrm>
          <a:prstGeom prst="rect">
            <a:avLst/>
          </a:prstGeom>
          <a:solidFill>
            <a:srgbClr val="E8F5E9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2505456"/>
            <a:ext cx="2743200" cy="585216"/>
          </a:xfrm>
          <a:prstGeom prst="rect">
            <a:avLst/>
          </a:prstGeom>
          <a:solidFill>
            <a:srgbClr val="E8F5E9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2505456"/>
            <a:ext cx="64008" cy="58521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6609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17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2660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59152" y="2596896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— connect negative of any power source here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36208" y="2660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— connect GND here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163824"/>
            <a:ext cx="914400" cy="585216"/>
          </a:xfrm>
          <a:prstGeom prst="rect">
            <a:avLst/>
          </a:prstGeom>
          <a:solidFill>
            <a:srgbClr val="FFCDD2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3163824"/>
            <a:ext cx="1097280" cy="585216"/>
          </a:xfrm>
          <a:prstGeom prst="rect">
            <a:avLst/>
          </a:prstGeom>
          <a:solidFill>
            <a:srgbClr val="FFCDD2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163824"/>
            <a:ext cx="3840480" cy="585216"/>
          </a:xfrm>
          <a:prstGeom prst="rect">
            <a:avLst/>
          </a:prstGeom>
          <a:solidFill>
            <a:srgbClr val="FFCDD2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3163824"/>
            <a:ext cx="2743200" cy="585216"/>
          </a:xfrm>
          <a:prstGeom prst="rect">
            <a:avLst/>
          </a:prstGeom>
          <a:solidFill>
            <a:srgbClr val="FFCDD2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3163824"/>
            <a:ext cx="64008" cy="58521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319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18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34440" y="33192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3V3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59152" y="325526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LP5907 U101 — do NOT inject power here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36208" y="3319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WRONG — damages U101 if powered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822192"/>
            <a:ext cx="914400" cy="585216"/>
          </a:xfrm>
          <a:prstGeom prst="rect">
            <a:avLst/>
          </a:prstGeom>
          <a:solidFill>
            <a:srgbClr val="ECEFF1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88720" y="3822192"/>
            <a:ext cx="1097280" cy="585216"/>
          </a:xfrm>
          <a:prstGeom prst="rect">
            <a:avLst/>
          </a:prstGeom>
          <a:solidFill>
            <a:srgbClr val="ECEFF1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3822192"/>
            <a:ext cx="3840480" cy="585216"/>
          </a:xfrm>
          <a:prstGeom prst="rect">
            <a:avLst/>
          </a:prstGeom>
          <a:solidFill>
            <a:srgbClr val="ECEFF1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3822192"/>
            <a:ext cx="2743200" cy="585216"/>
          </a:xfrm>
          <a:prstGeom prst="rect">
            <a:avLst/>
          </a:prstGeom>
          <a:solidFill>
            <a:srgbClr val="ECEFF1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3822192"/>
            <a:ext cx="64008" cy="58521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977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16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234440" y="3977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359152" y="391363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connected in schematic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36208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 not use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553712"/>
            <a:ext cx="8595360" cy="164592"/>
          </a:xfrm>
          <a:prstGeom prst="rect">
            <a:avLst/>
          </a:prstGeom>
          <a:solidFill>
            <a:srgbClr val="FFCDD2">
              <a:alpha val="80000"/>
            </a:srgbClr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55371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AMS1117-3.3 damages the board: It outputs 3.3V directly into Pin 18 (3V3 net) — the OUTPUT of U101. LP5907 does not permit reverse current on its output. This destroys U101.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Equipment Recommendation Report  ·  Band01_Rev1  ·  Task 3 Preparation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PROBE RECOMMENDATIONS — 3 Options Ranked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7889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49808"/>
            <a:ext cx="2788920" cy="40233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786384"/>
            <a:ext cx="320040" cy="32004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95528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81381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SEGGER J-Link EDU Mini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361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Part: 8.08.91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847088"/>
            <a:ext cx="118872" cy="11887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JTAG + SWD — CC2640R2F uses JTAG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31136"/>
            <a:ext cx="118872" cy="11887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037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license — valid for HSHL academic use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118872" cy="11887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87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card form factor + 10-pin ribbon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99232"/>
            <a:ext cx="118872" cy="11887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71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 supported by CCS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118872" cy="11887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55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flash commander tool included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" y="4133088"/>
            <a:ext cx="2651760" cy="438912"/>
          </a:xfrm>
          <a:prstGeom prst="rect">
            <a:avLst/>
          </a:prstGeom>
          <a:solidFill>
            <a:srgbClr val="1B5E20">
              <a:alpha val="15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16966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€68.96  ·  mouser.de  (829-8.08.91)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63824" y="749808"/>
            <a:ext cx="27889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63824" y="749808"/>
            <a:ext cx="2788920" cy="40233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55264" y="786384"/>
            <a:ext cx="320040" cy="32004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55264" y="795528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66744" y="81381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73552" y="1225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LAUNCHXL-CC2640R2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73552" y="15361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LaunchPad kit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73552" y="1847088"/>
            <a:ext cx="118872" cy="11887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onboard XDS110 as debug probe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73552" y="2231136"/>
            <a:ext cx="118872" cy="11887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56432" y="22037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isolation jumpers before use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73552" y="2615184"/>
            <a:ext cx="118872" cy="11887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2587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CCS config changes needed (XDS110 default)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73552" y="2999232"/>
            <a:ext cx="118872" cy="11887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56432" y="2971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Bulkier — full dev board for probe use only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73552" y="3383280"/>
            <a:ext cx="118872" cy="11887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56432" y="3355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if CC2640R2F reference needed later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36976" y="4133088"/>
            <a:ext cx="2651760" cy="438912"/>
          </a:xfrm>
          <a:prstGeom prst="rect">
            <a:avLst/>
          </a:prstGeom>
          <a:solidFill>
            <a:srgbClr val="E65100">
              <a:alpha val="15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416966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€32.42  ·  mouser.de  (LAUNCHXL-CC2640R2)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71616" y="749808"/>
            <a:ext cx="27889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71616" y="749808"/>
            <a:ext cx="2788920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63056" y="786384"/>
            <a:ext cx="320040" cy="32004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63056" y="795528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574536" y="81381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81344" y="1225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SEGGER J-Link BASE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181344" y="15361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Part: 8.08.28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81344" y="1847088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64224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function to Option 1 for this project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81344" y="2231136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64224" y="22037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license — not needed for HSHL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81344" y="2615184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64224" y="2587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form factor, 20-pin JTAG connector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81344" y="2999232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64224" y="2971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technical advantage over EDU Mini here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81344" y="3383280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64224" y="3355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lab policy requires commercial license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144768" y="4133088"/>
            <a:ext cx="2651760" cy="438912"/>
          </a:xfrm>
          <a:prstGeom prst="rect">
            <a:avLst/>
          </a:prstGeom>
          <a:solidFill>
            <a:srgbClr val="1565C0">
              <a:alpha val="15000"/>
            </a:srgbClr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9632" y="416966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€589.05  ·  mouser.de  (829-8.08.28)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Equipment Recommendation Report  ·  Band01_Rev1  ·  Task 3 Preparation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JTAG WIRING — P1 Header Connection (Identical for All 3 Probe Options)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probe to P1 header using Dupont M-F jumper wires: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743200" cy="32918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0642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Signal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36392" y="1078992"/>
            <a:ext cx="2743200" cy="32918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9544" y="110642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Pin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98464" y="1078992"/>
            <a:ext cx="3419856" cy="32918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71616" y="110642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08176"/>
            <a:ext cx="274320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408176"/>
            <a:ext cx="274320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1408176"/>
            <a:ext cx="3145536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VTref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18 (3V3)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148132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reference sense only — does NOT supply power to board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828800"/>
            <a:ext cx="274320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1828800"/>
            <a:ext cx="274320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1828800"/>
            <a:ext cx="3145536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901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1901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17 (GND)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190195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connection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249424"/>
            <a:ext cx="2743200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2249424"/>
            <a:ext cx="2743200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0" y="2249424"/>
            <a:ext cx="3145536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322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2322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11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52160" y="2322576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JTAG Test Data 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670048"/>
            <a:ext cx="2743200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7520" y="2670048"/>
            <a:ext cx="2743200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2670048"/>
            <a:ext cx="3145536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08960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52160" y="274320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JTAG Test Mode Select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090672"/>
            <a:ext cx="2743200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17520" y="3090672"/>
            <a:ext cx="2743200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3090672"/>
            <a:ext cx="3145536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163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108960" y="3163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852160" y="3163824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JTAG Test Clock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511296"/>
            <a:ext cx="2743200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17520" y="3511296"/>
            <a:ext cx="2743200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3511296"/>
            <a:ext cx="3145536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584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108960" y="3584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13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852160" y="358444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JTAG Test Data Out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3931920"/>
            <a:ext cx="2743200" cy="384048"/>
          </a:xfrm>
          <a:prstGeom prst="rect">
            <a:avLst/>
          </a:prstGeom>
          <a:solidFill>
            <a:srgbClr val="FFF8E1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17520" y="3931920"/>
            <a:ext cx="2743200" cy="384048"/>
          </a:xfrm>
          <a:prstGeom prst="rect">
            <a:avLst/>
          </a:prstGeom>
          <a:solidFill>
            <a:srgbClr val="FFF8E1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60720" y="3931920"/>
            <a:ext cx="3145536" cy="384048"/>
          </a:xfrm>
          <a:prstGeom prst="rect">
            <a:avLst/>
          </a:prstGeom>
          <a:solidFill>
            <a:srgbClr val="FFF8E1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005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nRESET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108960" y="4005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15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852160" y="400507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reset line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4407408"/>
            <a:ext cx="8595360" cy="292608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4407408"/>
            <a:ext cx="64008" cy="2926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" y="44256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J-Link CCS config: </a:t>
            </a:r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targetConfigs/CC2640R2F.ccxml → change Connection from 'XDS110' to 'SEGGER J-Link Emulator' → Save.</a:t>
            </a:r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LaunchPad: </a:t>
            </a:r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CCS changes needed.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Equipment Recommendation Report  ·  Band01_Rev1  ·  Task 3 Preparation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 RECOMMENDATIONS — Connect to P1 Pin 12 (VBAT)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206240" cy="40233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64992" y="768096"/>
            <a:ext cx="1078992" cy="34747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78638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RECOMMENDED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7955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 LiPo Battery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252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3.7V  ·  150mAh  ·  Bare wire leads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536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25880" y="15361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 LiPo, 3.7V nominal, 150mAh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139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21396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wire (+) → P1 pin 12 (VBAT)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wire (−) → P1 pin 17 (GND)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best: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2588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how board was designed. Delivers 73+ hours at 2.032mA avg. Required for final wearable demo.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3346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25880" y="33467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TP4056 charger module between sessions (~€1)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3950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25880" y="39502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€4.99  ·  reichelt.de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749808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749808"/>
            <a:ext cx="4206240" cy="40233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768096"/>
            <a:ext cx="1243584" cy="34747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07808" y="78638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ALTERNATIVE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73168" y="7955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Bench Supply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73168" y="12252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3.7V  ·  200mA+ rated  ·  P1 pin 12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1536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87568" y="15361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Adjustable, 3.3–3.8V, ≥200mA current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73168" y="2139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87568" y="213969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lead → P1 pin 12 (VBAT)  |  Set to 3.7V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lead → P1 pin 17 (GND)  |  Current limit: 150mA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73168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87568" y="2743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LiPo at VBAT. Stable voltage, no drop. Easy power cycling during dev sessions.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3168" y="3346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87568" y="334670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must stay on desk — not suitable for wearable demo. May need buck converter if min output &gt;5V.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3168" y="3950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87568" y="3950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flashing &amp; first sensor activation — stable voltage more important than portability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645152"/>
            <a:ext cx="8595360" cy="164592"/>
          </a:xfrm>
          <a:prstGeom prst="rect">
            <a:avLst/>
          </a:prstGeom>
          <a:solidFill>
            <a:srgbClr val="FFCDD2">
              <a:alpha val="90000"/>
            </a:srgbClr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64515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NEVER connect both LiPo and bench supply to VBAT simultaneously — two sources on the same net will conflict and damage the battery and/or LP5907 regulators.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Equipment Recommendation Report  ·  Band01_Rev1  ·  Task 3 Preparation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ACCESSORIES &amp; COMPLETE ORDER LIST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regardless of which probe or power option is chosen: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594360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64008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521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Dupont Jumper Wires M-F 20cm (pack of 40)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417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probe to P1 header (7 wires for JTAG) + power supply to VBAT/GND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1234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1234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€8.49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37360"/>
            <a:ext cx="64008" cy="5943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USB-A Cable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20756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J-Link EDU Mini or LaunchPad to laptop USB 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51960" y="1892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supplier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1892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€1.20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8595360" cy="594360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95728"/>
            <a:ext cx="64008" cy="594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468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TP4056 LiPo Charger Module (optional)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27340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LiPo between test sessions — Input: USB 5V, charges single-cell safely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51960" y="25511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5511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€6.68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314553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Items to Order: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2194560" cy="246888"/>
          </a:xfrm>
          <a:prstGeom prst="rect">
            <a:avLst/>
          </a:prstGeom>
          <a:solidFill>
            <a:srgbClr val="1B5E20">
              <a:alpha val="15000"/>
            </a:srgbClr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3474720"/>
            <a:ext cx="384048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3474720"/>
            <a:ext cx="182880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3474720"/>
            <a:ext cx="731520" cy="246888"/>
          </a:xfrm>
          <a:prstGeom prst="rect">
            <a:avLst/>
          </a:prstGeom>
          <a:solidFill>
            <a:srgbClr val="1B5E20">
              <a:alpha val="20000"/>
            </a:srgbClr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5112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Essential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23744" y="351129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SEGGER J-Link EDU Mini (8.08.91)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35112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antratek.de / mouser.de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47304" y="351129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€68.96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749040"/>
            <a:ext cx="2194560" cy="246888"/>
          </a:xfrm>
          <a:prstGeom prst="rect">
            <a:avLst/>
          </a:prstGeom>
          <a:solidFill>
            <a:srgbClr val="1B5E20">
              <a:alpha val="15000"/>
            </a:srgbClr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68880" y="3749040"/>
            <a:ext cx="38404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3749040"/>
            <a:ext cx="182880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3749040"/>
            <a:ext cx="731520" cy="246888"/>
          </a:xfrm>
          <a:prstGeom prst="rect">
            <a:avLst/>
          </a:prstGeom>
          <a:solidFill>
            <a:srgbClr val="1B5E20">
              <a:alpha val="20000"/>
            </a:srgbClr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7856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Essential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523744" y="378561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3.7V 150mAh bare leads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37856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reichelt.de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47304" y="378561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€4.99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023360"/>
            <a:ext cx="2194560" cy="246888"/>
          </a:xfrm>
          <a:prstGeom prst="rect">
            <a:avLst/>
          </a:prstGeom>
          <a:solidFill>
            <a:srgbClr val="1B5E20">
              <a:alpha val="15000"/>
            </a:srgbClr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68880" y="4023360"/>
            <a:ext cx="384048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023360"/>
            <a:ext cx="182880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4023360"/>
            <a:ext cx="731520" cy="246888"/>
          </a:xfrm>
          <a:prstGeom prst="rect">
            <a:avLst/>
          </a:prstGeom>
          <a:solidFill>
            <a:srgbClr val="1B5E20">
              <a:alpha val="20000"/>
            </a:srgbClr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0599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Essential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523744" y="405993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Dupont M-F jumper wires (×40)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55080" y="40599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amazon.de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147304" y="405993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€8.49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297680"/>
            <a:ext cx="2194560" cy="246888"/>
          </a:xfrm>
          <a:prstGeom prst="rect">
            <a:avLst/>
          </a:prstGeom>
          <a:solidFill>
            <a:srgbClr val="1B5E20">
              <a:alpha val="15000"/>
            </a:srgbClr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68880" y="4297680"/>
            <a:ext cx="38404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4297680"/>
            <a:ext cx="182880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38160" y="4297680"/>
            <a:ext cx="731520" cy="246888"/>
          </a:xfrm>
          <a:prstGeom prst="rect">
            <a:avLst/>
          </a:prstGeom>
          <a:solidFill>
            <a:srgbClr val="1B5E20">
              <a:alpha val="20000"/>
            </a:srgbClr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3342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Essential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523744" y="433425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USB-A cable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55080" y="43342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supplier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147304" y="433425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€1.20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4572000"/>
            <a:ext cx="2194560" cy="246888"/>
          </a:xfrm>
          <a:prstGeom prst="rect">
            <a:avLst/>
          </a:prstGeom>
          <a:solidFill>
            <a:srgbClr val="E65100">
              <a:alpha val="10000"/>
            </a:srgbClr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68880" y="4572000"/>
            <a:ext cx="384048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09360" y="4572000"/>
            <a:ext cx="182880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38160" y="4572000"/>
            <a:ext cx="731520" cy="246888"/>
          </a:xfrm>
          <a:prstGeom prst="rect">
            <a:avLst/>
          </a:prstGeom>
          <a:solidFill>
            <a:srgbClr val="E65100">
              <a:alpha val="20000"/>
            </a:srgbClr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6085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Recommended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523744" y="460857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TP4056 LiPo charger module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355080" y="46085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amazon.de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147304" y="460857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€6.68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Equipment Recommendation Report  ·  Band01_Rev1  ·  Task 3 Preparation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BUILD &amp; FLASH PROCEDURE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Already Completed (28 May 2026)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92608" cy="2926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70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078992"/>
            <a:ext cx="37490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1704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 — TOOLS/build_config.opt and Include/gapbondmgr.h now fixed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292608" cy="2926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1810512"/>
            <a:ext cx="37490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190195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&amp; build BLE4 stack library (workspace_v13) from blestack SDK examples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633472"/>
            <a:ext cx="292608" cy="2926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2542032"/>
            <a:ext cx="37490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26334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3 files (.lib, lib_linker.cmd, ble_r2.symbols) to C:\FlashROM_Library\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364992"/>
            <a:ext cx="292608" cy="2926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3273552"/>
            <a:ext cx="374904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" y="33649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smart_band_v001_app in workspace_v12 — 0 errors ✓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Still Required (after items arrive)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152144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1078992"/>
            <a:ext cx="3840480" cy="530352"/>
          </a:xfrm>
          <a:prstGeom prst="rect">
            <a:avLst/>
          </a:prstGeom>
          <a:solidFill>
            <a:srgbClr val="FFF8E1"/>
          </a:solidFill>
          <a:ln w="6350">
            <a:solidFill>
              <a:srgbClr val="FFE08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20640" y="113385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SEGGER J-Link Software from segger.com (USB drivers + flash commander)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746504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746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1673352"/>
            <a:ext cx="3840480" cy="530352"/>
          </a:xfrm>
          <a:prstGeom prst="rect">
            <a:avLst/>
          </a:prstGeom>
          <a:solidFill>
            <a:srgbClr val="FFF8E1"/>
          </a:solidFill>
          <a:ln w="6350">
            <a:solidFill>
              <a:srgbClr val="FFE08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20640" y="1728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CCS: targetConfigs/CC2640R2F.ccxml → Connection → 'SEGGER J-Link Emulator'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340864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2267712"/>
            <a:ext cx="3840480" cy="530352"/>
          </a:xfrm>
          <a:prstGeom prst="rect">
            <a:avLst/>
          </a:prstGeom>
          <a:solidFill>
            <a:srgbClr val="FFF8E1"/>
          </a:solidFill>
          <a:ln w="6350">
            <a:solidFill>
              <a:srgbClr val="FFE08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120640" y="232257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supply to 3.7V / connect LiPo → P1 pin 12 (VBAT) + pin 17 (GND)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935224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2862072"/>
            <a:ext cx="3840480" cy="530352"/>
          </a:xfrm>
          <a:prstGeom prst="rect">
            <a:avLst/>
          </a:prstGeom>
          <a:solidFill>
            <a:srgbClr val="FFF8E1"/>
          </a:solidFill>
          <a:ln w="6350">
            <a:solidFill>
              <a:srgbClr val="FFE08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120640" y="291693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probe to P1 header using JTAG wiring table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529584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0" y="3456432"/>
            <a:ext cx="3840480" cy="530352"/>
          </a:xfrm>
          <a:prstGeom prst="rect">
            <a:avLst/>
          </a:prstGeom>
          <a:solidFill>
            <a:srgbClr val="FFF8E1"/>
          </a:solidFill>
          <a:ln w="6350">
            <a:solidFill>
              <a:srgbClr val="FFE08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120640" y="351129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CCS: Run → Debug → firmware flashes → press Play to run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4123944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123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0" y="4050792"/>
            <a:ext cx="3840480" cy="530352"/>
          </a:xfrm>
          <a:prstGeom prst="rect">
            <a:avLst/>
          </a:prstGeom>
          <a:solidFill>
            <a:srgbClr val="FFF8E1"/>
          </a:solidFill>
          <a:ln w="6350">
            <a:solidFill>
              <a:srgbClr val="FFE08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120640" y="410565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on smartphone nRF Connect: 'Simple BLE Peripheral' → CHAR1 (0xFFF1) transmitting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Equipment Recommendation Report  ·  Band01_Rev1  ·  Task 3 Preparation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0"/>
            <a:ext cx="3200400" cy="32004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Items to Order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32688"/>
            <a:ext cx="1371600" cy="566928"/>
          </a:xfrm>
          <a:prstGeom prst="rect">
            <a:avLst/>
          </a:prstGeom>
          <a:solidFill>
            <a:srgbClr val="1B5E20">
              <a:alpha val="80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6984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Probe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932688"/>
            <a:ext cx="475488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0698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SEGGER J-Link EDU Mini (Part 8.08.91)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932688"/>
            <a:ext cx="1005840" cy="566928"/>
          </a:xfrm>
          <a:prstGeom prst="rect">
            <a:avLst/>
          </a:prstGeom>
          <a:solidFill>
            <a:srgbClr val="1B5E20">
              <a:alpha val="70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106984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€68.96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0" y="932688"/>
            <a:ext cx="1097280" cy="566928"/>
          </a:xfrm>
          <a:prstGeom prst="rect">
            <a:avLst/>
          </a:prstGeom>
          <a:solidFill>
            <a:srgbClr val="1B5E20">
              <a:alpha val="50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0688" y="1069848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609344"/>
            <a:ext cx="1371600" cy="566928"/>
          </a:xfrm>
          <a:prstGeom prst="rect">
            <a:avLst/>
          </a:prstGeom>
          <a:solidFill>
            <a:srgbClr val="1B5E20">
              <a:alpha val="80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174650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1609344"/>
            <a:ext cx="475488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746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3.7V 150mAh bare leads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1609344"/>
            <a:ext cx="1005840" cy="566928"/>
          </a:xfrm>
          <a:prstGeom prst="rect">
            <a:avLst/>
          </a:prstGeom>
          <a:solidFill>
            <a:srgbClr val="1B5E20">
              <a:alpha val="70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17465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€4.99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0" y="1609344"/>
            <a:ext cx="1097280" cy="566928"/>
          </a:xfrm>
          <a:prstGeom prst="rect">
            <a:avLst/>
          </a:prstGeom>
          <a:solidFill>
            <a:srgbClr val="1B5E20">
              <a:alpha val="50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0688" y="1746504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286000"/>
            <a:ext cx="1371600" cy="566928"/>
          </a:xfrm>
          <a:prstGeom prst="rect">
            <a:avLst/>
          </a:prstGeom>
          <a:solidFill>
            <a:srgbClr val="1B5E20">
              <a:alpha val="80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4231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0" y="2286000"/>
            <a:ext cx="475488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2423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Dupont M-F jumper wires 20cm (×40)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0" y="2286000"/>
            <a:ext cx="1005840" cy="566928"/>
          </a:xfrm>
          <a:prstGeom prst="rect">
            <a:avLst/>
          </a:prstGeom>
          <a:solidFill>
            <a:srgbClr val="1B5E20">
              <a:alpha val="70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242316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€8.49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72400" y="2286000"/>
            <a:ext cx="1097280" cy="566928"/>
          </a:xfrm>
          <a:prstGeom prst="rect">
            <a:avLst/>
          </a:prstGeom>
          <a:solidFill>
            <a:srgbClr val="1B5E20">
              <a:alpha val="50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0688" y="242316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962656"/>
            <a:ext cx="1371600" cy="566928"/>
          </a:xfrm>
          <a:prstGeom prst="rect">
            <a:avLst/>
          </a:prstGeom>
          <a:solidFill>
            <a:srgbClr val="1B5E20">
              <a:alpha val="80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309981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28800" y="2962656"/>
            <a:ext cx="475488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20240" y="30998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USB-A cable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0" y="2962656"/>
            <a:ext cx="1005840" cy="566928"/>
          </a:xfrm>
          <a:prstGeom prst="rect">
            <a:avLst/>
          </a:prstGeom>
          <a:solidFill>
            <a:srgbClr val="1B5E20">
              <a:alpha val="70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93408" y="309981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€1.20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772400" y="2962656"/>
            <a:ext cx="1097280" cy="566928"/>
          </a:xfrm>
          <a:prstGeom prst="rect">
            <a:avLst/>
          </a:prstGeom>
          <a:solidFill>
            <a:srgbClr val="1B5E20">
              <a:alpha val="50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90688" y="3099816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639312"/>
            <a:ext cx="1371600" cy="566928"/>
          </a:xfrm>
          <a:prstGeom prst="rect">
            <a:avLst/>
          </a:prstGeom>
          <a:solidFill>
            <a:srgbClr val="E65100">
              <a:alpha val="80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37764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28800" y="3639312"/>
            <a:ext cx="475488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20240" y="3776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TP4056 LiPo charger module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675120" y="3639312"/>
            <a:ext cx="1005840" cy="566928"/>
          </a:xfrm>
          <a:prstGeom prst="rect">
            <a:avLst/>
          </a:prstGeom>
          <a:solidFill>
            <a:srgbClr val="E65100">
              <a:alpha val="70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93408" y="377647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€6.68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772400" y="3639312"/>
            <a:ext cx="1097280" cy="566928"/>
          </a:xfrm>
          <a:prstGeom prst="rect">
            <a:avLst/>
          </a:prstGeom>
          <a:solidFill>
            <a:srgbClr val="E65100">
              <a:alpha val="50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90688" y="3776472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462272"/>
            <a:ext cx="8503920" cy="274320"/>
          </a:xfrm>
          <a:prstGeom prst="rect">
            <a:avLst/>
          </a:prstGeom>
          <a:solidFill>
            <a:srgbClr val="1E88E5">
              <a:alpha val="50000"/>
            </a:srgbClr>
          </a:solidFill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4714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Pi: No additional hardware purchase needed — connects wirelessly via BLE Python (bluepy/bleak) to CHAR1 UUID 0xFFF1 every 350ms.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Band01_Rev1 Smartband  ·  Masrur Jamil Prochchhod  ·  Matriculation: 2210028  ·  HSHL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Equipment Recommendation — Band01_Rev1</dc:title>
  <dc:subject>PptxGenJS Presentation</dc:subject>
  <dc:creator>Masrur Jamil Prochchhod</dc:creator>
  <cp:lastModifiedBy>Masrur Jamil Prochchhod</cp:lastModifiedBy>
  <cp:revision>1</cp:revision>
  <dcterms:created xsi:type="dcterms:W3CDTF">2026-06-04T09:59:28Z</dcterms:created>
  <dcterms:modified xsi:type="dcterms:W3CDTF">2026-06-04T09:59:28Z</dcterms:modified>
</cp:coreProperties>
</file>