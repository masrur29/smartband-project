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822960"/>
            <a:ext cx="4114800" cy="4114800"/>
          </a:xfrm>
          <a:prstGeom prst="ellipse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1565C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834640"/>
            <a:ext cx="2560320" cy="2560320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Interoperability Study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743200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HORIBA ABX Micros 60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72768"/>
            <a:ext cx="27432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910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Abaxis Piccolo Xpress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FHIR R4, HL7, and LOINC Support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50292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0048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(HSHL)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study for Smartband V001 FHIR 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062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HL7 messaging support  ·  FHIR R4 compatibility  ·  LOINC coding  ·  LIS connectivity  ·  Smartband V001 relevance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Project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OVERVIEW —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160520" cy="40233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HORIBA ABX Micros 60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146304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225296"/>
            <a:ext cx="265176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89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92224" y="12893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Analyzer (CBC)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572768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36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92224" y="163677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HORIBA ABX SAS (France)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146304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920240"/>
            <a:ext cx="265176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92224" y="198424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samples/hour (open tube)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67712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2267712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Vol.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92224" y="233172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µL whole blood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146304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7360" y="2615184"/>
            <a:ext cx="265176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92224" y="26791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+ Photometry (HGB)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62656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2962656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026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92224" y="30266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CBC parameters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310128"/>
            <a:ext cx="146304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37360" y="3310128"/>
            <a:ext cx="265176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92224" y="337413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LiteDM middleware bridge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3657600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721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92224" y="37216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serial output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005072"/>
            <a:ext cx="146304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37360" y="4005072"/>
            <a:ext cx="2651760" cy="310896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92224" y="406908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middleware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74980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749808"/>
            <a:ext cx="416052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Abaxis Piccolo Xpress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709160" y="1225296"/>
            <a:ext cx="146304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1225296"/>
            <a:ext cx="265176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2312" y="1289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27064" y="12893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Chemistry Analyzer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1572768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1572768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1636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27064" y="163677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Abaxis (now Abbott Point of Care)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9160" y="1920240"/>
            <a:ext cx="146304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1920240"/>
            <a:ext cx="265176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82312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Time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27064" y="198424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per panel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09160" y="2267712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72200" y="2267712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82312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Vol.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27064" y="233172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µL (whole blood/serum/plasma)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09160" y="2615184"/>
            <a:ext cx="146304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2615184"/>
            <a:ext cx="265176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82312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27064" y="26791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Spectrophotometry (9 wavelengths)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09160" y="2962656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72200" y="2962656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82312" y="3026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27064" y="30266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chemistry analytes / 17 panels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09160" y="3310128"/>
            <a:ext cx="146304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72200" y="3310128"/>
            <a:ext cx="265176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82312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27064" y="337413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HL7 v2.x output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709160" y="3657600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72200" y="3657600"/>
            <a:ext cx="26517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82312" y="3721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227064" y="37216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USB + 1× Ethernet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709160" y="4005072"/>
            <a:ext cx="146304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72200" y="4005072"/>
            <a:ext cx="265176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82312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27064" y="406908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middleware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 Standards Study  ·  ABX Micros 60 &amp; Piccolo Xpress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ABX MICROS 60 — 18 CBC Parameters with LOINC Codes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68580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68096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749808"/>
            <a:ext cx="6400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768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749808"/>
            <a:ext cx="5943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28216" y="768096"/>
            <a:ext cx="521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749808"/>
            <a:ext cx="15087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76809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749808"/>
            <a:ext cx="68580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768096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3248" y="749808"/>
            <a:ext cx="6400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768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9048" y="749808"/>
            <a:ext cx="5943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768096"/>
            <a:ext cx="521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39128" y="749808"/>
            <a:ext cx="15087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75704" y="76809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06984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06984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106984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106984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06984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161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2416" y="11612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6690-2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28216" y="116128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10³/µL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68296" y="116128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Blood Cell Count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148132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148132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1640" y="148132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148132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148132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15727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" y="1572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789-8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28216" y="157276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10⁶/µL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68296" y="157276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Blood Cell Count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189280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189280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91640" y="189280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189280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189280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9842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2416" y="19842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718-7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28216" y="198424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368296" y="198424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30428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5840" y="230428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91640" y="230428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31720" y="230428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230428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23957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42416" y="23957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4544-3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728216" y="239572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368296" y="23957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271576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5840" y="271576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91640" y="271576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71576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" y="271576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28072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42416" y="28072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787-2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728216" y="280720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368296" y="280720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Corpuscular Volume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312724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5840" y="312724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91640" y="312724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31720" y="312724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" y="312724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32186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42416" y="3218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785-6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728216" y="321868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368296" y="321868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Corp. Hemoglobin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353872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5840" y="353872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91640" y="353872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31720" y="353872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4320" y="353872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36301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MCHC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42416" y="36301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786-4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728216" y="363016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368296" y="363016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Corp. Hgb Concentration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74320" y="395020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05840" y="395020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691640" y="395020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31720" y="395020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395020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40416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RDW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042416" y="40416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788-0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728216" y="404164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2368296" y="404164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 Distribution Width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74320" y="436168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05840" y="436168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91640" y="436168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31720" y="436168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4320" y="436168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5760" y="44531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042416" y="44531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777-3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1728216" y="445312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10³/µL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368296" y="44531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Count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681728" y="106984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413248" y="106984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99048" y="106984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39128" y="106984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681728" y="106984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73168" y="1161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MPV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5449824" y="11612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32623-1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6135624" y="116128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6775704" y="116128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Platelet Volume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681728" y="148132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13248" y="148132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99048" y="148132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739128" y="148132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81728" y="148132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73168" y="15727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5449824" y="1572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51637-7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6135624" y="157276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6775704" y="157276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Crit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4681728" y="189280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413248" y="189280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099048" y="189280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739128" y="189280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81728" y="189280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773168" y="19842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PDW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5449824" y="19842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32207-3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6135624" y="198424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6775704" y="198424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Distribution Width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4681728" y="230428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413248" y="230428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99048" y="230428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739128" y="230428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81728" y="230428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773168" y="23957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LYM%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5449824" y="23957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736-9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6135624" y="239572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6775704" y="23957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 %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4681728" y="271576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13248" y="271576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99048" y="271576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39128" y="271576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681728" y="271576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773168" y="28072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LYM#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5449824" y="28072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731-0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6135624" y="280720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10³/µL</a:t>
            </a:r>
            <a:endParaRPr lang="en-US" sz="950" dirty="0"/>
          </a:p>
        </p:txBody>
      </p:sp>
      <p:sp>
        <p:nvSpPr>
          <p:cNvPr id="145" name="Text 143"/>
          <p:cNvSpPr/>
          <p:nvPr/>
        </p:nvSpPr>
        <p:spPr>
          <a:xfrm>
            <a:off x="6775704" y="280720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 #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4681728" y="312724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13248" y="312724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99048" y="312724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739128" y="312724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681728" y="312724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773168" y="32186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MON%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5449824" y="3218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5905-5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6135624" y="321868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50" dirty="0"/>
          </a:p>
        </p:txBody>
      </p:sp>
      <p:sp>
        <p:nvSpPr>
          <p:cNvPr id="154" name="Text 152"/>
          <p:cNvSpPr/>
          <p:nvPr/>
        </p:nvSpPr>
        <p:spPr>
          <a:xfrm>
            <a:off x="6775704" y="321868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 %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4681728" y="353872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13248" y="353872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99048" y="353872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739128" y="353872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681728" y="353872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773168" y="36301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MON#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5449824" y="36301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742-7</a:t>
            </a:r>
            <a:endParaRPr lang="en-US" sz="950" dirty="0"/>
          </a:p>
        </p:txBody>
      </p:sp>
      <p:sp>
        <p:nvSpPr>
          <p:cNvPr id="162" name="Text 160"/>
          <p:cNvSpPr/>
          <p:nvPr/>
        </p:nvSpPr>
        <p:spPr>
          <a:xfrm>
            <a:off x="6135624" y="363016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10³/µL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6775704" y="363016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 #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4681728" y="3950208"/>
            <a:ext cx="6858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3950208"/>
            <a:ext cx="640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99048" y="3950208"/>
            <a:ext cx="594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739128" y="3950208"/>
            <a:ext cx="1508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681728" y="395020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773168" y="40416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GRA%</a:t>
            </a:r>
            <a:endParaRPr lang="en-US" sz="1000" dirty="0"/>
          </a:p>
        </p:txBody>
      </p:sp>
      <p:sp>
        <p:nvSpPr>
          <p:cNvPr id="170" name="Text 168"/>
          <p:cNvSpPr/>
          <p:nvPr/>
        </p:nvSpPr>
        <p:spPr>
          <a:xfrm>
            <a:off x="5449824" y="40416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764-1</a:t>
            </a:r>
            <a:endParaRPr lang="en-US" sz="950" dirty="0"/>
          </a:p>
        </p:txBody>
      </p:sp>
      <p:sp>
        <p:nvSpPr>
          <p:cNvPr id="171" name="Text 169"/>
          <p:cNvSpPr/>
          <p:nvPr/>
        </p:nvSpPr>
        <p:spPr>
          <a:xfrm>
            <a:off x="6135624" y="404164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50" dirty="0"/>
          </a:p>
        </p:txBody>
      </p:sp>
      <p:sp>
        <p:nvSpPr>
          <p:cNvPr id="172" name="Text 170"/>
          <p:cNvSpPr/>
          <p:nvPr/>
        </p:nvSpPr>
        <p:spPr>
          <a:xfrm>
            <a:off x="6775704" y="404164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Granulocyte %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4681728" y="4361688"/>
            <a:ext cx="68580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413248" y="4361688"/>
            <a:ext cx="64008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99048" y="4361688"/>
            <a:ext cx="5943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739128" y="4361688"/>
            <a:ext cx="1508760" cy="365760"/>
          </a:xfrm>
          <a:prstGeom prst="rect">
            <a:avLst/>
          </a:prstGeom>
          <a:solidFill>
            <a:srgbClr val="FFF0EE"/>
          </a:solidFill>
          <a:ln w="3810">
            <a:solidFill>
              <a:srgbClr val="DDCCC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681728" y="4361688"/>
            <a:ext cx="64008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773168" y="44531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GRA#</a:t>
            </a:r>
            <a:endParaRPr lang="en-US" sz="1000" dirty="0"/>
          </a:p>
        </p:txBody>
      </p:sp>
      <p:sp>
        <p:nvSpPr>
          <p:cNvPr id="179" name="Text 177"/>
          <p:cNvSpPr/>
          <p:nvPr/>
        </p:nvSpPr>
        <p:spPr>
          <a:xfrm>
            <a:off x="5449824" y="44531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30180-4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6135624" y="445312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10³/µL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6775704" y="44531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Granulocyte #</a:t>
            </a:r>
            <a:endParaRPr lang="en-US" sz="950" dirty="0"/>
          </a:p>
        </p:txBody>
      </p:sp>
      <p:sp>
        <p:nvSpPr>
          <p:cNvPr id="182" name="Shape 18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ABX Micros 60  ·  18 CBC Parameters  ·  All with established LOINC codes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 — 31 Chemistry Analytes with LOINC Codes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6217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758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749808"/>
            <a:ext cx="6217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758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72768" y="749808"/>
            <a:ext cx="47548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758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84832" y="749808"/>
            <a:ext cx="10789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12264" y="7589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04241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04241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1042416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042416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042416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1064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1832" y="1106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1751-7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11064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12264" y="110642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1389888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1389888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72768" y="1389888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1389888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1389888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453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1832" y="1453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6768-6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00200" y="145389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12264" y="14538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Alkaline Phosphatase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1737360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1737360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72768" y="1737360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84832" y="1737360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1737360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1801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1832" y="18013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1742-6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600200" y="180136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12264" y="18013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Alanine Aminotransferase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2084832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2084832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72768" y="2084832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2084832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2084832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41832" y="2148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1798-8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600200" y="21488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112264" y="21488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Amylase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2432304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2432304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72768" y="2432304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84832" y="2432304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" y="2432304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496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1832" y="24963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1920-8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600200" y="24963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112264" y="249631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Aspartate Aminotransferase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6032" y="2779776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" y="2779776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72768" y="2779776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84832" y="2779776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" y="2779776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28437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41832" y="28437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1968-7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600200" y="28437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112264" y="28437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Bilirubin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3127248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400" y="3127248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72768" y="3127248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84832" y="3127248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6032" y="3127248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31912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TBIL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41832" y="3191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1975-2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600200" y="31912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112264" y="3191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Bilirubin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56032" y="3474720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4400" y="3474720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72768" y="3474720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84832" y="3474720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56032" y="3474720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3538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41832" y="35387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3094-0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600200" y="35387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2112264" y="35387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Urea Nitrogen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56032" y="3822192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400" y="3822192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572768" y="3822192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84832" y="3822192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6032" y="3822192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41832" y="38862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17861-6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600200" y="38862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112264" y="38862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Calcium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56032" y="4169664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14400" y="4169664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572768" y="4169664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84832" y="4169664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6032" y="4169664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" y="4233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941832" y="42336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2157-6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1600200" y="4233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2112264" y="4233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Creatine Kinase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56032" y="451713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4400" y="451713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572768" y="4517136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084832" y="4517136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56032" y="4517136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0040" y="45811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Cl⁻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941832" y="45811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2075-0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1600200" y="458114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mmol/L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2112264" y="458114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218688" y="749808"/>
            <a:ext cx="6217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46120" y="758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Abbr.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3877056" y="749808"/>
            <a:ext cx="6217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904488" y="758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4535424" y="749808"/>
            <a:ext cx="47548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562856" y="758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5047488" y="749808"/>
            <a:ext cx="10789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074920" y="7589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3218688" y="104241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877056" y="104241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35424" y="1042416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047488" y="1042416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218688" y="1042416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282696" y="11064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3904488" y="1106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2160-0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4562856" y="11064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5074920" y="110642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3218688" y="1389888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877056" y="1389888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35424" y="1389888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047488" y="1389888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218688" y="1389888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282696" y="1453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3904488" y="1453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1988-5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4562856" y="145389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mg/L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5074920" y="14538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C-Reactive Protein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3218688" y="1737360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877056" y="1737360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535424" y="1737360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47488" y="1737360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18688" y="1737360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282696" y="1801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GGT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3904488" y="18013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2324-2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4562856" y="180136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5074920" y="18013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Gamma-Glutamyl Transferase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3218688" y="2084832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877056" y="2084832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535424" y="2084832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047488" y="2084832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218688" y="2084832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282696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3904488" y="2148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2345-7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4562856" y="21488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5074920" y="21488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3218688" y="2432304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877056" y="2432304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535424" y="2432304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047488" y="2432304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218688" y="2432304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282696" y="2496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K⁺</a:t>
            </a:r>
            <a:endParaRPr lang="en-US" sz="900" dirty="0"/>
          </a:p>
        </p:txBody>
      </p:sp>
      <p:sp>
        <p:nvSpPr>
          <p:cNvPr id="161" name="Text 159"/>
          <p:cNvSpPr/>
          <p:nvPr/>
        </p:nvSpPr>
        <p:spPr>
          <a:xfrm>
            <a:off x="3904488" y="24963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2823-3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4562856" y="24963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mmol/L</a:t>
            </a:r>
            <a:endParaRPr lang="en-US" sz="850" dirty="0"/>
          </a:p>
        </p:txBody>
      </p:sp>
      <p:sp>
        <p:nvSpPr>
          <p:cNvPr id="163" name="Text 161"/>
          <p:cNvSpPr/>
          <p:nvPr/>
        </p:nvSpPr>
        <p:spPr>
          <a:xfrm>
            <a:off x="5074920" y="249631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3218688" y="2779776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877056" y="2779776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535424" y="2779776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047488" y="2779776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218688" y="2779776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282696" y="28437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3904488" y="28437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2524-7</a:t>
            </a:r>
            <a:endParaRPr lang="en-US" sz="850" dirty="0"/>
          </a:p>
        </p:txBody>
      </p:sp>
      <p:sp>
        <p:nvSpPr>
          <p:cNvPr id="171" name="Text 169"/>
          <p:cNvSpPr/>
          <p:nvPr/>
        </p:nvSpPr>
        <p:spPr>
          <a:xfrm>
            <a:off x="4562856" y="28437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mmol/L</a:t>
            </a:r>
            <a:endParaRPr lang="en-US" sz="850" dirty="0"/>
          </a:p>
        </p:txBody>
      </p:sp>
      <p:sp>
        <p:nvSpPr>
          <p:cNvPr id="172" name="Text 170"/>
          <p:cNvSpPr/>
          <p:nvPr/>
        </p:nvSpPr>
        <p:spPr>
          <a:xfrm>
            <a:off x="5074920" y="28437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3218688" y="3127248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877056" y="3127248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535424" y="3127248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047488" y="3127248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218688" y="3127248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282696" y="31912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LDH</a:t>
            </a:r>
            <a:endParaRPr lang="en-US" sz="900" dirty="0"/>
          </a:p>
        </p:txBody>
      </p:sp>
      <p:sp>
        <p:nvSpPr>
          <p:cNvPr id="179" name="Text 177"/>
          <p:cNvSpPr/>
          <p:nvPr/>
        </p:nvSpPr>
        <p:spPr>
          <a:xfrm>
            <a:off x="3904488" y="3191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2532-0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4562856" y="31912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5074920" y="3191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 Dehydrogenase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3218688" y="3474720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877056" y="3474720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535424" y="3474720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047488" y="3474720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218688" y="3474720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282696" y="3538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900" dirty="0"/>
          </a:p>
        </p:txBody>
      </p:sp>
      <p:sp>
        <p:nvSpPr>
          <p:cNvPr id="188" name="Text 186"/>
          <p:cNvSpPr/>
          <p:nvPr/>
        </p:nvSpPr>
        <p:spPr>
          <a:xfrm>
            <a:off x="3904488" y="35387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2601-3</a:t>
            </a:r>
            <a:endParaRPr lang="en-US" sz="850" dirty="0"/>
          </a:p>
        </p:txBody>
      </p:sp>
      <p:sp>
        <p:nvSpPr>
          <p:cNvPr id="189" name="Text 187"/>
          <p:cNvSpPr/>
          <p:nvPr/>
        </p:nvSpPr>
        <p:spPr>
          <a:xfrm>
            <a:off x="4562856" y="35387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190" name="Text 188"/>
          <p:cNvSpPr/>
          <p:nvPr/>
        </p:nvSpPr>
        <p:spPr>
          <a:xfrm>
            <a:off x="5074920" y="35387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3218688" y="3822192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877056" y="3822192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535424" y="3822192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047488" y="3822192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218688" y="3822192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282696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Na⁺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3904488" y="38862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2951-2</a:t>
            </a:r>
            <a:endParaRPr lang="en-US" sz="850" dirty="0"/>
          </a:p>
        </p:txBody>
      </p:sp>
      <p:sp>
        <p:nvSpPr>
          <p:cNvPr id="198" name="Text 196"/>
          <p:cNvSpPr/>
          <p:nvPr/>
        </p:nvSpPr>
        <p:spPr>
          <a:xfrm>
            <a:off x="4562856" y="38862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mmol/L</a:t>
            </a:r>
            <a:endParaRPr lang="en-US" sz="850" dirty="0"/>
          </a:p>
        </p:txBody>
      </p:sp>
      <p:sp>
        <p:nvSpPr>
          <p:cNvPr id="199" name="Text 197"/>
          <p:cNvSpPr/>
          <p:nvPr/>
        </p:nvSpPr>
        <p:spPr>
          <a:xfrm>
            <a:off x="5074920" y="38862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3218688" y="4169664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877056" y="4169664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535424" y="4169664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047488" y="4169664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218688" y="4169664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282696" y="4233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</a:t>
            </a:r>
            <a:endParaRPr lang="en-US" sz="900" dirty="0"/>
          </a:p>
        </p:txBody>
      </p:sp>
      <p:sp>
        <p:nvSpPr>
          <p:cNvPr id="206" name="Text 204"/>
          <p:cNvSpPr/>
          <p:nvPr/>
        </p:nvSpPr>
        <p:spPr>
          <a:xfrm>
            <a:off x="3904488" y="42336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2777-1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4562856" y="4233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08" name="Text 206"/>
          <p:cNvSpPr/>
          <p:nvPr/>
        </p:nvSpPr>
        <p:spPr>
          <a:xfrm>
            <a:off x="5074920" y="4233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6181344" y="749808"/>
            <a:ext cx="6217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6208776" y="758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Abbr.</a:t>
            </a:r>
            <a:endParaRPr lang="en-US" sz="950" dirty="0"/>
          </a:p>
        </p:txBody>
      </p:sp>
      <p:sp>
        <p:nvSpPr>
          <p:cNvPr id="211" name="Shape 209"/>
          <p:cNvSpPr/>
          <p:nvPr/>
        </p:nvSpPr>
        <p:spPr>
          <a:xfrm>
            <a:off x="6839712" y="749808"/>
            <a:ext cx="6217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867144" y="758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</a:t>
            </a:r>
            <a:endParaRPr lang="en-US" sz="950" dirty="0"/>
          </a:p>
        </p:txBody>
      </p:sp>
      <p:sp>
        <p:nvSpPr>
          <p:cNvPr id="213" name="Shape 211"/>
          <p:cNvSpPr/>
          <p:nvPr/>
        </p:nvSpPr>
        <p:spPr>
          <a:xfrm>
            <a:off x="7498080" y="749808"/>
            <a:ext cx="47548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525512" y="758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215" name="Shape 213"/>
          <p:cNvSpPr/>
          <p:nvPr/>
        </p:nvSpPr>
        <p:spPr>
          <a:xfrm>
            <a:off x="8010144" y="749808"/>
            <a:ext cx="10789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8037576" y="7589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</a:t>
            </a:r>
            <a:endParaRPr lang="en-US" sz="950" dirty="0"/>
          </a:p>
        </p:txBody>
      </p:sp>
      <p:sp>
        <p:nvSpPr>
          <p:cNvPr id="217" name="Shape 215"/>
          <p:cNvSpPr/>
          <p:nvPr/>
        </p:nvSpPr>
        <p:spPr>
          <a:xfrm>
            <a:off x="6181344" y="104241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839712" y="1042416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498080" y="1042416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010144" y="1042416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181344" y="1042416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245352" y="11064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</a:t>
            </a:r>
            <a:endParaRPr lang="en-US" sz="900" dirty="0"/>
          </a:p>
        </p:txBody>
      </p:sp>
      <p:sp>
        <p:nvSpPr>
          <p:cNvPr id="223" name="Text 221"/>
          <p:cNvSpPr/>
          <p:nvPr/>
        </p:nvSpPr>
        <p:spPr>
          <a:xfrm>
            <a:off x="6867144" y="1106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2028-9</a:t>
            </a:r>
            <a:endParaRPr lang="en-US" sz="850" dirty="0"/>
          </a:p>
        </p:txBody>
      </p:sp>
      <p:sp>
        <p:nvSpPr>
          <p:cNvPr id="224" name="Text 222"/>
          <p:cNvSpPr/>
          <p:nvPr/>
        </p:nvSpPr>
        <p:spPr>
          <a:xfrm>
            <a:off x="7525512" y="11064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mmol/L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8037576" y="110642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Carbon Dioxide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6181344" y="1389888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839712" y="1389888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498080" y="1389888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010144" y="1389888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181344" y="1389888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245352" y="1453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</p:txBody>
      </p:sp>
      <p:sp>
        <p:nvSpPr>
          <p:cNvPr id="232" name="Text 230"/>
          <p:cNvSpPr/>
          <p:nvPr/>
        </p:nvSpPr>
        <p:spPr>
          <a:xfrm>
            <a:off x="6867144" y="1453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2885-2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7525512" y="145389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8037576" y="14538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Protein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6181344" y="1737360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839712" y="1737360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498080" y="1737360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010144" y="1737360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181344" y="1737360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6245352" y="1801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</a:t>
            </a:r>
            <a:endParaRPr lang="en-US" sz="900" dirty="0"/>
          </a:p>
        </p:txBody>
      </p:sp>
      <p:sp>
        <p:nvSpPr>
          <p:cNvPr id="241" name="Text 239"/>
          <p:cNvSpPr/>
          <p:nvPr/>
        </p:nvSpPr>
        <p:spPr>
          <a:xfrm>
            <a:off x="6867144" y="18013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3084-1</a:t>
            </a:r>
            <a:endParaRPr lang="en-US" sz="850" dirty="0"/>
          </a:p>
        </p:txBody>
      </p:sp>
      <p:sp>
        <p:nvSpPr>
          <p:cNvPr id="242" name="Text 240"/>
          <p:cNvSpPr/>
          <p:nvPr/>
        </p:nvSpPr>
        <p:spPr>
          <a:xfrm>
            <a:off x="7525512" y="180136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43" name="Text 241"/>
          <p:cNvSpPr/>
          <p:nvPr/>
        </p:nvSpPr>
        <p:spPr>
          <a:xfrm>
            <a:off x="8037576" y="18013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Uric Acid</a:t>
            </a:r>
            <a:endParaRPr lang="en-US" sz="850" dirty="0"/>
          </a:p>
        </p:txBody>
      </p:sp>
      <p:sp>
        <p:nvSpPr>
          <p:cNvPr id="244" name="Shape 242"/>
          <p:cNvSpPr/>
          <p:nvPr/>
        </p:nvSpPr>
        <p:spPr>
          <a:xfrm>
            <a:off x="6181344" y="2084832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839712" y="2084832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498080" y="2084832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010144" y="2084832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181344" y="2084832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245352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</a:t>
            </a:r>
            <a:endParaRPr lang="en-US" sz="900" dirty="0"/>
          </a:p>
        </p:txBody>
      </p:sp>
      <p:sp>
        <p:nvSpPr>
          <p:cNvPr id="250" name="Text 248"/>
          <p:cNvSpPr/>
          <p:nvPr/>
        </p:nvSpPr>
        <p:spPr>
          <a:xfrm>
            <a:off x="6867144" y="2148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2093-3</a:t>
            </a:r>
            <a:endParaRPr lang="en-US" sz="850" dirty="0"/>
          </a:p>
        </p:txBody>
      </p:sp>
      <p:sp>
        <p:nvSpPr>
          <p:cNvPr id="251" name="Text 249"/>
          <p:cNvSpPr/>
          <p:nvPr/>
        </p:nvSpPr>
        <p:spPr>
          <a:xfrm>
            <a:off x="7525512" y="21488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52" name="Text 250"/>
          <p:cNvSpPr/>
          <p:nvPr/>
        </p:nvSpPr>
        <p:spPr>
          <a:xfrm>
            <a:off x="8037576" y="21488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Cholesterol</a:t>
            </a:r>
            <a:endParaRPr lang="en-US" sz="850" dirty="0"/>
          </a:p>
        </p:txBody>
      </p:sp>
      <p:sp>
        <p:nvSpPr>
          <p:cNvPr id="253" name="Shape 251"/>
          <p:cNvSpPr/>
          <p:nvPr/>
        </p:nvSpPr>
        <p:spPr>
          <a:xfrm>
            <a:off x="6181344" y="2432304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839712" y="2432304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498080" y="2432304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010144" y="2432304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181344" y="2432304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6245352" y="2496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</a:t>
            </a:r>
            <a:endParaRPr lang="en-US" sz="900" dirty="0"/>
          </a:p>
        </p:txBody>
      </p:sp>
      <p:sp>
        <p:nvSpPr>
          <p:cNvPr id="259" name="Text 257"/>
          <p:cNvSpPr/>
          <p:nvPr/>
        </p:nvSpPr>
        <p:spPr>
          <a:xfrm>
            <a:off x="6867144" y="24963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2085-9</a:t>
            </a:r>
            <a:endParaRPr lang="en-US" sz="850" dirty="0"/>
          </a:p>
        </p:txBody>
      </p:sp>
      <p:sp>
        <p:nvSpPr>
          <p:cNvPr id="260" name="Text 258"/>
          <p:cNvSpPr/>
          <p:nvPr/>
        </p:nvSpPr>
        <p:spPr>
          <a:xfrm>
            <a:off x="7525512" y="24963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61" name="Text 259"/>
          <p:cNvSpPr/>
          <p:nvPr/>
        </p:nvSpPr>
        <p:spPr>
          <a:xfrm>
            <a:off x="8037576" y="249631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Cholesterol</a:t>
            </a:r>
            <a:endParaRPr lang="en-US" sz="850" dirty="0"/>
          </a:p>
        </p:txBody>
      </p:sp>
      <p:sp>
        <p:nvSpPr>
          <p:cNvPr id="262" name="Shape 260"/>
          <p:cNvSpPr/>
          <p:nvPr/>
        </p:nvSpPr>
        <p:spPr>
          <a:xfrm>
            <a:off x="6181344" y="2779776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6839712" y="2779776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498080" y="2779776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010144" y="2779776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181344" y="2779776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245352" y="28437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LDL*</a:t>
            </a:r>
            <a:endParaRPr lang="en-US" sz="900" dirty="0"/>
          </a:p>
        </p:txBody>
      </p:sp>
      <p:sp>
        <p:nvSpPr>
          <p:cNvPr id="268" name="Text 266"/>
          <p:cNvSpPr/>
          <p:nvPr/>
        </p:nvSpPr>
        <p:spPr>
          <a:xfrm>
            <a:off x="6867144" y="28437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13457-7</a:t>
            </a:r>
            <a:endParaRPr lang="en-US" sz="850" dirty="0"/>
          </a:p>
        </p:txBody>
      </p:sp>
      <p:sp>
        <p:nvSpPr>
          <p:cNvPr id="269" name="Text 267"/>
          <p:cNvSpPr/>
          <p:nvPr/>
        </p:nvSpPr>
        <p:spPr>
          <a:xfrm>
            <a:off x="7525512" y="28437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70" name="Text 268"/>
          <p:cNvSpPr/>
          <p:nvPr/>
        </p:nvSpPr>
        <p:spPr>
          <a:xfrm>
            <a:off x="8037576" y="28437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LDL Cholesterol (calc.)</a:t>
            </a:r>
            <a:endParaRPr lang="en-US" sz="850" dirty="0"/>
          </a:p>
        </p:txBody>
      </p:sp>
      <p:sp>
        <p:nvSpPr>
          <p:cNvPr id="271" name="Shape 269"/>
          <p:cNvSpPr/>
          <p:nvPr/>
        </p:nvSpPr>
        <p:spPr>
          <a:xfrm>
            <a:off x="6181344" y="3127248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6839712" y="3127248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498080" y="3127248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010144" y="3127248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181344" y="3127248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6245352" y="31912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nHDL*</a:t>
            </a:r>
            <a:endParaRPr lang="en-US" sz="900" dirty="0"/>
          </a:p>
        </p:txBody>
      </p:sp>
      <p:sp>
        <p:nvSpPr>
          <p:cNvPr id="277" name="Text 275"/>
          <p:cNvSpPr/>
          <p:nvPr/>
        </p:nvSpPr>
        <p:spPr>
          <a:xfrm>
            <a:off x="6867144" y="3191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70204-3</a:t>
            </a:r>
            <a:endParaRPr lang="en-US" sz="850" dirty="0"/>
          </a:p>
        </p:txBody>
      </p:sp>
      <p:sp>
        <p:nvSpPr>
          <p:cNvPr id="278" name="Text 276"/>
          <p:cNvSpPr/>
          <p:nvPr/>
        </p:nvSpPr>
        <p:spPr>
          <a:xfrm>
            <a:off x="7525512" y="31912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79" name="Text 277"/>
          <p:cNvSpPr/>
          <p:nvPr/>
        </p:nvSpPr>
        <p:spPr>
          <a:xfrm>
            <a:off x="8037576" y="3191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Non-HDL Cholesterol (calc.)</a:t>
            </a:r>
            <a:endParaRPr lang="en-US" sz="850" dirty="0"/>
          </a:p>
        </p:txBody>
      </p:sp>
      <p:sp>
        <p:nvSpPr>
          <p:cNvPr id="280" name="Shape 278"/>
          <p:cNvSpPr/>
          <p:nvPr/>
        </p:nvSpPr>
        <p:spPr>
          <a:xfrm>
            <a:off x="6181344" y="3474720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6839712" y="3474720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7498080" y="3474720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010144" y="3474720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6181344" y="3474720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6245352" y="3538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</a:t>
            </a:r>
            <a:endParaRPr lang="en-US" sz="900" dirty="0"/>
          </a:p>
        </p:txBody>
      </p:sp>
      <p:sp>
        <p:nvSpPr>
          <p:cNvPr id="286" name="Text 284"/>
          <p:cNvSpPr/>
          <p:nvPr/>
        </p:nvSpPr>
        <p:spPr>
          <a:xfrm>
            <a:off x="6867144" y="35387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2571-8</a:t>
            </a:r>
            <a:endParaRPr lang="en-US" sz="850" dirty="0"/>
          </a:p>
        </p:txBody>
      </p:sp>
      <p:sp>
        <p:nvSpPr>
          <p:cNvPr id="287" name="Text 285"/>
          <p:cNvSpPr/>
          <p:nvPr/>
        </p:nvSpPr>
        <p:spPr>
          <a:xfrm>
            <a:off x="7525512" y="35387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88" name="Text 286"/>
          <p:cNvSpPr/>
          <p:nvPr/>
        </p:nvSpPr>
        <p:spPr>
          <a:xfrm>
            <a:off x="8037576" y="35387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Triglycerides</a:t>
            </a:r>
            <a:endParaRPr lang="en-US" sz="850" dirty="0"/>
          </a:p>
        </p:txBody>
      </p:sp>
      <p:sp>
        <p:nvSpPr>
          <p:cNvPr id="289" name="Shape 287"/>
          <p:cNvSpPr/>
          <p:nvPr/>
        </p:nvSpPr>
        <p:spPr>
          <a:xfrm>
            <a:off x="6181344" y="3822192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6839712" y="3822192"/>
            <a:ext cx="6217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498080" y="3822192"/>
            <a:ext cx="475488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010144" y="3822192"/>
            <a:ext cx="1078992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181344" y="3822192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6245352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VLDL*</a:t>
            </a:r>
            <a:endParaRPr lang="en-US" sz="900" dirty="0"/>
          </a:p>
        </p:txBody>
      </p:sp>
      <p:sp>
        <p:nvSpPr>
          <p:cNvPr id="295" name="Text 293"/>
          <p:cNvSpPr/>
          <p:nvPr/>
        </p:nvSpPr>
        <p:spPr>
          <a:xfrm>
            <a:off x="6867144" y="38862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13458-5</a:t>
            </a:r>
            <a:endParaRPr lang="en-US" sz="850" dirty="0"/>
          </a:p>
        </p:txBody>
      </p:sp>
      <p:sp>
        <p:nvSpPr>
          <p:cNvPr id="296" name="Text 294"/>
          <p:cNvSpPr/>
          <p:nvPr/>
        </p:nvSpPr>
        <p:spPr>
          <a:xfrm>
            <a:off x="7525512" y="38862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850" dirty="0"/>
          </a:p>
        </p:txBody>
      </p:sp>
      <p:sp>
        <p:nvSpPr>
          <p:cNvPr id="297" name="Text 295"/>
          <p:cNvSpPr/>
          <p:nvPr/>
        </p:nvSpPr>
        <p:spPr>
          <a:xfrm>
            <a:off x="8037576" y="38862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VLDL Cholesterol (calc.)</a:t>
            </a:r>
            <a:endParaRPr lang="en-US" sz="850" dirty="0"/>
          </a:p>
        </p:txBody>
      </p:sp>
      <p:sp>
        <p:nvSpPr>
          <p:cNvPr id="298" name="Shape 296"/>
          <p:cNvSpPr/>
          <p:nvPr/>
        </p:nvSpPr>
        <p:spPr>
          <a:xfrm>
            <a:off x="6181344" y="4169664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6839712" y="4169664"/>
            <a:ext cx="6217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498080" y="4169664"/>
            <a:ext cx="47548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010144" y="4169664"/>
            <a:ext cx="107899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6181344" y="4169664"/>
            <a:ext cx="45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6245352" y="4233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CHOL/HDL*</a:t>
            </a:r>
            <a:endParaRPr lang="en-US" sz="900" dirty="0"/>
          </a:p>
        </p:txBody>
      </p:sp>
      <p:sp>
        <p:nvSpPr>
          <p:cNvPr id="304" name="Text 302"/>
          <p:cNvSpPr/>
          <p:nvPr/>
        </p:nvSpPr>
        <p:spPr>
          <a:xfrm>
            <a:off x="6867144" y="42336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9830-1</a:t>
            </a:r>
            <a:endParaRPr lang="en-US" sz="850" dirty="0"/>
          </a:p>
        </p:txBody>
      </p:sp>
      <p:sp>
        <p:nvSpPr>
          <p:cNvPr id="305" name="Text 303"/>
          <p:cNvSpPr/>
          <p:nvPr/>
        </p:nvSpPr>
        <p:spPr>
          <a:xfrm>
            <a:off x="7525512" y="4233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850" dirty="0"/>
          </a:p>
        </p:txBody>
      </p:sp>
      <p:sp>
        <p:nvSpPr>
          <p:cNvPr id="306" name="Text 304"/>
          <p:cNvSpPr/>
          <p:nvPr/>
        </p:nvSpPr>
        <p:spPr>
          <a:xfrm>
            <a:off x="8037576" y="4233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Cholesterol/HDL Ratio (calc.)</a:t>
            </a:r>
            <a:endParaRPr lang="en-US" sz="850" dirty="0"/>
          </a:p>
        </p:txBody>
      </p:sp>
      <p:sp>
        <p:nvSpPr>
          <p:cNvPr id="307" name="Shape 30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  ·  31 Chemistry Analytes  ·  All with established LOINC codes  ·  * = Calculated result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&amp; FHIR SUPPORT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Support: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2743200" cy="2743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1060704"/>
            <a:ext cx="28803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97880" y="1060704"/>
            <a:ext cx="2944368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7899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1078992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ABX Micros 60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71032" y="107899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335024"/>
            <a:ext cx="274320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335024"/>
            <a:ext cx="288036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1335024"/>
            <a:ext cx="2944368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41732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HL7 Output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90672" y="1417320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requires LiteDM middleware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71032" y="14173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native HL7 v2.x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737360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737360"/>
            <a:ext cx="2880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737360"/>
            <a:ext cx="294436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81965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Version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90672" y="1819656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v2.x via LiteDM bridge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71032" y="181965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v2.x (ASCII, ASTM, HL7, XML)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139696"/>
            <a:ext cx="274320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2139696"/>
            <a:ext cx="288036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2139696"/>
            <a:ext cx="2944368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2199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Direction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90672" y="2221992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via LiteDM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71032" y="222199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(USB + Ethernet)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542032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2542032"/>
            <a:ext cx="2880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542032"/>
            <a:ext cx="294436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6243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Interface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90672" y="2624328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serial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71032" y="262432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USB + 1× Ethernet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944368"/>
            <a:ext cx="274320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2944368"/>
            <a:ext cx="288036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944368"/>
            <a:ext cx="2944368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0266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Compatibility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90672" y="3026664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Athena, Flatiron, Epic, eClinicalWorks, CureMD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71032" y="302666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HL7-compatible EMR/LIS systems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346704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3346704"/>
            <a:ext cx="2880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3346704"/>
            <a:ext cx="294436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429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090672" y="3429000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LiteDM install + HL7 bridge config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71032" y="342900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with HL7-capable systems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425696"/>
            <a:ext cx="8595360" cy="292608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4425696"/>
            <a:ext cx="64008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44531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R4: Neither device supports it natively. Both require middleware (Mirth Connect / Relaymed) to transform HL7 v2.x → FHIR R4 DiagnosticReport + Observation resources.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 Standards Study  ·  ABX Micros 60 &amp; Piccolo Xpress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READINESS SCORES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41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v2.x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76272" y="89611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89611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89611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54096" y="89611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46704" y="89611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9326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8961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8961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7176" y="8961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8961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2392" y="8961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9326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932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has native HL7; Micros 60 needs LiteDM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76272" y="144475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144475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14447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54096" y="14447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6704" y="14447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14813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144475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44568" y="144475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37176" y="144475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9784" y="14447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22392" y="14447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14813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1481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native; Piccolo easier via XML output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2039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 Coding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76272" y="199339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199339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61488" y="199339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54096" y="199339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6704" y="199339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51960" y="199339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4568" y="199339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37176" y="199339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9784" y="199339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22392" y="199339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79008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20299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support LOINC via LIS; Piccolo XML is cleaner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432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Integration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76272" y="254203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68880" y="254203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61488" y="254203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54096" y="254203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46704" y="254203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03320" y="2578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51960" y="254203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44568" y="254203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37176" y="254203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29784" y="254203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22392" y="254203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79008" y="2578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63640" y="2578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multi-format + Ethernet is more flexible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7432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Richness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176272" y="309067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68880" y="309067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61488" y="309067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54096" y="309067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46704" y="309067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03320" y="31272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251960" y="309067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44568" y="309067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37176" y="309067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29784" y="309067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22392" y="309067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79008" y="31272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63640" y="3127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31 analytes vs Micros 60's 18 CBC params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27432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Setup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176272" y="363931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68880" y="363931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61488" y="363931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54096" y="363931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46704" y="363931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03320" y="3675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251960" y="36393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44568" y="36393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37176" y="36393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129784" y="363931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22392" y="363931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79008" y="3675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263640" y="36758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plug-and-play; Micros 60 needs LiteDM config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274320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2176272" y="418795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468880" y="418795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61488" y="4187952"/>
            <a:ext cx="237744" cy="23774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54096" y="41879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46704" y="41879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03320" y="4224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251960" y="418795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544568" y="418795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837176" y="418795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29784" y="4187952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422392" y="4187952"/>
            <a:ext cx="237744" cy="237744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779008" y="4224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26364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more interoperable out of the box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148840" y="713232"/>
            <a:ext cx="1645920" cy="23774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167128" y="72237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ABX Micros 60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224528" y="713232"/>
            <a:ext cx="164592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42816" y="72237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 Standards Study  ·  ABX Micros 60 &amp; Piccolo Xpress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 — 17 Panel Configurations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651760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58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Name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99232" y="749808"/>
            <a:ext cx="685800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4952" y="75895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30752" y="749808"/>
            <a:ext cx="4663440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758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Included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58200" y="749808"/>
            <a:ext cx="411480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7589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9232" y="1042416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1042416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042416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42416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0698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Chemistry 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35808" y="10698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400-0006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67328" y="106984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ALT, AST, BUN, CRE, GGT, GLU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03920" y="1069848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275588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1275588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0752" y="1275588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1275588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275588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3030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Chemistry 13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35808" y="13030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67328" y="130302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ALP, ALT, AMY, AST, BUN, Ca, CRE, GGT, GLU, TBIL, TP, UA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1303020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508760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9232" y="1508760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30752" y="1508760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58200" y="1508760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1508760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536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Metabolic Panel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35808" y="1536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67328" y="153619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BUN, Ca, Cl⁻, CRE, GLU, K⁺, Na⁺, tCO₂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503920" y="1536192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1741932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99232" y="1741932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30752" y="1741932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1741932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1741932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7693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Metabolic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035808" y="17693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767328" y="176936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ALP, ALT, AST, BUN, Ca, Cl⁻, CRE, GLU, K⁺, Na⁺, TBIL, tCO₂, TP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503920" y="1769364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1975104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99232" y="1975104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30752" y="1975104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58200" y="1975104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1975104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002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 Panel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035808" y="2002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67328" y="2002536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Cl⁻, K⁺, Na⁺, tCO₂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503920" y="2002536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2208276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99232" y="2208276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30752" y="2208276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58200" y="2208276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2208276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22357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Panel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035808" y="22357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767328" y="223570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CHOL, CHOL/HDL*, HDL, nHDL*, LDL*, TRIG, VLDL*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503920" y="2235708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2441448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99232" y="2441448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30752" y="2441448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58200" y="2441448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2441448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24688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Panel Plus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3035808" y="24688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400-0030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767328" y="246888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ALT, AST, GLU + full lipid panel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503920" y="2468880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2674620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99232" y="2674620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30752" y="2674620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458200" y="2674620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4320" y="2674620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27020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Function Panel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035808" y="27020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767328" y="270205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ALP, ALT, AST, DBIL, TBIL, TP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503920" y="2702052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2907792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99232" y="2907792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30752" y="2907792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458200" y="2907792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74320" y="2907792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29352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Panel Plus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035808" y="29352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400-0003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767328" y="293522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ALP, ALT, AMY, AST, GGT, TBIL, TP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503920" y="2935224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3140964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99232" y="3140964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30752" y="3140964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3140964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4320" y="3140964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5760" y="31683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Function Panel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3035808" y="31683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767328" y="3168396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BUN, Ca, Cl⁻, CRE, GLU, K⁺, Na⁺, PHOS, tCO₂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503920" y="3168396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3374136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99232" y="3374136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30752" y="3374136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458200" y="3374136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74320" y="3374136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5760" y="3401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MetLyte 8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3035808" y="34015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400-0023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767328" y="340156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BUN, CK, Cl⁻, CRE, GLU, K⁺, Na⁺, tCO₂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503920" y="3401568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74320" y="3607308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999232" y="3607308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730752" y="3607308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458200" y="3607308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4320" y="3607308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65760" y="36347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MetLyte Plus CRP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3035808" y="36347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400-0034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3767328" y="363474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BUN, CK, Cl⁻, CRE, CRP, GLU, K⁺, Na⁺, tCO₂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8503920" y="3634740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74320" y="3840480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999232" y="3840480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730752" y="3840480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458200" y="3840480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74320" y="3840480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65760" y="38679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MetLac 12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3035808" y="38679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400-0037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3767328" y="386791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BUN, Ca, Cl⁻, CRE, GLU, K⁺, LAC, Mg, Na⁺, PHOS, tCO₂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8503920" y="3867912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74320" y="4073652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999232" y="4073652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730752" y="4073652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58200" y="4073652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74320" y="4073652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65760" y="41010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 Plus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3035808" y="41010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400-0031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3767328" y="410108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BUN, Ca, Cl⁻, CRE, GLU, K⁺, LDH, Mg, Na⁺, tCO₂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8503920" y="4101084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306824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999232" y="4306824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730752" y="4306824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458200" y="4306824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4320" y="4306824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65760" y="4334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BioChemistry Panel Plus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3035808" y="43342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400-0035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3767328" y="4334256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ALP, ALT, AMY, AST, BUN, Ca, CRE, CRP, GGT, GLU, TP, UA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8503920" y="4334256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4320" y="4539996"/>
            <a:ext cx="265176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999232" y="4539996"/>
            <a:ext cx="68580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730752" y="4539996"/>
            <a:ext cx="466344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458200" y="4539996"/>
            <a:ext cx="411480" cy="210312"/>
          </a:xfrm>
          <a:prstGeom prst="rect">
            <a:avLst/>
          </a:prstGeom>
          <a:solidFill>
            <a:srgbClr val="FFFFFF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4320" y="4539996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65760" y="45674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AmLyte 13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3035808" y="45674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400-0041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3767328" y="456742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ALB, ALT, AMY, AST, BUN, Ca, CK, CRE, CRP, GLU, K⁺, Na⁺, TBIL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8503920" y="4567428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74320" y="4773168"/>
            <a:ext cx="265176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999232" y="4773168"/>
            <a:ext cx="68580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730752" y="4773168"/>
            <a:ext cx="466344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458200" y="4773168"/>
            <a:ext cx="411480" cy="210312"/>
          </a:xfrm>
          <a:prstGeom prst="rect">
            <a:avLst/>
          </a:prstGeom>
          <a:solidFill>
            <a:srgbClr val="E3F2FD"/>
          </a:solidFill>
          <a:ln w="2540">
            <a:solidFill>
              <a:srgbClr val="CCDDF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74320" y="4773168"/>
            <a:ext cx="457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65760" y="48006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Check</a:t>
            </a:r>
            <a:endParaRPr lang="en-US" sz="950" dirty="0"/>
          </a:p>
        </p:txBody>
      </p:sp>
      <p:sp>
        <p:nvSpPr>
          <p:cNvPr id="162" name="Text 160"/>
          <p:cNvSpPr/>
          <p:nvPr/>
        </p:nvSpPr>
        <p:spPr>
          <a:xfrm>
            <a:off x="3035808" y="48006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400-0033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3767328" y="480060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BUN, CRE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8503920" y="4800600"/>
            <a:ext cx="146304" cy="14630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4320" y="4892040"/>
            <a:ext cx="128016" cy="128016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57200" y="4873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Waived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1645920" y="4892040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828800" y="4873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waived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3017520" y="4873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17 panels are CLIA waived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SMARTBAND V001 &amp; FHIR INTEGRATION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 Code Reference for Smartband V001: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2377440" cy="2743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789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Measurement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060704"/>
            <a:ext cx="2057400" cy="2743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10789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Source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060704"/>
            <a:ext cx="1005840" cy="2743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078992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060704"/>
            <a:ext cx="2898648" cy="2743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07608" y="107899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371600"/>
            <a:ext cx="237744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371600"/>
            <a:ext cx="205740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371600"/>
            <a:ext cx="100584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371600"/>
            <a:ext cx="2898648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371600"/>
            <a:ext cx="64008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4538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(MAX30102)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07208" y="1453896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these analyzers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6048" y="145389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8867-4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07608" y="145389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LOINC coding approach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773936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1773936"/>
            <a:ext cx="2057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773936"/>
            <a:ext cx="1005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773936"/>
            <a:ext cx="28986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773936"/>
            <a:ext cx="64008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185623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(MAX30102)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07208" y="18562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these analyzers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185623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2708-6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07608" y="185623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LOINC coding approach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176272"/>
            <a:ext cx="237744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176272"/>
            <a:ext cx="205740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2176272"/>
            <a:ext cx="100584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2176272"/>
            <a:ext cx="2898648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176272"/>
            <a:ext cx="64008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225856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(future sensor)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07208" y="225856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Xpress: GLU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22585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2345-7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07608" y="225856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LOINC reuse from Piccolo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578608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2578608"/>
            <a:ext cx="2057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2578608"/>
            <a:ext cx="1005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2578608"/>
            <a:ext cx="28986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578608"/>
            <a:ext cx="64008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266090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(inflammation)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807208" y="2660904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Xpress: CRP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56048" y="26609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1988-5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07608" y="2660904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LOINC reuse from Piccolo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2980944"/>
            <a:ext cx="237744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0" y="2980944"/>
            <a:ext cx="205740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2980944"/>
            <a:ext cx="1005840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2980944"/>
            <a:ext cx="2898648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2980944"/>
            <a:ext cx="64008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306324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(derived)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807208" y="306324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ABX Micros 60: HGB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56048" y="30632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718-7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07608" y="306324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wearable Hgb estimation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3383280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3383280"/>
            <a:ext cx="2057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92040" y="3383280"/>
            <a:ext cx="1005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43600" y="3383280"/>
            <a:ext cx="28986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3383280"/>
            <a:ext cx="64008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" y="34655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 (future)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807208" y="3465576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Xpress: Na⁺, K⁺, Cl⁻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956048" y="346557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007608" y="346557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future electrolyte sensor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74320" y="38770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for Smartband V001 FHIR Implementation: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74320" y="4206240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17880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analyzers use HL7 v2.x ORU^R01 messages — same type that would carry Smartband V001 data via a gateway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4361688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342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generates FHIR R4 natively — confirming middleware-based FHIR transformation is the industry standard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4517136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48970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 codes assigned by LIS/middleware layer, not by the device — consistent with Smartband V001's FHIR gateway approach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4672584"/>
            <a:ext cx="109728" cy="1097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46451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DiagnosticReport + Observation FHIR pattern (used by both) is the same pattern Smartband V001 FHIR server implements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 Standards Study  ·  ABX Micros 60 &amp; Piccolo Xpress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77640" cy="33101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3977640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ABX Micros 60  ★★★ (3/5)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1389888"/>
            <a:ext cx="146304" cy="14630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3716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RS-232 based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920240"/>
            <a:ext cx="146304" cy="14630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90195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requires LiteDM middleware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450592"/>
            <a:ext cx="146304" cy="14630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4323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CBC parameters — all LOINC coded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2980944"/>
            <a:ext cx="146304" cy="14630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962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via Mirth Connect middleware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511296"/>
            <a:ext cx="146304" cy="14630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4930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but requires extra config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3977640" cy="33101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14400"/>
            <a:ext cx="397764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326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Xpress  ★★★★ (4/5)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1389888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13716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USB + Ethernet connectivity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1920240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190195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HL7, ASTM, XML, ASCII output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2450592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24323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analytes / 17 panels — all LOINC coded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2980944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962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via Relaymed or middleware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3511296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34930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— more interoperable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343400"/>
            <a:ext cx="8412480" cy="384048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708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device natively supports FHIR R4 — confirming that middleware-based FHIR transformation (as in Smartband V001's Flask server) is the correct industry-standard approach.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 Standards Study  ·  Masrur Jamil Prochchhod  ·  HSHL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Equipment Standards &amp; Interoperability Study</dc:title>
  <dc:subject>PptxGenJS Presentation</dc:subject>
  <dc:creator>Masrur Jamil Prochchhod</dc:creator>
  <cp:lastModifiedBy>Masrur Jamil Prochchhod</cp:lastModifiedBy>
  <cp:revision>1</cp:revision>
  <dcterms:created xsi:type="dcterms:W3CDTF">2026-06-04T10:12:17Z</dcterms:created>
  <dcterms:modified xsi:type="dcterms:W3CDTF">2026-06-04T10:12:17Z</dcterms:modified>
</cp:coreProperties>
</file>