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548640"/>
            <a:ext cx="1828800" cy="1828800"/>
          </a:xfrm>
          <a:prstGeom prst="ellipse">
            <a:avLst/>
          </a:prstGeom>
          <a:solidFill>
            <a:srgbClr val="3D5AFE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5120640"/>
            <a:ext cx="1188720" cy="1188720"/>
          </a:xfrm>
          <a:prstGeom prst="ellipse">
            <a:avLst/>
          </a:prstGeom>
          <a:solidFill>
            <a:srgbClr val="3D5AFE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92024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SMARTBAND V001 — REV1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278892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Development: From an Unresolved Hardware Fault</a:t>
            </a:r>
            <a:endParaRPr lang="en-US" sz="2000" dirty="0"/>
          </a:p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 Working, BLE-Enabled Multi-Sensor Node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56692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Masrur Jamil Prochchhod  ·  2210028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Hochschule Hamm-Lippstadt  ·  Supervisor: Prof. Giovanni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Smartband V001 — Rev1 Firmware Development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5A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645920" y="1371600"/>
            <a:ext cx="9601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Context &amp; the Original Problem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1865376"/>
            <a:ext cx="10698480" cy="0"/>
          </a:xfrm>
          <a:prstGeom prst="line">
            <a:avLst/>
          </a:prstGeom>
          <a:noFill/>
          <a:ln w="12700">
            <a:solidFill>
              <a:srgbClr val="E4E6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938528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5A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645920" y="1938528"/>
            <a:ext cx="9601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Development Environment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40080" y="2432304"/>
            <a:ext cx="10698480" cy="0"/>
          </a:xfrm>
          <a:prstGeom prst="line">
            <a:avLst/>
          </a:prstGeom>
          <a:noFill/>
          <a:ln w="12700">
            <a:solidFill>
              <a:srgbClr val="E4E6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505456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5A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645920" y="2505456"/>
            <a:ext cx="9601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— Why a Clean Rebuild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40080" y="2999232"/>
            <a:ext cx="10698480" cy="0"/>
          </a:xfrm>
          <a:prstGeom prst="line">
            <a:avLst/>
          </a:prstGeom>
          <a:noFill/>
          <a:ln w="12700">
            <a:solidFill>
              <a:srgbClr val="E4E6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072384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5A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645920" y="3072384"/>
            <a:ext cx="9601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Sensor Firmware, Stage by Stage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40080" y="3566160"/>
            <a:ext cx="10698480" cy="0"/>
          </a:xfrm>
          <a:prstGeom prst="line">
            <a:avLst/>
          </a:prstGeom>
          <a:noFill/>
          <a:ln w="12700">
            <a:solidFill>
              <a:srgbClr val="E4E6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639312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5A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645920" y="3639312"/>
            <a:ext cx="9601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Solving the Original BLE Fault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40080" y="4133088"/>
            <a:ext cx="10698480" cy="0"/>
          </a:xfrm>
          <a:prstGeom prst="line">
            <a:avLst/>
          </a:prstGeom>
          <a:noFill/>
          <a:ln w="12700">
            <a:solidFill>
              <a:srgbClr val="E4E6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206240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5A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645920" y="4206240"/>
            <a:ext cx="9601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Sensors + BLE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40080" y="4700016"/>
            <a:ext cx="10698480" cy="0"/>
          </a:xfrm>
          <a:prstGeom prst="line">
            <a:avLst/>
          </a:prstGeom>
          <a:noFill/>
          <a:ln w="12700">
            <a:solidFill>
              <a:srgbClr val="E4E6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4773168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5A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645920" y="4773168"/>
            <a:ext cx="9601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Conclusion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640080" y="5266944"/>
            <a:ext cx="10698480" cy="0"/>
          </a:xfrm>
          <a:prstGeom prst="line">
            <a:avLst/>
          </a:prstGeom>
          <a:noFill/>
          <a:ln w="12700">
            <a:solidFill>
              <a:srgbClr val="E4E6F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3D5A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822960" y="274320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Context &amp; the Original Problem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379476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Smartband V001 Rev1 is, and the fault this work set out to resolve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Smartband V001 — Rev1 Firmware Development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Rev1 Hardware at a Glance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Smartband V001 — Rev1 Firmware Development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10881360" cy="1005840"/>
          </a:xfrm>
          <a:prstGeom prst="roundRect">
            <a:avLst>
              <a:gd name="adj" fmla="val 5455"/>
            </a:avLst>
          </a:prstGeom>
          <a:solidFill>
            <a:srgbClr val="F5F6FB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371600"/>
            <a:ext cx="10149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 PCB built around the Texas Instruments CC2640R2F Bluetooth Low Energy SoC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2834640"/>
            <a:ext cx="3474720" cy="2743200"/>
          </a:xfrm>
          <a:prstGeom prst="roundRect">
            <a:avLst>
              <a:gd name="adj" fmla="val 2667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1089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LIS331DLTR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370332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3-axis MEMS Accelerometer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4892040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8920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I2C 0x18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389120" y="2834640"/>
            <a:ext cx="3474720" cy="2743200"/>
          </a:xfrm>
          <a:prstGeom prst="roundRect">
            <a:avLst>
              <a:gd name="adj" fmla="val 2667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0" y="31089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MAX30205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72000" y="370332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Digital Temperature Sensor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0" y="4892040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48920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I2C 0x48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138160" y="2834640"/>
            <a:ext cx="3474720" cy="2743200"/>
          </a:xfrm>
          <a:prstGeom prst="roundRect">
            <a:avLst>
              <a:gd name="adj" fmla="val 2667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8321040" y="31089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MAX30102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321040" y="370332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Pulse-Oximetry / IR Sensor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321040" y="4892040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/>
        </p:spPr>
      </p:sp>
      <p:sp>
        <p:nvSpPr>
          <p:cNvPr id="22" name="Text 20"/>
          <p:cNvSpPr/>
          <p:nvPr/>
        </p:nvSpPr>
        <p:spPr>
          <a:xfrm>
            <a:off x="8321040" y="48920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I2C 0x57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58064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a Raspberry Pi 5 acts as a companion processor, but is entirely out of scope for this document — everything here is embedded firmware on the CC2640R2F.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This Work Set Out to Solve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Smartband V001 — Rev1 Firmware Development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502920" cy="50292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17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13716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Long-Standing, Unresolved Fault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40080" y="2148840"/>
            <a:ext cx="10789920" cy="1371600"/>
          </a:xfrm>
          <a:prstGeom prst="roundRect">
            <a:avLst>
              <a:gd name="adj" fmla="val 4000"/>
            </a:avLst>
          </a:prstGeom>
          <a:solidFill>
            <a:srgbClr val="FBEAEA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14884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900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GAPRole_StartDevice() faults with a hardware exception, landing in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9900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ti_sysbios_family_arm_m3_Hwi_excHandler__I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3840480"/>
            <a:ext cx="107899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Previously investigated for roughly 20 hours, without resolution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Tentatively blamed on an RF or hardware defect in the custom PCB itself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firmware mixed BLE stack, three sensor drivers, and OLED code in one ~1,700-line file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serious conclusion for a custom board — needed to be confirmed properly, not patched around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3D5A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822960" y="274320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Development Environment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379476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used to build, flash, and debug every stage of this work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Smartband V001 — Rev1 Firmware Development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 Environment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Smartband V001 — Rev1 Firmware Development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4754880"/>
        </p:xfrm>
        <a:graphic>
          <a:graphicData uri="http://schemas.openxmlformats.org/drawingml/2006/table">
            <a:tbl>
              <a:tblPr/>
              <a:tblGrid>
                <a:gridCol w="5532120"/>
                <a:gridCol w="5532120"/>
              </a:tblGrid>
              <a:tr h="6792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92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Composer Studio 12.8.1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Editing, building, flashing, hardware debugging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92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 SimpleLink CC2640R2 SDK v5.30.1.11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 board files and BLE5-Stack example projects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92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LaunchPad + XDS110 debug probe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External JTAG programmer only — its own MCU never runs project code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92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CCS Hardware Debugger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Breakpoints, call-stack inspection, disassembly — the core diagnostic tool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92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Raspberry Pi 5 (UART, 115200 baud)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Serial terminal to observe live firmware output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92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nRF Connect (mobile)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Independent, external BLE advertising/connection verification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3D5A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822960" y="274320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379476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clean rebuild was chosen over patching the existing firmware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Smartband V001 — Rev1 Firmware Development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Deliberately Conservative Approach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Smartband V001 — Rev1 Firmware Development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10881360" cy="841248"/>
          </a:xfrm>
          <a:prstGeom prst="roundRect">
            <a:avLst>
              <a:gd name="adj" fmla="val 5435"/>
            </a:avLst>
          </a:prstGeom>
          <a:solidFill>
            <a:srgbClr val="F5F6FB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1536192"/>
            <a:ext cx="502920" cy="502920"/>
          </a:xfrm>
          <a:prstGeom prst="ellipse">
            <a:avLst/>
          </a:prstGeom>
          <a:solidFill>
            <a:srgbClr val="3D5AFE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5361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45920" y="1426464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Clean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37760" y="1426464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TI's own unmodified SDK example projects — not the tangled legacy file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377440"/>
            <a:ext cx="10881360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777240" y="2542032"/>
            <a:ext cx="502920" cy="502920"/>
          </a:xfrm>
          <a:prstGeom prst="ellipse">
            <a:avLst/>
          </a:prstGeom>
          <a:solidFill>
            <a:srgbClr val="3D5AFE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5420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645920" y="2432304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Capability at a Time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37760" y="2432304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RTOS → UART → I2C → each sensor → periodic loop, in strict order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383280"/>
            <a:ext cx="10881360" cy="841248"/>
          </a:xfrm>
          <a:prstGeom prst="roundRect">
            <a:avLst>
              <a:gd name="adj" fmla="val 5435"/>
            </a:avLst>
          </a:prstGeom>
          <a:solidFill>
            <a:srgbClr val="F5F6FB"/>
          </a:solidFill>
          <a:ln/>
        </p:spPr>
      </p:sp>
      <p:sp>
        <p:nvSpPr>
          <p:cNvPr id="17" name="Shape 15"/>
          <p:cNvSpPr/>
          <p:nvPr/>
        </p:nvSpPr>
        <p:spPr>
          <a:xfrm>
            <a:off x="777240" y="3547872"/>
            <a:ext cx="502920" cy="502920"/>
          </a:xfrm>
          <a:prstGeom prst="ellipse">
            <a:avLst/>
          </a:prstGeom>
          <a:solidFill>
            <a:srgbClr val="3D5AFE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5478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645920" y="3438144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 on Real Hardware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937760" y="3438144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and reflash after every single change, no assumptions carried forward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4389120"/>
            <a:ext cx="10881360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777240" y="4553712"/>
            <a:ext cx="502920" cy="502920"/>
          </a:xfrm>
          <a:prstGeom prst="ellipse">
            <a:avLst/>
          </a:prstGeom>
          <a:solidFill>
            <a:srgbClr val="3D5AFE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5537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645920" y="4443984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Debug, Don't Guess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937760" y="4443984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breakpoints, call-stack, and disassembly whenever something failed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48640" y="5394960"/>
            <a:ext cx="10881360" cy="841248"/>
          </a:xfrm>
          <a:prstGeom prst="roundRect">
            <a:avLst>
              <a:gd name="adj" fmla="val 5435"/>
            </a:avLst>
          </a:prstGeom>
          <a:solidFill>
            <a:srgbClr val="F5F6FB"/>
          </a:solidFill>
          <a:ln/>
        </p:spPr>
      </p:sp>
      <p:sp>
        <p:nvSpPr>
          <p:cNvPr id="27" name="Shape 25"/>
          <p:cNvSpPr/>
          <p:nvPr/>
        </p:nvSpPr>
        <p:spPr>
          <a:xfrm>
            <a:off x="777240" y="5559552"/>
            <a:ext cx="502920" cy="502920"/>
          </a:xfrm>
          <a:prstGeom prst="ellipse">
            <a:avLst/>
          </a:prstGeom>
          <a:solidFill>
            <a:srgbClr val="3D5AFE"/>
          </a:solidFill>
          <a:ln/>
        </p:spPr>
      </p:sp>
      <p:sp>
        <p:nvSpPr>
          <p:cNvPr id="28" name="Text 26"/>
          <p:cNvSpPr/>
          <p:nvPr/>
        </p:nvSpPr>
        <p:spPr>
          <a:xfrm>
            <a:off x="777240" y="55595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645920" y="5449824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Delay BLE Reintroduction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937760" y="5449824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bring BLE back once sensors were fully proven — to isolate the real cause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3D5A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822960" y="274320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the Sensor Firmware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379476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stages, each verified on real hardware before moving to the next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Smartband V001 — Rev1 Firmware Development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Stages, Tested on Hardware Every Time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Smartband V001 — Rev1 Firmware Development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737360" cy="3291840"/>
          </a:xfrm>
          <a:prstGeom prst="roundRect">
            <a:avLst>
              <a:gd name="adj" fmla="val 3158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92024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265176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RTOS Boot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474720"/>
            <a:ext cx="1554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TI-RTOS project, zero BLE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23160" y="1737360"/>
            <a:ext cx="1737360" cy="3291840"/>
          </a:xfrm>
          <a:prstGeom prst="roundRect">
            <a:avLst>
              <a:gd name="adj" fmla="val 3158"/>
            </a:avLst>
          </a:prstGeom>
          <a:solidFill>
            <a:srgbClr val="2C3B8C"/>
          </a:solidFill>
          <a:ln/>
        </p:spPr>
      </p:sp>
      <p:sp>
        <p:nvSpPr>
          <p:cNvPr id="11" name="Text 9"/>
          <p:cNvSpPr/>
          <p:nvPr/>
        </p:nvSpPr>
        <p:spPr>
          <a:xfrm>
            <a:off x="2423160" y="192024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514600" y="265176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UART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514600" y="3474720"/>
            <a:ext cx="1554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 message to the Pi every 3s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97680" y="1737360"/>
            <a:ext cx="1737360" cy="3291840"/>
          </a:xfrm>
          <a:prstGeom prst="roundRect">
            <a:avLst>
              <a:gd name="adj" fmla="val 3158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4297680" y="192024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389120" y="265176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I2C + Accel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389120" y="3474720"/>
            <a:ext cx="1554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LIS331DLTR WHO_AM_I read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72200" y="1737360"/>
            <a:ext cx="1737360" cy="3291840"/>
          </a:xfrm>
          <a:prstGeom prst="roundRect">
            <a:avLst>
              <a:gd name="adj" fmla="val 3158"/>
            </a:avLst>
          </a:prstGeom>
          <a:solidFill>
            <a:srgbClr val="2C3B8C"/>
          </a:solidFill>
          <a:ln/>
        </p:spPr>
      </p:sp>
      <p:sp>
        <p:nvSpPr>
          <p:cNvPr id="19" name="Text 17"/>
          <p:cNvSpPr/>
          <p:nvPr/>
        </p:nvSpPr>
        <p:spPr>
          <a:xfrm>
            <a:off x="6172200" y="192024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263640" y="265176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Temperature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63640" y="3474720"/>
            <a:ext cx="1554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MAX30205 raw register read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046720" y="1737360"/>
            <a:ext cx="1737360" cy="3291840"/>
          </a:xfrm>
          <a:prstGeom prst="roundRect">
            <a:avLst>
              <a:gd name="adj" fmla="val 3158"/>
            </a:avLst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8046720" y="192024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8138160" y="265176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PPG Sensor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138160" y="3474720"/>
            <a:ext cx="1554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MAX30102 Part ID read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921240" y="1737360"/>
            <a:ext cx="1737360" cy="3291840"/>
          </a:xfrm>
          <a:prstGeom prst="roundRect">
            <a:avLst>
              <a:gd name="adj" fmla="val 3158"/>
            </a:avLst>
          </a:prstGeom>
          <a:solidFill>
            <a:srgbClr val="2C3B8C"/>
          </a:solidFill>
          <a:ln/>
        </p:spPr>
      </p:sp>
      <p:sp>
        <p:nvSpPr>
          <p:cNvPr id="27" name="Text 25"/>
          <p:cNvSpPr/>
          <p:nvPr/>
        </p:nvSpPr>
        <p:spPr>
          <a:xfrm>
            <a:off x="9921240" y="192024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10012680" y="265176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Periodic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012680" y="3474720"/>
            <a:ext cx="1554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sensors, live, every 3s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" y="53035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rebuilt and reflashed before moving to the next — no assumptions carried forward.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1 — Confirming the RTOS Boots Cleanly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Smartband V001 — Rev1 Firmware Development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TI's built-in "empty" TI-RTOS example, imported unmodified — zero Bluetooth code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prove the chip and JTAG connection are healthy before adding anything else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542032"/>
            <a:ext cx="1463040" cy="329184"/>
          </a:xfrm>
          <a:prstGeom prst="roundRect">
            <a:avLst>
              <a:gd name="adj" fmla="val 11111"/>
            </a:avLst>
          </a:prstGeom>
          <a:solidFill>
            <a:srgbClr val="3D5AF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542032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926080"/>
            <a:ext cx="5120640" cy="2377440"/>
          </a:xfrm>
          <a:prstGeom prst="roundRect">
            <a:avLst>
              <a:gd name="adj" fmla="val 2308"/>
            </a:avLst>
          </a:prstGeom>
          <a:solidFill>
            <a:srgbClr val="E8EFF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108960"/>
            <a:ext cx="4572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0 errors. Debugger confirmed the processor sitting inside CPUwfi() via PRCMDeepSleep() — normal, healthy RTOS idle behaviour.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943600" y="2542032"/>
            <a:ext cx="1463040" cy="329184"/>
          </a:xfrm>
          <a:prstGeom prst="roundRect">
            <a:avLst>
              <a:gd name="adj" fmla="val 11111"/>
            </a:avLst>
          </a:prstGeom>
          <a:solidFill>
            <a:srgbClr val="2C3B8C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0" y="2542032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0" y="2926080"/>
            <a:ext cx="5486400" cy="2377440"/>
          </a:xfrm>
          <a:prstGeom prst="roundRect">
            <a:avLst>
              <a:gd name="adj" fmla="val 2308"/>
            </a:avLst>
          </a:prstGeom>
          <a:solidFill>
            <a:srgbClr val="F5F6FB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3108960"/>
            <a:ext cx="49377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was the first solid, positive proof that the CC2640R2F chip and the JTAG debug link on Rev1 were fundamentally healthy — independent of BLE entirely.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2 — Bug #1: Boot Hangs at PIN_init()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Smartband V001 — Rev1 Firmware Development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502920" cy="50292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234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123444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Symptom: execution never leaves PIN_init(BoardGpioInitTable) — confirmed via breakpoint &amp; call-stack.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267712"/>
            <a:ext cx="1463040" cy="329184"/>
          </a:xfrm>
          <a:prstGeom prst="roundRect">
            <a:avLst>
              <a:gd name="adj" fmla="val 11111"/>
            </a:avLst>
          </a:prstGeom>
          <a:solidFill>
            <a:srgbClr val="990011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267712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651760"/>
            <a:ext cx="5212080" cy="3200400"/>
          </a:xfrm>
          <a:prstGeom prst="roundRect">
            <a:avLst>
              <a:gd name="adj" fmla="val 1714"/>
            </a:avLst>
          </a:prstGeom>
          <a:solidFill>
            <a:srgbClr val="FBEAEA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834640"/>
            <a:ext cx="466344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BoardGpioInitTable configures LEDs, buttons, and an external SPI flash chip select — hardware that exists only on the stock LaunchPad, not on Rev1's custom PCB.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035040" y="2267712"/>
            <a:ext cx="1463040" cy="329184"/>
          </a:xfrm>
          <a:prstGeom prst="roundRect">
            <a:avLst>
              <a:gd name="adj" fmla="val 11111"/>
            </a:avLst>
          </a:prstGeom>
          <a:solidFill>
            <a:srgbClr val="3D5AFE"/>
          </a:solidFill>
          <a:ln/>
        </p:spPr>
      </p:sp>
      <p:sp>
        <p:nvSpPr>
          <p:cNvPr id="14" name="Text 12"/>
          <p:cNvSpPr/>
          <p:nvPr/>
        </p:nvSpPr>
        <p:spPr>
          <a:xfrm>
            <a:off x="6035040" y="2267712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2651760"/>
            <a:ext cx="5577840" cy="3200400"/>
          </a:xfrm>
          <a:prstGeom prst="roundRect">
            <a:avLst>
              <a:gd name="adj" fmla="val 1714"/>
            </a:avLst>
          </a:prstGeom>
          <a:solidFill>
            <a:srgbClr val="1B1F2E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2816352"/>
            <a:ext cx="5120640" cy="2871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D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PIN_Config BoardGpioInitTable[] = {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D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/* Rev1: only UART + I2C kept */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D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UART_RX | PIN_INPUT_EN | ...,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D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UART_TX | PIN_GPIO_OUTPUT_EN | ...,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D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PIN_TERMINATE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D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2 — Bug #2: Hang Inside Board_initHook()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Smartband V001 — Rev1 Firmware Development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502920" cy="50292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234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123444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Symptom: after fixing bug #1, a new hang appears inside PIN_close(), spinning forever.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267712"/>
            <a:ext cx="1463040" cy="329184"/>
          </a:xfrm>
          <a:prstGeom prst="roundRect">
            <a:avLst>
              <a:gd name="adj" fmla="val 11111"/>
            </a:avLst>
          </a:prstGeom>
          <a:solidFill>
            <a:srgbClr val="990011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267712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651760"/>
            <a:ext cx="5212080" cy="3200400"/>
          </a:xfrm>
          <a:prstGeom prst="roundRect">
            <a:avLst>
              <a:gd name="adj" fmla="val 1714"/>
            </a:avLst>
          </a:prstGeom>
          <a:solidFill>
            <a:srgbClr val="FBEAEA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834640"/>
            <a:ext cx="466344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Board_initHook() tries to wake up, then shut down, an external SPI flash chip Rev1 does not have. The handshake never completes; PIN_close() spins forever.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035040" y="2267712"/>
            <a:ext cx="1463040" cy="329184"/>
          </a:xfrm>
          <a:prstGeom prst="roundRect">
            <a:avLst>
              <a:gd name="adj" fmla="val 11111"/>
            </a:avLst>
          </a:prstGeom>
          <a:solidFill>
            <a:srgbClr val="3D5AFE"/>
          </a:solidFill>
          <a:ln/>
        </p:spPr>
      </p:sp>
      <p:sp>
        <p:nvSpPr>
          <p:cNvPr id="14" name="Text 12"/>
          <p:cNvSpPr/>
          <p:nvPr/>
        </p:nvSpPr>
        <p:spPr>
          <a:xfrm>
            <a:off x="6035040" y="2267712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2651760"/>
            <a:ext cx="5577840" cy="3200400"/>
          </a:xfrm>
          <a:prstGeom prst="roundRect">
            <a:avLst>
              <a:gd name="adj" fmla="val 1714"/>
            </a:avLst>
          </a:prstGeom>
          <a:solidFill>
            <a:srgbClr val="1B1F2E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2816352"/>
            <a:ext cx="5120640" cy="2871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D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Board_initHook()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D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D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/* Intentionally empty --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D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* no ext flash on Rev1 */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D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D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Result: UART counter received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D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on the Pi every 3s. ✓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3 — I2C Bus &amp; the LIS331DLTR Accelerometer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Smartband V001 — Rev1 Firmware Development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class of bug reappears: SDK's default I2C pins match the stock LaunchPad, not Rev1's real schematic.</a:t>
            </a:r>
            <a:endParaRPr lang="en-US" sz="15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103120"/>
          <a:ext cx="7315200" cy="1463040"/>
        </p:xfrm>
        <a:graphic>
          <a:graphicData uri="http://schemas.openxmlformats.org/drawingml/2006/table">
            <a:tbl>
              <a:tblPr/>
              <a:tblGrid>
                <a:gridCol w="2438400"/>
                <a:gridCol w="2438400"/>
                <a:gridCol w="2438400"/>
              </a:tblGrid>
              <a:tr h="487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SDK Default (LaunchPad)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Rev1 Actual Schematic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IOID_4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IOID_5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IOID_5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IOID_6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822960" y="3794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in both BoardGpioInitTable and I2CCC26XX_HWAttrsV1.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22960" y="4434840"/>
            <a:ext cx="7315200" cy="1371600"/>
          </a:xfrm>
          <a:prstGeom prst="roundRect">
            <a:avLst>
              <a:gd name="adj" fmla="val 4000"/>
            </a:avLst>
          </a:prstGeom>
          <a:solidFill>
            <a:srgbClr val="E8EFFB"/>
          </a:solidFill>
          <a:ln/>
        </p:spPr>
      </p:sp>
      <p:sp>
        <p:nvSpPr>
          <p:cNvPr id="10" name="Text 7"/>
          <p:cNvSpPr/>
          <p:nvPr/>
        </p:nvSpPr>
        <p:spPr>
          <a:xfrm>
            <a:off x="1097280" y="4434840"/>
            <a:ext cx="6766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Result: WHO_AM_I = 0x32, consistently — matches the LIS331DLH/DLTR datasheet exactly.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8595360" y="2103120"/>
            <a:ext cx="2926080" cy="2926080"/>
          </a:xfrm>
          <a:prstGeom prst="ellipse">
            <a:avLst/>
          </a:prstGeom>
          <a:solidFill>
            <a:srgbClr val="F5F6FB"/>
          </a:solidFill>
          <a:ln/>
        </p:spPr>
      </p:sp>
      <p:sp>
        <p:nvSpPr>
          <p:cNvPr id="12" name="Text 9"/>
          <p:cNvSpPr/>
          <p:nvPr/>
        </p:nvSpPr>
        <p:spPr>
          <a:xfrm>
            <a:off x="8595360" y="2103120"/>
            <a:ext cx="29260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3D5A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7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4-5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4 &amp; 5 — Temperature and PPG Sensors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Smartband V001 — Rev1 Firmware Development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212080" cy="4754880"/>
          </a:xfrm>
          <a:prstGeom prst="roundRect">
            <a:avLst>
              <a:gd name="adj" fmla="val 1538"/>
            </a:avLst>
          </a:prstGeom>
          <a:solidFill>
            <a:srgbClr val="F5F6FB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69164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MAX30205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21488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2651760"/>
            <a:ext cx="4663440" cy="731520"/>
          </a:xfrm>
          <a:prstGeom prst="roundRect">
            <a:avLst>
              <a:gd name="adj" fmla="val 7500"/>
            </a:avLst>
          </a:prstGeom>
          <a:solidFill>
            <a:srgbClr val="1B1F2E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2816352"/>
            <a:ext cx="420624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D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temp_c = temp_raw / 256.0f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365760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5A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~26.8 – 26.9 °C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22960" y="4480560"/>
            <a:ext cx="4663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Stable, physically plausible room temperature across repeated samples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17920" y="1463040"/>
            <a:ext cx="5212080" cy="4754880"/>
          </a:xfrm>
          <a:prstGeom prst="roundRect">
            <a:avLst>
              <a:gd name="adj" fmla="val 1538"/>
            </a:avLst>
          </a:prstGeom>
          <a:solidFill>
            <a:srgbClr val="F5F6FB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169164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MAX30102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92240" y="21488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PPG / IR Sensor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92240" y="2651760"/>
            <a:ext cx="4663440" cy="731520"/>
          </a:xfrm>
          <a:prstGeom prst="roundRect">
            <a:avLst>
              <a:gd name="adj" fmla="val 7500"/>
            </a:avLst>
          </a:prstGeom>
          <a:solidFill>
            <a:srgbClr val="1B1F2E"/>
          </a:solidFill>
          <a:ln/>
        </p:spPr>
      </p:sp>
      <p:sp>
        <p:nvSpPr>
          <p:cNvPr id="17" name="Text 15"/>
          <p:cNvSpPr/>
          <p:nvPr/>
        </p:nvSpPr>
        <p:spPr>
          <a:xfrm>
            <a:off x="6720840" y="2816352"/>
            <a:ext cx="420624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D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ID register (0xFF)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92240" y="365760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5A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0x15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492240" y="4480560"/>
            <a:ext cx="4663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the documented MAX3010x family ID exactly — distinguishes it from sibling parts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6 — Fixing a "Torn Read" on the Accelerometer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Smartband V001 — Rev1 Firmware Development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Symptom: board sitting perfectly still still produced wildly swinging acceleration values.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993392"/>
            <a:ext cx="1463040" cy="329184"/>
          </a:xfrm>
          <a:prstGeom prst="roundRect">
            <a:avLst>
              <a:gd name="adj" fmla="val 11111"/>
            </a:avLst>
          </a:prstGeom>
          <a:solidFill>
            <a:srgbClr val="990011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993392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— 2 transactions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377440"/>
            <a:ext cx="5349240" cy="3566160"/>
          </a:xfrm>
          <a:prstGeom prst="roundRect">
            <a:avLst>
              <a:gd name="adj" fmla="val 1538"/>
            </a:avLst>
          </a:prstGeom>
          <a:solidFill>
            <a:srgbClr val="1B1F2E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542032"/>
            <a:ext cx="4892040" cy="3236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D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uint8_t xl = get_i2c_value_lis331_xl();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D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/* transaction #1 */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D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uint8_t xh = get_i2c_value_lis331_xh();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D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/* transaction #2 */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D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int16_t raw = (xh&lt;&lt;8)|xl;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D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Sensor updates BETWEEN the two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D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reads -&gt; bytes from two DIFFERENT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D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samples get combined = garbage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63640" y="1993392"/>
            <a:ext cx="1463040" cy="329184"/>
          </a:xfrm>
          <a:prstGeom prst="roundRect">
            <a:avLst>
              <a:gd name="adj" fmla="val 11111"/>
            </a:avLst>
          </a:prstGeom>
          <a:solidFill>
            <a:srgbClr val="3D5AFE"/>
          </a:solidFill>
          <a:ln/>
        </p:spPr>
      </p:sp>
      <p:sp>
        <p:nvSpPr>
          <p:cNvPr id="12" name="Text 10"/>
          <p:cNvSpPr/>
          <p:nvPr/>
        </p:nvSpPr>
        <p:spPr>
          <a:xfrm>
            <a:off x="6263640" y="1993392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— 1 burst read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63640" y="2377440"/>
            <a:ext cx="5349240" cy="3566160"/>
          </a:xfrm>
          <a:prstGeom prst="roundRect">
            <a:avLst>
              <a:gd name="adj" fmla="val 1538"/>
            </a:avLst>
          </a:prstGeom>
          <a:solidFill>
            <a:srgbClr val="1B1F2E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2542032"/>
            <a:ext cx="4892040" cy="3236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D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tx_buf[0] = OUT_X_L | 0x80;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D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/* auto-increment bit set */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D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i2c_trans.readCount = 2;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D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/* reads both bytes atomically */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D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int16_t raw =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D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(rx_buf[1]&lt;&lt;8)|rx_buf[0];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D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Result: stable 10-18 mg at rest,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D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changes predictably when moved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6 — From Static IDs to Live, Changing Data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Smartband V001 — Rev1 Firmware Development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0972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get_i2c_value_max3010x_basicinit() added once at startup — sets LED current + mode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it: the MAX30102's LED never physically turns on; IR_RAW stays at 0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 task now reads all 3 sensors together, every 3 seconds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108960"/>
            <a:ext cx="11064240" cy="3108960"/>
          </a:xfrm>
          <a:prstGeom prst="roundRect">
            <a:avLst>
              <a:gd name="adj" fmla="val 1765"/>
            </a:avLst>
          </a:prstGeom>
          <a:solidFill>
            <a:srgbClr val="1B1F2E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3273552"/>
            <a:ext cx="10607040" cy="2779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7D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void SimplePeripheral_performPeriodicTask(void)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7D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7D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int16_t  accel_x  = get_i2c_value_lis331_accel_x();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7D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uint16_t temp_raw = get_i2c_value_max30205_rawtemp(0x48);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7D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uint32_t ir_raw   = get_i2c_value_max3010x_ir_raw();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7D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Display_print1(dispHandle, 13, 0, "LIS331DLTR ACCEL_X=%dmg", accel_x);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7D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Display_print2(dispHandle, 14, 0, "MAX30205 TEMP=%d.%02dC", ...);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7D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Display_print1(dispHandle, 15, 0, "MAX30102 IR_RAW=%lu", ir_raw);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7D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3D5A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822960" y="274320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Solving the Original BLE Fault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379476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Isolating BLE from everything else finally reveals the true root cause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Smartband V001 — Rev1 Firmware Development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 INVESTIGATION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Isolating BLE From Everything Else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Smartband V001 — Rev1 Firmware Development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107899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second clean project: TI's official ble5stack "simple_peripheral" example, unmodified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first boot: hit the EXACT SAME PIN_init() / Board_initHook() failures already solved in Stage 2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proves — these are generic board-file defects, not sensor-specific bugs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the identical fixes (GPIO table, Board_initHook, I2C pins) to this project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4297680"/>
            <a:ext cx="10789920" cy="1737360"/>
          </a:xfrm>
          <a:prstGeom prst="roundRect">
            <a:avLst>
              <a:gd name="adj" fmla="val 4211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448056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firmware advanced past every prior blocking point and began advertising over BLE — independently confirmed by connecting with nRF Connect on a phone.</a:t>
            </a:r>
            <a:endParaRPr lang="en-US" sz="1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 INVESTIGATION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Real Root Cause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Smartband V001 — Rev1 Firmware Development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5303520" cy="4480560"/>
          </a:xfrm>
          <a:prstGeom prst="roundRect">
            <a:avLst>
              <a:gd name="adj" fmla="val 1633"/>
            </a:avLst>
          </a:prstGeom>
          <a:solidFill>
            <a:srgbClr val="FBEAE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459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PREVIOUSLY BELIEVED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194560"/>
            <a:ext cx="45720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"RF or hardware defect on the custom board — the CC2640R2F radio itself is likely faulty."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217920" y="137160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E8EFF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0" y="164592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ACTUALLY CONFIRMED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83680" y="2194560"/>
            <a:ext cx="466344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radio hardware is fully functional. The fault was a board-file mismatch occurring earlier in boot than the reported crash location — the same class of bug fixed in the sensor firmware.</a:t>
            </a:r>
            <a:endParaRPr lang="en-US" sz="1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3D5A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822960" y="274320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Combining Sensors + BLE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379476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Merging two verified systems surfaced new, instructive problems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Smartband V001 — Rev1 Firmware Development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New Struggles During Integration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Smartband V001 — Rev1 Firmware Development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5212080" cy="1691640"/>
          </a:xfrm>
          <a:prstGeom prst="roundRect">
            <a:avLst>
              <a:gd name="adj" fmla="val 3243"/>
            </a:avLst>
          </a:prstGeom>
          <a:solidFill>
            <a:srgbClr val="F5F6F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087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Header Collision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1920240"/>
            <a:ext cx="4754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i2c_sensors.h's own Board.h collided with the BLE project's board.h on a case-insensitive filesystem — one silently skipped the other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17920" y="1371600"/>
            <a:ext cx="5212080" cy="1691640"/>
          </a:xfrm>
          <a:prstGeom prst="roundRect">
            <a:avLst>
              <a:gd name="adj" fmla="val 3243"/>
            </a:avLst>
          </a:prstGeom>
          <a:solidFill>
            <a:srgbClr val="F5F6FB"/>
          </a:solidFill>
          <a:ln/>
        </p:spPr>
      </p:sp>
      <p:sp>
        <p:nvSpPr>
          <p:cNvPr id="10" name="Text 8"/>
          <p:cNvSpPr/>
          <p:nvPr/>
        </p:nvSpPr>
        <p:spPr>
          <a:xfrm>
            <a:off x="6446520" y="15087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 Macro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46520" y="1920240"/>
            <a:ext cx="4754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SBP_DISPLAY_TYPE, normally a compiler predefine, stopped reaching this build config after heavy Clean/rebuild cycles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383280"/>
            <a:ext cx="5212080" cy="1691640"/>
          </a:xfrm>
          <a:prstGeom prst="roundRect">
            <a:avLst>
              <a:gd name="adj" fmla="val 3243"/>
            </a:avLst>
          </a:prstGeom>
          <a:solidFill>
            <a:srgbClr val="F5F6FB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5204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Malformed Comment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77240" y="3931920"/>
            <a:ext cx="4754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comment closed with "*" instead of "*/" silently absorbed several real lines of working code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217920" y="3383280"/>
            <a:ext cx="5212080" cy="1691640"/>
          </a:xfrm>
          <a:prstGeom prst="roundRect">
            <a:avLst>
              <a:gd name="adj" fmla="val 3243"/>
            </a:avLst>
          </a:prstGeom>
          <a:solidFill>
            <a:srgbClr val="F5F6FB"/>
          </a:solidFill>
          <a:ln/>
        </p:spPr>
      </p:sp>
      <p:sp>
        <p:nvSpPr>
          <p:cNvPr id="16" name="Text 14"/>
          <p:cNvSpPr/>
          <p:nvPr/>
        </p:nvSpPr>
        <p:spPr>
          <a:xfrm>
            <a:off x="6446520" y="35204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Competing UART Handles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46520" y="3931920"/>
            <a:ext cx="4754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raw UART_open() competed with the Display driver, which already owned the physical UART peripheral</a:t>
            </a:r>
            <a:endParaRPr lang="en-US" sz="13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 — Reuse the Proven Display Path, Not a New UART Handle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Smartband V001 — Rev1 Firmware Development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09728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 stack's own status messages ("Initialized", "Adv Set 1 Enabled") already reached the Pi correctly via Display_print*()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second, independently-opened raw UART handle for sensor data did NOT — it silently competed for the same physical peripheral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route sensor output through the exact same, already-working dispHandle instead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383280"/>
            <a:ext cx="11064240" cy="2743200"/>
          </a:xfrm>
          <a:prstGeom prst="roundRect">
            <a:avLst>
              <a:gd name="adj" fmla="val 2000"/>
            </a:avLst>
          </a:prstGeom>
          <a:solidFill>
            <a:srgbClr val="1B1F2E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3547872"/>
            <a:ext cx="10607040" cy="24140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7D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dispHandle = Display_open(SBP_DISPLAY_TYPE, NULL);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7D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(dispHandle != NULL) {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7D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I2C_init();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7D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uint8_t lis_whoami = get_i2c_value_lis331_whoami();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7D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Display_print1(dispHandle, 12, 0,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7D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"TEST: LIS331_WHOAMI=0x%02x", lis_whoami);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7D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7D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Result received on the Pi: TEST: LIS331_WHOAMI=0x32  ✓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Result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Smartband V001 — Rev1 Firmware Development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10881360" cy="1645920"/>
          </a:xfrm>
          <a:prstGeom prst="roundRect">
            <a:avLst>
              <a:gd name="adj" fmla="val 4444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371600"/>
            <a:ext cx="10149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firmware. Three verified sensors. Live BLE connection.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80" y="3383280"/>
            <a:ext cx="107899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 loop reads LIS331DLTR, MAX30205, and MAX30102 every 3 seconds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printed as clear, labelled text: "ACCEL_X=…mg", "TEMP=…C", "IR_RAW=…"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independently of BLE connection state — starts unconditionally at boot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simultaneously advertises and accepts BLE connections (verified via nRF Connect)</a:t>
            </a:r>
            <a:endParaRPr lang="en-US" sz="17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3D5A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822960" y="274320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&amp; Conclusion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379476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root cause, every fix, and what this means going forward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Smartband V001 — Rev1 Firmware Development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 Summary of Root Causes &amp; Fixes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Smartband V001 — Rev1 Firmware Development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47120" cy="4846320"/>
        </p:xfrm>
        <a:graphic>
          <a:graphicData uri="http://schemas.openxmlformats.org/drawingml/2006/table">
            <a:tbl>
              <a:tblPr/>
              <a:tblGrid>
                <a:gridCol w="3749040"/>
                <a:gridCol w="3749040"/>
                <a:gridCol w="3749040"/>
              </a:tblGrid>
              <a:tr h="6923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Symptom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 Cause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PIN_init() hangs at boot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GPIO table configured non-existent LaunchPad hardware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Stripped to Rev1's real UART + I2C pins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PIN_close() hangs in Board_initHook()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Tried managing an ext. SPI flash chip Rev1 lacks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Board_initHook() emptied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I2C reads fail/garbage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 I2C pins matched LaunchPad, not Rev1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Corrected pins in GPIO table + I2C HWAttrs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Accel jitters at rest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Torn read across two I2C transactions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burst read w/ auto-increment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"BLE hardware fault" (original issue)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board-file mismatches, earlier in boot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fixes applied — BLE now works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Sensor data silent in merged project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Header collision, missing macro, bad comment, dual UART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Each isolated &amp; fixed individually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Smartband V001 — Rev1 Firmware Development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09728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20-hour, unresolved fault became a fully documented, fixed root cause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recurring theme: SDK board files assume LaunchPad hardware, not Rev1's real PCB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pattern-recognition is directly reusable for Rev2 and future hardware revisions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Systematic, hardware-verified, one-variable-at-a-time debugging outperformed patching a large tangled codebase</a:t>
            </a:r>
            <a:endParaRPr lang="en-US"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548640"/>
            <a:ext cx="1828800" cy="1828800"/>
          </a:xfrm>
          <a:prstGeom prst="ellipse">
            <a:avLst/>
          </a:prstGeom>
          <a:solidFill>
            <a:srgbClr val="3D5AFE">
              <a:alpha val="3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560320"/>
            <a:ext cx="10332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Systematic isolation testing turned an unresolved,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20-hour mystery into a documented, fixed root cause.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14400" y="475488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2026-07-06T11:43:41Z</dcterms:created>
  <dcterms:modified xsi:type="dcterms:W3CDTF">2026-07-06T11:43:41Z</dcterms:modified>
</cp:coreProperties>
</file>