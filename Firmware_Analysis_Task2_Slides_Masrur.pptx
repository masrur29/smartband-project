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740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365760"/>
            <a:ext cx="2377440" cy="2377440"/>
          </a:xfrm>
          <a:prstGeom prst="ellipse">
            <a:avLst/>
          </a:prstGeom>
          <a:solidFill>
            <a:srgbClr val="1A2F45"/>
          </a:solidFill>
          <a:ln w="254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73152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02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Wearable Device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86868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Architecture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Code Analysis Report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Band01_Rev1  ·  Project Work — Task 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715768"/>
            <a:ext cx="32004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9077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148840" y="2907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Masrur Jamil Prochchhod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32095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148840" y="32095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Hochschule Hamm-Lippstadt (HSHL)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35112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Matriculation: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148840" y="35112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2210028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38130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148840" y="3813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0040" y="4279392"/>
            <a:ext cx="1572768" cy="713232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20040" y="429768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20040" y="460857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039112" y="4279392"/>
            <a:ext cx="1572768" cy="713232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039112" y="429768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2039112" y="460857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Directories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758184" y="4279392"/>
            <a:ext cx="1572768" cy="713232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758184" y="429768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1,647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3758184" y="460857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(main)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477256" y="4279392"/>
            <a:ext cx="1572768" cy="713232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477256" y="429768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477256" y="460857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Sections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196328" y="4279392"/>
            <a:ext cx="1572768" cy="713232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196328" y="429768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7196328" y="460857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RTOS Tasks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46720" y="48920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34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20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Firmware?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" y="749808"/>
            <a:ext cx="786384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86968"/>
            <a:ext cx="8503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firmware is the software that runs directly on the CC2640R2F microcontroller — it is the "brain" of the smartband.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280160" y="148132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483" y="1552651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2048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phone app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02920" y="2340864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on bare metal inside the wristband chip itself, not on Android/iOS. There is no operating system like Windows — only a lightweight RTOS (SYS/BIOS).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383280" y="1481328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603" y="1552651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06040" y="2048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talks to hardware directly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2606040" y="2340864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I²C, it reads MAX30102 (heart rate), MAX30205 (temperature) and LIS331 (motion). It controls every GPIO pin on the PCB.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486400" y="1481328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7723" y="1552651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09160" y="2048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transmits data wirelessly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709160" y="2340864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350 ms, sensor data is packaged into a 6-byte BLE GATT notification and sent to a smartphone or hospital gateway via BLE 5.1.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7589520" y="1481328"/>
            <a:ext cx="475488" cy="47548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0843" y="1552651"/>
            <a:ext cx="332842" cy="33284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12280" y="2048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manages power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812280" y="2340864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controls the LP5907 regulator EN pins to power down sensors, and uses deep sleep between BLE events to achieve 73-hour battery life.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57200" y="3401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on: TI SimpleLink CC2640R2 SDK  ·  SYS/BIOS RTOS  ·  TI BLE Stack  ·  Code Composer Studio v10+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457200" y="44714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desktop software, embedded firmware has no loader — it boots directly from flash memory. Every line of code must fit within 128 KB total flash on this chip.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34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20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&amp; Repository Structure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" y="749808"/>
            <a:ext cx="786384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86968"/>
            <a:ext cx="4846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9144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Tools &amp; SDKs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594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32588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v10+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15568" y="1344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Eclipse-based TI IDE — compile, link, flash, debug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55648"/>
            <a:ext cx="594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80136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SimpleLink SDK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15568" y="1819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stack + hardware drivers for CC2640R2F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231136"/>
            <a:ext cx="594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27685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ARM Compiler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15568" y="22951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with CCS — targets ARM Cortex-M3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706624"/>
            <a:ext cx="594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75234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Stack (ROM)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15568" y="2770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Pre-compiled — stored in FlashROM_StackLibrary/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182112"/>
            <a:ext cx="594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22783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SYS/BIOS RTOS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15568" y="3246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OS — part of TI SDK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657600"/>
            <a:ext cx="594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70332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XDS110 Probe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15568" y="3721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JTAG debugger → connects to P1 header on PCB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349240" y="886968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486400" y="914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Folder Map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0" y="1280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Startup/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90372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Boot, CCFG, RTOS entry point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486400" y="16596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903720" y="16596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OLED, BLE app logic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486400" y="2039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PROFILES/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903720" y="2039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GATT service definitions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486400" y="24185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903720" y="24185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header files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486400" y="27980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FlashROM_Stack/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903720" y="27980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Pre-compiled BLE stack (do not edit)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486400" y="31775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903720" y="31775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SYS/BIOS config (app_ble.cfg)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486400" y="35570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targetConfigs/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903720" y="35570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debug target for CC2640R2F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486400" y="39364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BOM/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903720" y="39364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Aisler Bill of Materials PDF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457200" y="44714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is mandatory for compilation. Source files can be read in VS Code, but building, flashing and SDK path configuration must be done inside CCS.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34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20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Sequence — Startup/main.c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" y="749808"/>
            <a:ext cx="786384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86968"/>
            <a:ext cx="4297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914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Steps before BIOS_start()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34416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1280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RegisterAssertCback()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7240" y="1463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BLE error handler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170078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71907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" y="16550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PIN_init()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7240" y="18379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all GPIO pins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07568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09397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7240" y="2029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VIMSModeSet()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77240" y="22128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instruction cache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245059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468880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77240" y="2404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ICall_init()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77240" y="25877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inter-task messaging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282549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2843784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77240" y="27797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ICall_createRemoteTasks()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77240" y="29626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BLE stack (Priority 5)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7200" y="320040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21868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77240" y="31546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GAPRole_createTask()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77240" y="33375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GAP role (Priority 5)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57200" y="357530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359359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77240" y="35295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SimplePeripheral_createTask()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77240" y="37124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app task (Priority 2)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57200" y="395020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396849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77240" y="39044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BIOS_start()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77240" y="40873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control to RTOS — never returns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800600" y="886968"/>
            <a:ext cx="4023360" cy="21488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92040" y="960120"/>
            <a:ext cx="3840480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RegisterAssertCback(AssertHandler);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PIN_init(BoardGpioInitTable);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ICall_init();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ICall_createRemoteTasks(); // BLE Pri 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GAPRole_createTask();      // GAP Pri 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SimplePeripheral_createTask(); // App Pri 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//App_createTask();        // DISABLED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//OledThread_createTask(); // DISABLED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BIOS_start(); // never returns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800600" y="3090672"/>
            <a:ext cx="4023360" cy="749808"/>
          </a:xfrm>
          <a:prstGeom prst="rect">
            <a:avLst/>
          </a:prstGeom>
          <a:solidFill>
            <a:srgbClr val="FFF3E0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200400"/>
            <a:ext cx="256032" cy="256032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5230368" y="3145536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AppThread &amp; OledThread exist in the repo but are commented out in main.c — the code is ready, just not yet activated.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4800600" y="3904488"/>
            <a:ext cx="4023360" cy="347472"/>
          </a:xfrm>
          <a:prstGeom prst="rect">
            <a:avLst/>
          </a:prstGeom>
          <a:solidFill>
            <a:srgbClr val="F0FD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3"/>
          <p:cNvSpPr/>
          <p:nvPr/>
        </p:nvSpPr>
        <p:spPr>
          <a:xfrm>
            <a:off x="4919472" y="393192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ccfg_app_ble.c  — chip-level flash config (bootloader, power, radio trim). Compiled separately, never modified by user.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5"/>
          <p:cNvSpPr/>
          <p:nvPr/>
        </p:nvSpPr>
        <p:spPr>
          <a:xfrm>
            <a:off x="457200" y="44714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BIOS_start() is the point of no return — the RTOS scheduler takes over. Priority 5 BLE tasks will always pre-empt the Priority 2 app task when radio events occur.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34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20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Main App Task Works — SimplePeripheral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" y="749808"/>
            <a:ext cx="786384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11480" y="960120"/>
            <a:ext cx="1920240" cy="749808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10058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powers 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316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runs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008" y="1298448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60320" y="960120"/>
            <a:ext cx="1920240" cy="749808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606040" y="10058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once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606040" y="1316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SimplePeripheral_init()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1298448"/>
            <a:ext cx="164592" cy="16459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709160" y="960120"/>
            <a:ext cx="1920240" cy="749808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4754880" y="10058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350ms clock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754880" y="1316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SYS/BIOS Clock object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1298448"/>
            <a:ext cx="164592" cy="16459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858000" y="960120"/>
            <a:ext cx="1920240" cy="749808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903720" y="10058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RTOS scheduler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903720" y="1316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waits for events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11480" y="184708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repeats every 350 ms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858000" y="2084832"/>
            <a:ext cx="1920240" cy="749808"/>
          </a:xfrm>
          <a:prstGeom prst="rect">
            <a:avLst/>
          </a:prstGeom>
          <a:solidFill>
            <a:srgbClr val="0C4A6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6903720" y="21305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notified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903720" y="2441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GATT notification sent</a:t>
            </a:r>
            <a:endParaRPr lang="en-US" sz="9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2423160"/>
            <a:ext cx="164592" cy="16459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709160" y="2084832"/>
            <a:ext cx="1920240" cy="749808"/>
          </a:xfrm>
          <a:prstGeom prst="rect">
            <a:avLst/>
          </a:prstGeom>
          <a:solidFill>
            <a:srgbClr val="0C4A6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4754880" y="21305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BLE char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754880" y="2441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CHAR1 ← 6 bytes</a:t>
            </a:r>
            <a:endParaRPr lang="en-US" sz="9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2423160"/>
            <a:ext cx="164592" cy="16459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2560320" y="2084832"/>
            <a:ext cx="1920240" cy="749808"/>
          </a:xfrm>
          <a:prstGeom prst="rect">
            <a:avLst/>
          </a:prstGeom>
          <a:solidFill>
            <a:srgbClr val="0C4A6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2606040" y="21305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sensors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2606040" y="2441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(placeholder now)</a:t>
            </a:r>
            <a:endParaRPr lang="en-US" sz="9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864" y="2423160"/>
            <a:ext cx="164592" cy="164592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411480" y="2084832"/>
            <a:ext cx="1920240" cy="749808"/>
          </a:xfrm>
          <a:prstGeom prst="rect">
            <a:avLst/>
          </a:prstGeom>
          <a:solidFill>
            <a:srgbClr val="0C4A6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27"/>
          <p:cNvSpPr/>
          <p:nvPr/>
        </p:nvSpPr>
        <p:spPr>
          <a:xfrm>
            <a:off x="457200" y="21305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fires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457200" y="2441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350 ms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320040" y="2980944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0"/>
          <p:cNvSpPr/>
          <p:nvPr/>
        </p:nvSpPr>
        <p:spPr>
          <a:xfrm>
            <a:off x="502920" y="302666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timing constants: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2377440" y="30266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ADV_INTERVAL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2377440" y="3227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ms — BLE advertising</a:t>
            </a:r>
            <a:endParaRPr lang="en-US" sz="850" dirty="0"/>
          </a:p>
        </p:txBody>
      </p:sp>
      <p:sp>
        <p:nvSpPr>
          <p:cNvPr id="42" name="Text 33"/>
          <p:cNvSpPr/>
          <p:nvPr/>
        </p:nvSpPr>
        <p:spPr>
          <a:xfrm>
            <a:off x="3657600" y="30266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PERIODIC_EVT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3657600" y="3227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ms — Sensor poll</a:t>
            </a:r>
            <a:endParaRPr lang="en-US" sz="850" dirty="0"/>
          </a:p>
        </p:txBody>
      </p:sp>
      <p:sp>
        <p:nvSpPr>
          <p:cNvPr id="44" name="Text 35"/>
          <p:cNvSpPr/>
          <p:nvPr/>
        </p:nvSpPr>
        <p:spPr>
          <a:xfrm>
            <a:off x="4937760" y="30266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MIN_CONN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4937760" y="3227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ms — Min BLE conn</a:t>
            </a:r>
            <a:endParaRPr lang="en-US" sz="850" dirty="0"/>
          </a:p>
        </p:txBody>
      </p:sp>
      <p:sp>
        <p:nvSpPr>
          <p:cNvPr id="46" name="Text 37"/>
          <p:cNvSpPr/>
          <p:nvPr/>
        </p:nvSpPr>
        <p:spPr>
          <a:xfrm>
            <a:off x="6217920" y="30266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MAX_CONN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6217920" y="3227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ms — Max BLE conn</a:t>
            </a:r>
            <a:endParaRPr lang="en-US" sz="850" dirty="0"/>
          </a:p>
        </p:txBody>
      </p:sp>
      <p:sp>
        <p:nvSpPr>
          <p:cNvPr id="48" name="Text 39"/>
          <p:cNvSpPr/>
          <p:nvPr/>
        </p:nvSpPr>
        <p:spPr>
          <a:xfrm>
            <a:off x="7498080" y="30266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7498080" y="3227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— Supervision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2"/>
          <p:cNvSpPr/>
          <p:nvPr/>
        </p:nvSpPr>
        <p:spPr>
          <a:xfrm>
            <a:off x="457200" y="44714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350 ms period was chosen to match the research paper's power budget of 2.032 mA average. Shorter interval = more radio activity = shorter battery life.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34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20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simple_peripheral.c — Core Sensor &amp; BLE Loop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" y="749808"/>
            <a:ext cx="786384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86968"/>
            <a:ext cx="4251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914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SmartBand_periodicFxn() — runs every 350 ms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1261872"/>
            <a:ext cx="3977640" cy="1874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335024"/>
            <a:ext cx="3794760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Fires every 350 ms via SYS/BIOS Clock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SmartBand_periodicFxn(void)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GAPRole_GetParameter(GAPROLE_STATE, &amp;state);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(state == GAPROLE_CONNECTED)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i2c_signal_data = 0x7788; // ← placeholder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ACTIVATE: get_i2c_value_max30205_rawtemp()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arr[] = {0,1,2,0,upper,lower};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SimpleProfile_SetParameter(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SIMPLEPROFILE_CHAR1, 6, arr);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32004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handling — buttonCallbackFxn()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493008"/>
            <a:ext cx="3977640" cy="1298448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566160"/>
            <a:ext cx="379476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GPIO interrupt — fires on button press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buttonCallbackFxn(PIN_Handle h, PIN_Id id)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PIN_setConfig(h, PIN_BM_IRQ, id|PIN_IRQ_DIS);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(id==Board_BUTTON0) button0State ^= 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(id==Board_BUTTON1) button1State ^= 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Re-enabled at end of periodicFxn()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54880" y="886968"/>
            <a:ext cx="40690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92040" y="914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part does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92040" y="1298448"/>
            <a:ext cx="37947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13350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GAPRole_GetParameter()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983480" y="15361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a phone is currently connected. Sensor data is only sent when BLE is connected — saving power when no phone is nearby.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892040" y="2048256"/>
            <a:ext cx="37947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83480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0x7788 placeholder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983480" y="22860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firmware transmits this hardcoded value instead of real sensor data. It proves BLE works before sensors are enabled.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892040" y="2798064"/>
            <a:ext cx="37947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SimpleProfile_SetParameter()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983480" y="30358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6-byte array into GATT CHAR1 (UUID 0xFFF1). The TI BLE stack then automatically sends a GATT notification to the phone.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892040" y="3547872"/>
            <a:ext cx="37947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83480" y="3584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buttonCallbackFxn()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983480" y="37856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interrupt context (not RTOS task context). Interrupt is disabled on entry to debounce — re-enabled 350 ms later by the clock.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57200" y="44714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SimplePeripheral_init() is called once at boot to register GATT, configure BLE params, set up button interrupts, and draw the OLED splash screen.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34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20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Sensor Driver — i2c_sensors.c (437 lines)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" y="749808"/>
            <a:ext cx="786384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86968"/>
            <a:ext cx="4251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914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I²C Read Pattern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261872"/>
            <a:ext cx="397764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335024"/>
            <a:ext cx="379476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I2C_Params params;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I2C_Transaction txn;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txBuf[1] = {REG_ADDR};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rxBuf[1];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params.bitRate = I2C_400kHz;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txn.slaveAddress = 0x57; // MAX30102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txn.writeBuf=txBuf; txn.writeCount=1;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txn.readBuf =rxBuf; txn.readCount=1;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 = I2C_open(Board_I2C0, &amp;params);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(I2C_transfer(handle, &amp;txn))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rxBuf[0];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I2C_close(handle);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34290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conversion (MAX30205):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703320"/>
            <a:ext cx="397764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776472"/>
            <a:ext cx="379476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uint16_t raw = (rxBuf[0]&lt;&lt;8 | rxBuf[1]);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degC = raw * 0.00390625f; // 1/256°C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54880" y="886968"/>
            <a:ext cx="40690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92040" y="914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Functions Available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1261872"/>
            <a:ext cx="406908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9744" y="13441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486400" y="134416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0x57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916168" y="12801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get_i2c_value_max3010x_id()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916168" y="14447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PART_ID — chip health check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754880" y="1618488"/>
            <a:ext cx="40690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9744" y="17007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86400" y="170078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0x57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916168" y="16367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get_i2c_value_max3010x_basicinit()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916168" y="18013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LED current to 6.2 mA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754880" y="1975104"/>
            <a:ext cx="406908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9744" y="205740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LIS331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486400" y="20574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0x18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916168" y="19933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get_i2c_value_lis331_powerup()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916168" y="215798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all axes, normal power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754880" y="2331720"/>
            <a:ext cx="40690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09744" y="24140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LIS331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86400" y="241401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0x18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916168" y="235000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get_i2c_value_lis331_whoami()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916168" y="25146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0x33 (verify vs datasheet!)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754880" y="2688336"/>
            <a:ext cx="406908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09744" y="277063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LIS331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486400" y="27706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0x18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916168" y="270662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get_i2c_value_lis331_xh() / xl()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5916168" y="287121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 acceleration high/low byte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754880" y="3044952"/>
            <a:ext cx="40690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09744" y="31272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MAX30205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486400" y="312724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0x48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916168" y="30632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get_i2c_value_max30205_rawtemp()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5916168" y="32278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16-bit temperature register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754880" y="3419856"/>
            <a:ext cx="4069080" cy="822960"/>
          </a:xfrm>
          <a:prstGeom prst="rect">
            <a:avLst/>
          </a:prstGeom>
          <a:solidFill>
            <a:srgbClr val="FFF3E0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520440"/>
            <a:ext cx="237744" cy="237744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5166360" y="345643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WHO_AM_I discrepancy: firmware uses 0x33 but LIS331DL datasheet specifies 0x3B. Verify the exact LIS331 variant on PCB before flashing — a mismatch causes silent sensor init failure.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6"/>
          <p:cNvSpPr/>
          <p:nvPr/>
        </p:nvSpPr>
        <p:spPr>
          <a:xfrm>
            <a:off x="457200" y="44714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I²C functions open and close the bus per-transaction. In production, keep the handle open during sensor polling to reduce latency and overhead.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34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20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I²C Communication Works — Explained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" y="749808"/>
            <a:ext cx="786384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86968"/>
            <a:ext cx="8503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(Inter-Integrated Circuit) — 2 wires, many devices, one master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417320"/>
            <a:ext cx="822960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691640"/>
            <a:ext cx="822960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12618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 (clock)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5488" y="17190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(data)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645920" y="1280160"/>
            <a:ext cx="1417320" cy="64008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691640" y="129844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CC2640R2F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(Master)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691640" y="162763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DIO_5=SCL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DIO_6=SDA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331720" y="1417320"/>
            <a:ext cx="228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74720" y="1280160"/>
            <a:ext cx="141732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520440" y="129844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HR/SpO₂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520440" y="162763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addr: 0x57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60520" y="1417320"/>
            <a:ext cx="228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03520" y="1280160"/>
            <a:ext cx="141732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349240" y="129844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MAX30205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349240" y="162763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addr: 0x90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989320" y="1417320"/>
            <a:ext cx="228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132320" y="1280160"/>
            <a:ext cx="141732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178040" y="129844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LIS331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178040" y="162763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addr: 0x19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818120" y="1417320"/>
            <a:ext cx="228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7200" y="1993392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2029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R103/R104 — 10 kΩ pull-up resistors keep SCL and SDA HIGH when idle (I²C is open-drain — devices can only pull LOW)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02920" y="23957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I²C read transaction — step by step: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2706624"/>
            <a:ext cx="1572768" cy="685800"/>
          </a:xfrm>
          <a:prstGeom prst="rect">
            <a:avLst/>
          </a:prstGeom>
          <a:solidFill>
            <a:srgbClr val="F0FD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02920" y="273405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02920" y="299008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sends START + slave address + R/W bit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2121408" y="2706624"/>
            <a:ext cx="157276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2167128" y="273405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2167128" y="299008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responds with ACK (acknowledgement)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785616" y="2706624"/>
            <a:ext cx="1572768" cy="685800"/>
          </a:xfrm>
          <a:prstGeom prst="rect">
            <a:avLst/>
          </a:prstGeom>
          <a:solidFill>
            <a:srgbClr val="F0FD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3831336" y="273405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3831336" y="299008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sends register address to read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5449824" y="2706624"/>
            <a:ext cx="157276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5495544" y="273405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5495544" y="299008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sends 1–2 bytes of data back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7114032" y="2706624"/>
            <a:ext cx="1572768" cy="685800"/>
          </a:xfrm>
          <a:prstGeom prst="rect">
            <a:avLst/>
          </a:prstGeom>
          <a:solidFill>
            <a:srgbClr val="F0FD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7159752" y="273405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7159752" y="299008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sends STOP — bus released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320040" y="3474720"/>
            <a:ext cx="8503920" cy="566928"/>
          </a:xfrm>
          <a:prstGeom prst="rect">
            <a:avLst/>
          </a:prstGeom>
          <a:solidFill>
            <a:srgbClr val="F0FD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502920" y="35112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I²C for this wearable?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2560320" y="350215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wires (SCL + SDA) connect all 3 sensors + OLED display — critical on a 34×40 mm PCB where every trace matters. The CC2640R2F is bus master, polling each sensor in turn using unique 7-bit addresses.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457200" y="44714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400 kHz fast-mode I²C used here can read 2 bytes from MAX30205 in ~40 µs — fast enough for the 350 ms polling period while leaving the CPU free for BLE tasks.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34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20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Display — oled.c + oled_thread.c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" y="749808"/>
            <a:ext cx="786384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86968"/>
            <a:ext cx="41148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914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SSD1306 Driver — Public API (oled.c, 334 lines)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3840480" cy="448056"/>
          </a:xfrm>
          <a:prstGeom prst="rect">
            <a:avLst/>
          </a:prstGeom>
          <a:solidFill>
            <a:srgbClr val="F0FD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1316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oledInit()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6928" y="1508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22-byte SSD1306 init sequence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1746504"/>
            <a:ext cx="38404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1783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oledFill(data)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6928" y="1975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all 8 pages × 128 columns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212848"/>
            <a:ext cx="3840480" cy="448056"/>
          </a:xfrm>
          <a:prstGeom prst="rect">
            <a:avLst/>
          </a:prstGeom>
          <a:solidFill>
            <a:srgbClr val="F0FD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22494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oledWriteString(x,y,str)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24414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ASCII text via ucFont[]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2679192"/>
            <a:ext cx="38404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2715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oledDrawPic(pic,w,h,x,y)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6928" y="29077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bitmap from flash memory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3145536"/>
            <a:ext cx="3840480" cy="448056"/>
          </a:xfrm>
          <a:prstGeom prst="rect">
            <a:avLst/>
          </a:prstGeom>
          <a:solidFill>
            <a:srgbClr val="F0FD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31821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oledSetPosition(x,y)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66928" y="33741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write cursor (page + column)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57200" y="3611880"/>
            <a:ext cx="38404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3648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oledShutdown()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6928" y="38404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0xAE — panel off (saves power)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617720" y="886968"/>
            <a:ext cx="4206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754880" y="9144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oled_thread.c — Dedicated Task (183 lines)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754880" y="1261872"/>
            <a:ext cx="3840480" cy="274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09744" y="12893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DISABLED in main.c — code complete, not activated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54880" y="16276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623560" y="16276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display is non-critical, always yields to BLE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754880" y="2029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623560" y="20299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bytes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754880" y="24323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623560" y="24323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queue — waits on OLED_EVENT_SCREEN_UPDATE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754880" y="2834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Messages: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623560" y="2834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MEDIC_PIC, HEART_PIC, BUTTON_PRESS, DATA_HEX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754880" y="3273552"/>
            <a:ext cx="39776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46320" y="3346704"/>
            <a:ext cx="379476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Boot splash screen (currently active)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oledInit();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oledFill(0x00);        // clear screen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oledWriteString(0,0,"Smart Band V001");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754880" y="4105656"/>
            <a:ext cx="3977640" cy="201168"/>
          </a:xfrm>
          <a:prstGeom prst="rect">
            <a:avLst/>
          </a:prstGeom>
          <a:solidFill>
            <a:srgbClr val="F0FD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28032" y="412394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enabled: oled_thread displays live HR, SpO₂, temp and motion data in real time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457200" y="44714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display into its own task (oled_thread) prevents OLED I²C transactions from blocking the BLE task — a core embedded multitasking principle.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34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20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GATT Profile — Service 0xFFF0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" y="749808"/>
            <a:ext cx="786384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86968"/>
            <a:ext cx="8503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91440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Characteristics — What the Smartphone Sees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252728"/>
            <a:ext cx="868680" cy="24688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" y="1271016"/>
            <a:ext cx="795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417320" y="1252728"/>
            <a:ext cx="704088" cy="24688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53896" y="1271016"/>
            <a:ext cx="630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212848" y="1252728"/>
            <a:ext cx="731520" cy="24688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49424" y="1271016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035808" y="1252728"/>
            <a:ext cx="850392" cy="24688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72384" y="1271016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977640" y="1252728"/>
            <a:ext cx="4443984" cy="24688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14216" y="1271016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Use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1499616"/>
            <a:ext cx="868680" cy="2423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" y="154533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CHAR1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417320" y="1499616"/>
            <a:ext cx="704088" cy="2423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53896" y="1545336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0xFFF1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212848" y="1499616"/>
            <a:ext cx="731520" cy="2423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49424" y="154533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bytes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035808" y="1499616"/>
            <a:ext cx="850392" cy="2423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72384" y="154533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R/W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977640" y="1499616"/>
            <a:ext cx="4443984" cy="2423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14216" y="1545336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array: [MAX3010x_id, LIS_whoami, LIS_xh, LIS_xl, temp_upper, temp_lower]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7200" y="1741932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3776" y="178765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CHAR2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417320" y="1741932"/>
            <a:ext cx="704088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453896" y="1787652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0xFFF2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212848" y="1741932"/>
            <a:ext cx="73152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249424" y="178765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byte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035808" y="1741932"/>
            <a:ext cx="8503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072384" y="178765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977640" y="1741932"/>
            <a:ext cx="44439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14216" y="1787652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byte: bit[0]=button0, bit[4]=button1, BLE state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1984248"/>
            <a:ext cx="868680" cy="2423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93776" y="202996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CHAR3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1417320" y="1984248"/>
            <a:ext cx="704088" cy="2423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453896" y="2029968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0xFFF3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2212848" y="1984248"/>
            <a:ext cx="731520" cy="2423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249424" y="20299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byte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035808" y="1984248"/>
            <a:ext cx="850392" cy="2423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072384" y="202996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R/W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977640" y="1984248"/>
            <a:ext cx="4443984" cy="2423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014216" y="2029968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 — reserved for future sensor data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57200" y="2226564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93776" y="2272284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CHAR4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417320" y="2226564"/>
            <a:ext cx="704088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453896" y="2272284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0xFFF4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2212848" y="2226564"/>
            <a:ext cx="73152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249424" y="22722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byte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3035808" y="2226564"/>
            <a:ext cx="8503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072384" y="22722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3977640" y="2226564"/>
            <a:ext cx="44439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014216" y="2272284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Push-notification channel — phone receives alerts without polling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457200" y="2468880"/>
            <a:ext cx="868680" cy="2423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93776" y="251460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CHAR5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1417320" y="2468880"/>
            <a:ext cx="704088" cy="2423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453896" y="2514600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0xFFF5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2212848" y="2468880"/>
            <a:ext cx="731520" cy="2423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2249424" y="25146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bytes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3035808" y="2468880"/>
            <a:ext cx="850392" cy="2423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072384" y="25146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R/W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3977640" y="2468880"/>
            <a:ext cx="4443984" cy="2423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014216" y="2514600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buffer — reserved for future multi-byte values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320040" y="2944368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Text 67"/>
          <p:cNvSpPr/>
          <p:nvPr/>
        </p:nvSpPr>
        <p:spPr>
          <a:xfrm>
            <a:off x="502920" y="29809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— Sensor to Phone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411480" y="3310128"/>
            <a:ext cx="1554480" cy="713232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2" name="Text 69"/>
          <p:cNvSpPr/>
          <p:nvPr/>
        </p:nvSpPr>
        <p:spPr>
          <a:xfrm>
            <a:off x="457200" y="3346704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i2c_sensors.c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sensor</a:t>
            </a:r>
            <a:endParaRPr lang="en-US" sz="950" dirty="0"/>
          </a:p>
        </p:txBody>
      </p:sp>
      <p:pic>
        <p:nvPicPr>
          <p:cNvPr id="7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248" y="3593592"/>
            <a:ext cx="146304" cy="146304"/>
          </a:xfrm>
          <a:prstGeom prst="rect">
            <a:avLst/>
          </a:prstGeom>
        </p:spPr>
      </p:pic>
      <p:sp>
        <p:nvSpPr>
          <p:cNvPr id="74" name="Shape 70"/>
          <p:cNvSpPr/>
          <p:nvPr/>
        </p:nvSpPr>
        <p:spPr>
          <a:xfrm>
            <a:off x="2075688" y="3310128"/>
            <a:ext cx="1554480" cy="713232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5" name="Text 71"/>
          <p:cNvSpPr/>
          <p:nvPr/>
        </p:nvSpPr>
        <p:spPr>
          <a:xfrm>
            <a:off x="2121408" y="3346704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into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6-byte array</a:t>
            </a:r>
            <a:endParaRPr lang="en-US" sz="950" dirty="0"/>
          </a:p>
        </p:txBody>
      </p:sp>
      <p:pic>
        <p:nvPicPr>
          <p:cNvPr id="7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3593592"/>
            <a:ext cx="146304" cy="146304"/>
          </a:xfrm>
          <a:prstGeom prst="rect">
            <a:avLst/>
          </a:prstGeom>
        </p:spPr>
      </p:pic>
      <p:sp>
        <p:nvSpPr>
          <p:cNvPr id="77" name="Shape 72"/>
          <p:cNvSpPr/>
          <p:nvPr/>
        </p:nvSpPr>
        <p:spPr>
          <a:xfrm>
            <a:off x="3739896" y="3310128"/>
            <a:ext cx="1554480" cy="713232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8" name="Text 73"/>
          <p:cNvSpPr/>
          <p:nvPr/>
        </p:nvSpPr>
        <p:spPr>
          <a:xfrm>
            <a:off x="3785616" y="3346704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SetParameter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(CHAR1)</a:t>
            </a:r>
            <a:endParaRPr lang="en-US" sz="950" dirty="0"/>
          </a:p>
        </p:txBody>
      </p:sp>
      <p:pic>
        <p:nvPicPr>
          <p:cNvPr id="7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4" y="3593592"/>
            <a:ext cx="146304" cy="146304"/>
          </a:xfrm>
          <a:prstGeom prst="rect">
            <a:avLst/>
          </a:prstGeom>
        </p:spPr>
      </p:pic>
      <p:sp>
        <p:nvSpPr>
          <p:cNvPr id="80" name="Shape 74"/>
          <p:cNvSpPr/>
          <p:nvPr/>
        </p:nvSpPr>
        <p:spPr>
          <a:xfrm>
            <a:off x="5404104" y="3310128"/>
            <a:ext cx="1554480" cy="713232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1" name="Text 75"/>
          <p:cNvSpPr/>
          <p:nvPr/>
        </p:nvSpPr>
        <p:spPr>
          <a:xfrm>
            <a:off x="5449824" y="3346704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stack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auto-notify</a:t>
            </a:r>
            <a:endParaRPr lang="en-US" sz="950" dirty="0"/>
          </a:p>
        </p:txBody>
      </p:sp>
      <p:pic>
        <p:nvPicPr>
          <p:cNvPr id="8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3593592"/>
            <a:ext cx="146304" cy="146304"/>
          </a:xfrm>
          <a:prstGeom prst="rect">
            <a:avLst/>
          </a:prstGeom>
        </p:spPr>
      </p:pic>
      <p:sp>
        <p:nvSpPr>
          <p:cNvPr id="83" name="Shape 76"/>
          <p:cNvSpPr/>
          <p:nvPr/>
        </p:nvSpPr>
        <p:spPr>
          <a:xfrm>
            <a:off x="7068312" y="3310128"/>
            <a:ext cx="155448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4" name="Text 77"/>
          <p:cNvSpPr/>
          <p:nvPr/>
        </p:nvSpPr>
        <p:spPr>
          <a:xfrm>
            <a:off x="7114032" y="3346704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CHAR1</a:t>
            </a:r>
            <a:endParaRPr lang="en-US" sz="950" dirty="0"/>
          </a:p>
        </p:txBody>
      </p:sp>
      <p:sp>
        <p:nvSpPr>
          <p:cNvPr id="85" name="Text 78"/>
          <p:cNvSpPr/>
          <p:nvPr/>
        </p:nvSpPr>
        <p:spPr>
          <a:xfrm>
            <a:off x="475488" y="404164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350 ms</a:t>
            </a:r>
            <a:endParaRPr lang="en-US" sz="850" dirty="0"/>
          </a:p>
        </p:txBody>
      </p:sp>
      <p:sp>
        <p:nvSpPr>
          <p:cNvPr id="86" name="Shape 79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7" name="Text 80"/>
          <p:cNvSpPr/>
          <p:nvPr/>
        </p:nvSpPr>
        <p:spPr>
          <a:xfrm>
            <a:off x="457200" y="44714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GATT = Generic Attribute Profile. Any BLE scanner app (nRF Connect on Android/iOS) can connect and read CHAR1 live — no custom app needed during development.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34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20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BLE &amp; GATT — How Wireless Data Works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" y="749808"/>
            <a:ext cx="786384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86968"/>
            <a:ext cx="8503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= Bluetooth Low Energy — designed for small data bursts from battery-powered devices, not continuous audio streaming like classic Bluetooth.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3167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CC2640R2F advertises every 100 ms ("I'm here!"). A phone connects, then receives GATT notifications every 350 ms containing the sensor data.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23042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GATT Data Model — how data is organised: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2624328"/>
            <a:ext cx="8046720" cy="301752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68833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(Band01_Rev1)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60120" y="2962656"/>
            <a:ext cx="6949440" cy="301752"/>
          </a:xfrm>
          <a:prstGeom prst="rect">
            <a:avLst/>
          </a:prstGeom>
          <a:solidFill>
            <a:srgbClr val="065A8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302666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0xFFF0  (like a folder)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508760" y="3300984"/>
            <a:ext cx="5852160" cy="301752"/>
          </a:xfrm>
          <a:prstGeom prst="rect">
            <a:avLst/>
          </a:prstGeom>
          <a:solidFill>
            <a:srgbClr val="0C4A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00200" y="33649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CHAR1 0xFFF1 — 6 bytes — sensor data array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508760" y="3639312"/>
            <a:ext cx="5852160" cy="301752"/>
          </a:xfrm>
          <a:prstGeom prst="rect">
            <a:avLst/>
          </a:prstGeom>
          <a:solidFill>
            <a:srgbClr val="0C4A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00200" y="37033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CHAR2 0xFFF2 — 1 byte  — button state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508760" y="3977640"/>
            <a:ext cx="5852160" cy="301752"/>
          </a:xfrm>
          <a:prstGeom prst="rect">
            <a:avLst/>
          </a:prstGeom>
          <a:solidFill>
            <a:srgbClr val="0E4F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00200" y="404164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CHAR4 0xFFF4 — 1 byte  — Notify (phone gets alerts without polling)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0040" y="4334256"/>
            <a:ext cx="850392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4407408"/>
            <a:ext cx="201168" cy="20116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85800" y="4361688"/>
            <a:ext cx="8001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current build = Just-Works pairing (no auth) — any BLE device can connect. For clinical use, Passkey or LE Secure Connections required.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57200" y="44714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GATT is like a USB stick with folders (Services) and files (Characteristics). The phone reads the 'file' (CHAR1) every 350 ms — no custom protocol or app code needed.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34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20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Stack Layers &amp; Memory Map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" y="749808"/>
            <a:ext cx="786384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86968"/>
            <a:ext cx="4206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914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Protocol Stack — FlashROM_StackLibrary/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12070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Pre-compiled by TI · Do NOT modify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463040"/>
            <a:ext cx="5486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5179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60704" y="1481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Access Profile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60704" y="162763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Advertising, scanning, connections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1801368"/>
            <a:ext cx="548640" cy="292608"/>
          </a:xfrm>
          <a:prstGeom prst="rect">
            <a:avLst/>
          </a:prstGeom>
          <a:solidFill>
            <a:srgbClr val="0C887D"/>
          </a:solidFill>
          <a:ln w="12700">
            <a:solidFill>
              <a:srgbClr val="0C887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18562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60704" y="18196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Attribute Profile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60704" y="1965960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characteristic layer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139696"/>
            <a:ext cx="548640" cy="292608"/>
          </a:xfrm>
          <a:prstGeom prst="rect">
            <a:avLst/>
          </a:prstGeom>
          <a:solidFill>
            <a:srgbClr val="0B7C72"/>
          </a:solidFill>
          <a:ln w="12700">
            <a:solidFill>
              <a:srgbClr val="0B7C7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1945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60704" y="21579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Protocol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60704" y="230428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GATT data R/W/Notify at byte level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2478024"/>
            <a:ext cx="548640" cy="292608"/>
          </a:xfrm>
          <a:prstGeom prst="rect">
            <a:avLst/>
          </a:prstGeom>
          <a:solidFill>
            <a:srgbClr val="0A7067"/>
          </a:solidFill>
          <a:ln w="12700">
            <a:solidFill>
              <a:srgbClr val="0A706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532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060704" y="24963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Manager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60704" y="2642616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Pairing, bonding, key exchange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2816352"/>
            <a:ext cx="548640" cy="292608"/>
          </a:xfrm>
          <a:prstGeom prst="rect">
            <a:avLst/>
          </a:prstGeom>
          <a:solidFill>
            <a:srgbClr val="09655C"/>
          </a:solidFill>
          <a:ln w="12700">
            <a:solidFill>
              <a:srgbClr val="0965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28712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L2CAP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60704" y="28346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Link Control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060704" y="2980944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mux, segmentation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57200" y="3154680"/>
            <a:ext cx="548640" cy="292608"/>
          </a:xfrm>
          <a:prstGeom prst="rect">
            <a:avLst/>
          </a:prstGeom>
          <a:solidFill>
            <a:srgbClr val="085952"/>
          </a:solidFill>
          <a:ln w="12700">
            <a:solidFill>
              <a:srgbClr val="08595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32095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060704" y="31729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Controller Interface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060704" y="331927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↔ BLE radio bridge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7200" y="3493008"/>
            <a:ext cx="548640" cy="292608"/>
          </a:xfrm>
          <a:prstGeom prst="rect">
            <a:avLst/>
          </a:prstGeom>
          <a:solidFill>
            <a:srgbClr val="074D47"/>
          </a:solidFill>
          <a:ln w="12700">
            <a:solidFill>
              <a:srgbClr val="074D4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35478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1060704" y="35112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 Radio Driver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060704" y="3657600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CC2640R2F RF core control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709160" y="886968"/>
            <a:ext cx="41148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CC2640R2F Memory Map (128 KB Flash / 20 KB SRAM)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4846320" y="1316736"/>
            <a:ext cx="32004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64608" y="1362456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KB flash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846320" y="15910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Image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766560" y="13533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main, SimplePeripheral, sensors, OLED, GATT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846320" y="1883664"/>
            <a:ext cx="237744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64608" y="1929384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KB flash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4846320" y="2157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Stack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766560" y="1920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HCI, L2CAP, ATT, SMP, GAP, RF driver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846320" y="2450592"/>
            <a:ext cx="365760" cy="2560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864608" y="2496312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bytes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846320" y="2724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CCFG Region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766560" y="24871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ccfg_app_ble.c — bootloader &amp; radio trim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4846320" y="3017520"/>
            <a:ext cx="91440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864608" y="3063240"/>
            <a:ext cx="859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KB RAM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4846320" y="3291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SRAM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6766560" y="30540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Heap, task stacks, GATT database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846320" y="3584448"/>
            <a:ext cx="640080" cy="2560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864608" y="3630168"/>
            <a:ext cx="585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KB RAM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484632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SRAM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6766560" y="36210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queues, HCI buffers, connections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Text 58"/>
          <p:cNvSpPr/>
          <p:nvPr/>
        </p:nvSpPr>
        <p:spPr>
          <a:xfrm>
            <a:off x="457200" y="44714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 BLE stack are two separately linked binaries sharing one 128 KB flash. Exact sizes are in Debug/smart_band_v001_app.map after a CCS build.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34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20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RTOS Architecture — SYS/BIOS Task Model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" y="749808"/>
            <a:ext cx="786384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86968"/>
            <a:ext cx="8503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91440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Table — Pre-emptive Fixed-Priority Scheduling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252728"/>
            <a:ext cx="1353312" cy="24688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" y="1271016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01952" y="1252728"/>
            <a:ext cx="585216" cy="24688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29384" y="1271016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78608" y="1252728"/>
            <a:ext cx="566928" cy="24688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06040" y="1271016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36976" y="1252728"/>
            <a:ext cx="621792" cy="24688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64408" y="1271016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950208" y="1252728"/>
            <a:ext cx="1005840" cy="24688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77640" y="1271016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47488" y="1252728"/>
            <a:ext cx="1216152" cy="24688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74920" y="1271016"/>
            <a:ext cx="1161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355080" y="1252728"/>
            <a:ext cx="2468880" cy="24688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1271016"/>
            <a:ext cx="2414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1499616"/>
            <a:ext cx="1353312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3776" y="15727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 Stack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901952" y="1499616"/>
            <a:ext cx="585216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938528" y="157276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★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578608" y="1499616"/>
            <a:ext cx="566928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615184" y="157276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36976" y="1499616"/>
            <a:ext cx="621792" cy="3246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73552" y="1572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950208" y="1499616"/>
            <a:ext cx="1005840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86784" y="157276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FlashROM/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047488" y="1499616"/>
            <a:ext cx="1216152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84064" y="15727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Radio, advertising, connections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355080" y="1499616"/>
            <a:ext cx="2468880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91656" y="157276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 — always pre-empts app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1824228"/>
            <a:ext cx="1353312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3776" y="18973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GAPRole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1901952" y="1824228"/>
            <a:ext cx="585216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938528" y="189738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2578608" y="1824228"/>
            <a:ext cx="566928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615184" y="189738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36976" y="1824228"/>
            <a:ext cx="621792" cy="3246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73552" y="18973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3950208" y="1824228"/>
            <a:ext cx="100584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986784" y="189738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peripheral.c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5047488" y="1824228"/>
            <a:ext cx="1216152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84064" y="18973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connection events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355080" y="1824228"/>
            <a:ext cx="246888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391656" y="189738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BLE peripheral role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57200" y="2148840"/>
            <a:ext cx="1353312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93776" y="22219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SimplePeripheral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1901952" y="2148840"/>
            <a:ext cx="585216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938528" y="222199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2578608" y="2148840"/>
            <a:ext cx="566928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615184" y="22219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B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3236976" y="2148840"/>
            <a:ext cx="621792" cy="3246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73552" y="22219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3950208" y="2148840"/>
            <a:ext cx="1005840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986784" y="22219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simple_perip…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5047488" y="2148840"/>
            <a:ext cx="1216152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084064" y="22219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reads + BLE updates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6355080" y="2148840"/>
            <a:ext cx="2468880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391656" y="222199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 — every 350 ms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457200" y="2473452"/>
            <a:ext cx="1353312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93776" y="25466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OledThread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1901952" y="2473452"/>
            <a:ext cx="585216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938528" y="254660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2578608" y="2473452"/>
            <a:ext cx="566928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615184" y="254660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B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3236976" y="2473452"/>
            <a:ext cx="621792" cy="324612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273552" y="25466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3950208" y="2473452"/>
            <a:ext cx="100584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3986784" y="254660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oled_thread.c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5047488" y="2473452"/>
            <a:ext cx="1216152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084064" y="25466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display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6355080" y="2473452"/>
            <a:ext cx="246888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391656" y="254660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Commented out — ready to enable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457200" y="2798064"/>
            <a:ext cx="1353312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493776" y="28712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AppThread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1901952" y="2798064"/>
            <a:ext cx="585216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1938528" y="287121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2578608" y="2798064"/>
            <a:ext cx="566928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2615184" y="287121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B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3236976" y="2798064"/>
            <a:ext cx="621792" cy="324612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73552" y="2871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3950208" y="2798064"/>
            <a:ext cx="1005840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3986784" y="287121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app_thread.c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5047488" y="2798064"/>
            <a:ext cx="1216152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5084064" y="28712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sensor/signal</a:t>
            </a:r>
            <a:endParaRPr lang="en-US" sz="850" dirty="0"/>
          </a:p>
        </p:txBody>
      </p:sp>
      <p:sp>
        <p:nvSpPr>
          <p:cNvPr id="91" name="Shape 88"/>
          <p:cNvSpPr/>
          <p:nvPr/>
        </p:nvSpPr>
        <p:spPr>
          <a:xfrm>
            <a:off x="6355080" y="2798064"/>
            <a:ext cx="2468880" cy="3246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6391656" y="287121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— awaiting sensor integration</a:t>
            </a:r>
            <a:endParaRPr lang="en-US" sz="850" dirty="0"/>
          </a:p>
        </p:txBody>
      </p:sp>
      <p:sp>
        <p:nvSpPr>
          <p:cNvPr id="93" name="Shape 90"/>
          <p:cNvSpPr/>
          <p:nvPr/>
        </p:nvSpPr>
        <p:spPr>
          <a:xfrm>
            <a:off x="320040" y="3291840"/>
            <a:ext cx="85039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4" name="Text 91"/>
          <p:cNvSpPr/>
          <p:nvPr/>
        </p:nvSpPr>
        <p:spPr>
          <a:xfrm>
            <a:off x="502920" y="3337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SYS/BIOS Primitives Used in This Firmware:</a:t>
            </a:r>
            <a:endParaRPr lang="en-US" sz="1150" dirty="0"/>
          </a:p>
        </p:txBody>
      </p:sp>
      <p:sp>
        <p:nvSpPr>
          <p:cNvPr id="95" name="Shape 92"/>
          <p:cNvSpPr/>
          <p:nvPr/>
        </p:nvSpPr>
        <p:spPr>
          <a:xfrm>
            <a:off x="411480" y="3630168"/>
            <a:ext cx="1572768" cy="59436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6" name="Text 93"/>
          <p:cNvSpPr/>
          <p:nvPr/>
        </p:nvSpPr>
        <p:spPr>
          <a:xfrm>
            <a:off x="457200" y="364845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97" name="Text 94"/>
          <p:cNvSpPr/>
          <p:nvPr/>
        </p:nvSpPr>
        <p:spPr>
          <a:xfrm>
            <a:off x="457200" y="3867912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timers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(350 ms poll)</a:t>
            </a:r>
            <a:endParaRPr lang="en-US" sz="850" dirty="0"/>
          </a:p>
        </p:txBody>
      </p:sp>
      <p:sp>
        <p:nvSpPr>
          <p:cNvPr id="98" name="Shape 95"/>
          <p:cNvSpPr/>
          <p:nvPr/>
        </p:nvSpPr>
        <p:spPr>
          <a:xfrm>
            <a:off x="2075688" y="3630168"/>
            <a:ext cx="1572768" cy="59436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9" name="Text 96"/>
          <p:cNvSpPr/>
          <p:nvPr/>
        </p:nvSpPr>
        <p:spPr>
          <a:xfrm>
            <a:off x="2121408" y="364845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100" name="Text 97"/>
          <p:cNvSpPr/>
          <p:nvPr/>
        </p:nvSpPr>
        <p:spPr>
          <a:xfrm>
            <a:off x="2121408" y="3867912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sync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(OLED events)</a:t>
            </a:r>
            <a:endParaRPr lang="en-US" sz="850" dirty="0"/>
          </a:p>
        </p:txBody>
      </p:sp>
      <p:sp>
        <p:nvSpPr>
          <p:cNvPr id="101" name="Shape 98"/>
          <p:cNvSpPr/>
          <p:nvPr/>
        </p:nvSpPr>
        <p:spPr>
          <a:xfrm>
            <a:off x="3739896" y="3630168"/>
            <a:ext cx="1572768" cy="59436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2" name="Text 99"/>
          <p:cNvSpPr/>
          <p:nvPr/>
        </p:nvSpPr>
        <p:spPr>
          <a:xfrm>
            <a:off x="3785616" y="364845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100" dirty="0"/>
          </a:p>
        </p:txBody>
      </p:sp>
      <p:sp>
        <p:nvSpPr>
          <p:cNvPr id="103" name="Text 100"/>
          <p:cNvSpPr/>
          <p:nvPr/>
        </p:nvSpPr>
        <p:spPr>
          <a:xfrm>
            <a:off x="3785616" y="3867912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Inter-task messages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(OLED queue)</a:t>
            </a:r>
            <a:endParaRPr lang="en-US" sz="850" dirty="0"/>
          </a:p>
        </p:txBody>
      </p:sp>
      <p:sp>
        <p:nvSpPr>
          <p:cNvPr id="104" name="Shape 101"/>
          <p:cNvSpPr/>
          <p:nvPr/>
        </p:nvSpPr>
        <p:spPr>
          <a:xfrm>
            <a:off x="5404104" y="3630168"/>
            <a:ext cx="1572768" cy="59436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5" name="Text 102"/>
          <p:cNvSpPr/>
          <p:nvPr/>
        </p:nvSpPr>
        <p:spPr>
          <a:xfrm>
            <a:off x="5449824" y="364845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</a:t>
            </a:r>
            <a:endParaRPr lang="en-US" sz="1100" dirty="0"/>
          </a:p>
        </p:txBody>
      </p:sp>
      <p:sp>
        <p:nvSpPr>
          <p:cNvPr id="106" name="Text 103"/>
          <p:cNvSpPr/>
          <p:nvPr/>
        </p:nvSpPr>
        <p:spPr>
          <a:xfrm>
            <a:off x="5449824" y="3867912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(resource locks)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7068312" y="3630168"/>
            <a:ext cx="1572768" cy="59436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8" name="Text 105"/>
          <p:cNvSpPr/>
          <p:nvPr/>
        </p:nvSpPr>
        <p:spPr>
          <a:xfrm>
            <a:off x="7114032" y="364845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109" name="Text 106"/>
          <p:cNvSpPr/>
          <p:nvPr/>
        </p:nvSpPr>
        <p:spPr>
          <a:xfrm>
            <a:off x="7114032" y="3867912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definition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(each RTOS task)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1" name="Text 108"/>
          <p:cNvSpPr/>
          <p:nvPr/>
        </p:nvSpPr>
        <p:spPr>
          <a:xfrm>
            <a:off x="457200" y="44714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SYS/BIOS uses fixed-priority pre-emptive scheduling — NOT POSIX. Priority 5 BLE tasks will always pre-empt the Priority 2 app task mid-execution when radio events occur.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34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20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Architecture in Firmware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" y="749808"/>
            <a:ext cx="786384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86968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886968"/>
            <a:ext cx="27432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9052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Connected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133502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BLE: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60120" y="133502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connected + 350 ms notifications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17373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43000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sensors powered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0080" y="2468880"/>
            <a:ext cx="21031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24871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~2.0 mA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3200400" y="886968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886968"/>
            <a:ext cx="27432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91840" y="9052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337560" y="133502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BLE: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840480" y="133502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BLE adv (100 ms interval)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337560" y="17373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023360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gated off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520440" y="2468880"/>
            <a:ext cx="21031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520440" y="24871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mA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080760" y="886968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080760" y="886968"/>
            <a:ext cx="27432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72200" y="9052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Sleep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217920" y="133502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BLE: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720840" y="133502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kHz Y2 crystal maintains schedule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217920" y="17373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903720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powered down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400800" y="2468880"/>
            <a:ext cx="21031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400800" y="24871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µA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320040" y="3291840"/>
            <a:ext cx="50292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02920" y="33284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Life Calculation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02920" y="36118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mAh  ÷  2.032 mA  =  73.8 hours  ≈  73+ hours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02920" y="3913632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Pinheiro et al. (2021) — measured 2.032 mA avg at 350 ms BLE interval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532120" y="3291840"/>
            <a:ext cx="3291840" cy="1024128"/>
          </a:xfrm>
          <a:prstGeom prst="rect">
            <a:avLst/>
          </a:prstGeom>
          <a:solidFill>
            <a:srgbClr val="F0FD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5669280" y="33284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POWER_SAVING compile flag: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669280" y="359359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deep sleep permission. When enabled, MCU enters standby between BLE events. The 32 kHz crystal Y2 keeps waking it at precise intervals.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457200" y="44714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LP5907 EN pins are wired to CC2640R2F GPIOs — firmware can cut sensor power entirely during BLE advertising, achieving the &lt;1 µA standby current target.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34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20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— JTAG, Assertions &amp; Recommended Improvements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" y="749808"/>
            <a:ext cx="786384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86968"/>
            <a:ext cx="4251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914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Debug Paths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261872"/>
            <a:ext cx="3931920" cy="274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128930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JTAG via XDS110 probe + P1 header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1572768"/>
            <a:ext cx="3913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XDS110 USB probe to P1 header (18-pin)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TCK → DIO_3  ·  TMS → DIO_4  ·  TDI + TDO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CCS: set breakpoints, step through code line-by-line, inspect registers, watch variables live, measure current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2505456"/>
            <a:ext cx="3931920" cy="274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253288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BLE Stack Assertion Handler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" y="2816352"/>
            <a:ext cx="3913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RegisterAssertCback(AssertHandler) — registered in main()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BLE stack detects internal violations (wrong HCI state, message buffer exhaustion)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behaviour: loops forever — visible to debugger but silent to user without JTAG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54880" y="886968"/>
            <a:ext cx="40690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92040" y="914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Improvement — Visible Assert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124358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AssertHandler loops silently. Improved version displays the error code on the OLED so faults are visible without a JTAG probe attached: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92040" y="1792224"/>
            <a:ext cx="3749040" cy="21488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83480" y="1865376"/>
            <a:ext cx="3566160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AssertHandler(uint8 cause,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uint8 subcause)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buf[24];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oledFill(0x00);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oledWriteString(0,0,"ASSERT ERROR");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snprintf(buf,sizeof(buf),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"cause=%02x sub=%02x",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cause, subcause);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oledWriteString(0,2,buf);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while(1); // attach JTAG here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92040" y="3986784"/>
            <a:ext cx="3749040" cy="274320"/>
          </a:xfrm>
          <a:prstGeom prst="rect">
            <a:avLst/>
          </a:prstGeom>
          <a:solidFill>
            <a:srgbClr val="F0FDF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56048" y="4014216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recommended Task 3 improvement — diagnose faults in the field without a laptop.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57200" y="44714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JTAG debug is the primary tool during development. The assertion handler becomes essential once the device is deployed away from a desktop — it's your last line of defence.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34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20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Firmware–Hardware Pin Correspondence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" y="749808"/>
            <a:ext cx="786384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86968"/>
            <a:ext cx="8503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DIO pin in firmware maps to a physical component on Band01_Rev1 (Task 1 reference)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207008"/>
            <a:ext cx="1143000" cy="246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" y="1225296"/>
            <a:ext cx="1069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Component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691640" y="1207008"/>
            <a:ext cx="594360" cy="246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28216" y="122529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377440" y="1207008"/>
            <a:ext cx="1207008" cy="246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14016" y="1225296"/>
            <a:ext cx="1133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Ref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75888" y="1207008"/>
            <a:ext cx="1737360" cy="246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12464" y="1225296"/>
            <a:ext cx="1664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File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04688" y="1207008"/>
            <a:ext cx="1673352" cy="246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41264" y="122529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269480" y="1207008"/>
            <a:ext cx="1554480" cy="246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06056" y="1225296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1453896"/>
            <a:ext cx="11430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3776" y="1517904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SCL (all sensors+OLED)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691640" y="1453896"/>
            <a:ext cx="59436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728216" y="1517904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DIO_5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377440" y="1453896"/>
            <a:ext cx="1207008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414016" y="151790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Board_I2C0 SCL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675888" y="1453896"/>
            <a:ext cx="173736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12464" y="151790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i2c_sensors.c, oled.c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504688" y="1453896"/>
            <a:ext cx="1673352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41264" y="15179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clock 400kHz — shared by all 4 devices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269480" y="1453896"/>
            <a:ext cx="1554480" cy="30175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06056" y="151790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1755648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3776" y="1819656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SDA (all sensors+OLED)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1691640" y="175564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728216" y="1819656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DIO_6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2377440" y="1755648"/>
            <a:ext cx="1207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414016" y="1819656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Board_I2C0 SDA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675888" y="1755648"/>
            <a:ext cx="1737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712464" y="181965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i2c_sensors.c, oled.c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504688" y="1755648"/>
            <a:ext cx="167335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41264" y="18196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data bidirectional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7269480" y="1755648"/>
            <a:ext cx="1554480" cy="30175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306056" y="181965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2057400"/>
            <a:ext cx="11430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93776" y="212140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 interrupt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691640" y="2057400"/>
            <a:ext cx="59436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728216" y="212140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DIO_8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2377440" y="2057400"/>
            <a:ext cx="1207008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414016" y="212140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 handled yet)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675888" y="2057400"/>
            <a:ext cx="173736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712464" y="212140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simple_peripheral.c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5504688" y="2057400"/>
            <a:ext cx="1673352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541264" y="21214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data-ready — not wired in firmware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7269480" y="2057400"/>
            <a:ext cx="1554480" cy="30175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306056" y="21214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457200" y="2359152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93776" y="2423160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LIS331 interrupt 1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1691640" y="235915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728216" y="2423160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DIO_9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2377440" y="2359152"/>
            <a:ext cx="1207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414016" y="24231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 handled yet)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3675888" y="2359152"/>
            <a:ext cx="1737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712464" y="24231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simple_peripheral.c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5504688" y="2359152"/>
            <a:ext cx="167335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541264" y="24231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event interrupt 1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7269480" y="2359152"/>
            <a:ext cx="1554480" cy="30175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7306056" y="242316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457200" y="2660904"/>
            <a:ext cx="11430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93776" y="272491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LIS331 interrupt 2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691640" y="2660904"/>
            <a:ext cx="59436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1728216" y="2724912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DIO_2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2377440" y="2660904"/>
            <a:ext cx="1207008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414016" y="272491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 handled yet)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3675888" y="2660904"/>
            <a:ext cx="173736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712464" y="272491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simple_peripheral.c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5504688" y="2660904"/>
            <a:ext cx="1673352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541264" y="27249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event interrupt 2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7269480" y="2660904"/>
            <a:ext cx="1554480" cy="30175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306056" y="272491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81" name="Shape 78"/>
          <p:cNvSpPr/>
          <p:nvPr/>
        </p:nvSpPr>
        <p:spPr>
          <a:xfrm>
            <a:off x="457200" y="2962656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93776" y="3026664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SW101 Button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1691640" y="2962656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728216" y="3026664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DIO_0</a:t>
            </a:r>
            <a:endParaRPr lang="en-US" sz="800" dirty="0"/>
          </a:p>
        </p:txBody>
      </p:sp>
      <p:sp>
        <p:nvSpPr>
          <p:cNvPr id="85" name="Shape 82"/>
          <p:cNvSpPr/>
          <p:nvPr/>
        </p:nvSpPr>
        <p:spPr>
          <a:xfrm>
            <a:off x="2377440" y="2962656"/>
            <a:ext cx="1207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414016" y="302666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Board_BUTTON0</a:t>
            </a:r>
            <a:endParaRPr lang="en-US" sz="800" dirty="0"/>
          </a:p>
        </p:txBody>
      </p:sp>
      <p:sp>
        <p:nvSpPr>
          <p:cNvPr id="87" name="Shape 84"/>
          <p:cNvSpPr/>
          <p:nvPr/>
        </p:nvSpPr>
        <p:spPr>
          <a:xfrm>
            <a:off x="3675888" y="2962656"/>
            <a:ext cx="1737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3712464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simple_peripheral.c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5504688" y="2962656"/>
            <a:ext cx="167335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5541264" y="30266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Falling-edge ISR, toggles state → CHAR2</a:t>
            </a:r>
            <a:endParaRPr lang="en-US" sz="800" dirty="0"/>
          </a:p>
        </p:txBody>
      </p:sp>
      <p:sp>
        <p:nvSpPr>
          <p:cNvPr id="91" name="Shape 88"/>
          <p:cNvSpPr/>
          <p:nvPr/>
        </p:nvSpPr>
        <p:spPr>
          <a:xfrm>
            <a:off x="7269480" y="2962656"/>
            <a:ext cx="1554480" cy="30175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306056" y="302666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93" name="Shape 90"/>
          <p:cNvSpPr/>
          <p:nvPr/>
        </p:nvSpPr>
        <p:spPr>
          <a:xfrm>
            <a:off x="457200" y="3264408"/>
            <a:ext cx="11430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493776" y="3328416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SW102 Button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1691640" y="3264408"/>
            <a:ext cx="59436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1728216" y="3328416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DIO_1</a:t>
            </a:r>
            <a:endParaRPr lang="en-US" sz="800" dirty="0"/>
          </a:p>
        </p:txBody>
      </p:sp>
      <p:sp>
        <p:nvSpPr>
          <p:cNvPr id="97" name="Shape 94"/>
          <p:cNvSpPr/>
          <p:nvPr/>
        </p:nvSpPr>
        <p:spPr>
          <a:xfrm>
            <a:off x="2377440" y="3264408"/>
            <a:ext cx="1207008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2414016" y="3328416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Board_BUTTON1</a:t>
            </a:r>
            <a:endParaRPr lang="en-US" sz="800" dirty="0"/>
          </a:p>
        </p:txBody>
      </p:sp>
      <p:sp>
        <p:nvSpPr>
          <p:cNvPr id="99" name="Shape 96"/>
          <p:cNvSpPr/>
          <p:nvPr/>
        </p:nvSpPr>
        <p:spPr>
          <a:xfrm>
            <a:off x="3675888" y="3264408"/>
            <a:ext cx="173736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3712464" y="332841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simple_peripheral.c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5504688" y="3264408"/>
            <a:ext cx="1673352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5541264" y="33284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Falling-edge ISR, toggles state → CHAR2</a:t>
            </a:r>
            <a:endParaRPr lang="en-US" sz="800" dirty="0"/>
          </a:p>
        </p:txBody>
      </p:sp>
      <p:sp>
        <p:nvSpPr>
          <p:cNvPr id="103" name="Shape 100"/>
          <p:cNvSpPr/>
          <p:nvPr/>
        </p:nvSpPr>
        <p:spPr>
          <a:xfrm>
            <a:off x="7269480" y="3264408"/>
            <a:ext cx="1554480" cy="30175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7306056" y="33284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105" name="Shape 102"/>
          <p:cNvSpPr/>
          <p:nvPr/>
        </p:nvSpPr>
        <p:spPr>
          <a:xfrm>
            <a:off x="457200" y="3566160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493776" y="363016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JTAG TCK (P1 header)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1691640" y="356616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728216" y="363016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DIO_3</a:t>
            </a:r>
            <a:endParaRPr lang="en-US" sz="800" dirty="0"/>
          </a:p>
        </p:txBody>
      </p:sp>
      <p:sp>
        <p:nvSpPr>
          <p:cNvPr id="109" name="Shape 106"/>
          <p:cNvSpPr/>
          <p:nvPr/>
        </p:nvSpPr>
        <p:spPr>
          <a:xfrm>
            <a:off x="2377440" y="3566160"/>
            <a:ext cx="1207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2414016" y="363016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JTAG TCK</a:t>
            </a:r>
            <a:endParaRPr lang="en-US" sz="800" dirty="0"/>
          </a:p>
        </p:txBody>
      </p:sp>
      <p:sp>
        <p:nvSpPr>
          <p:cNvPr id="111" name="Shape 108"/>
          <p:cNvSpPr/>
          <p:nvPr/>
        </p:nvSpPr>
        <p:spPr>
          <a:xfrm>
            <a:off x="3675888" y="3566160"/>
            <a:ext cx="1737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3712464" y="36301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targetConfigs/*.ccxml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5504688" y="3566160"/>
            <a:ext cx="167335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5541264" y="36301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debug probe clock</a:t>
            </a:r>
            <a:endParaRPr lang="en-US" sz="800" dirty="0"/>
          </a:p>
        </p:txBody>
      </p:sp>
      <p:sp>
        <p:nvSpPr>
          <p:cNvPr id="115" name="Shape 112"/>
          <p:cNvSpPr/>
          <p:nvPr/>
        </p:nvSpPr>
        <p:spPr>
          <a:xfrm>
            <a:off x="7269480" y="3566160"/>
            <a:ext cx="1554480" cy="30175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7306056" y="363016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457200" y="3867912"/>
            <a:ext cx="11430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493776" y="3931920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JTAG TMS (P1 header)</a:t>
            </a:r>
            <a:endParaRPr lang="en-US" sz="800" dirty="0"/>
          </a:p>
        </p:txBody>
      </p:sp>
      <p:sp>
        <p:nvSpPr>
          <p:cNvPr id="119" name="Shape 116"/>
          <p:cNvSpPr/>
          <p:nvPr/>
        </p:nvSpPr>
        <p:spPr>
          <a:xfrm>
            <a:off x="1691640" y="3867912"/>
            <a:ext cx="59436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1728216" y="3931920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DIO_4</a:t>
            </a:r>
            <a:endParaRPr lang="en-US" sz="800" dirty="0"/>
          </a:p>
        </p:txBody>
      </p:sp>
      <p:sp>
        <p:nvSpPr>
          <p:cNvPr id="121" name="Shape 118"/>
          <p:cNvSpPr/>
          <p:nvPr/>
        </p:nvSpPr>
        <p:spPr>
          <a:xfrm>
            <a:off x="2377440" y="3867912"/>
            <a:ext cx="1207008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2414016" y="393192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JTAG TMS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3675888" y="3867912"/>
            <a:ext cx="173736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712464" y="393192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targetConfigs/*.ccxml</a:t>
            </a:r>
            <a:endParaRPr lang="en-US" sz="800" dirty="0"/>
          </a:p>
        </p:txBody>
      </p:sp>
      <p:sp>
        <p:nvSpPr>
          <p:cNvPr id="125" name="Shape 122"/>
          <p:cNvSpPr/>
          <p:nvPr/>
        </p:nvSpPr>
        <p:spPr>
          <a:xfrm>
            <a:off x="5504688" y="3867912"/>
            <a:ext cx="1673352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3"/>
          <p:cNvSpPr/>
          <p:nvPr/>
        </p:nvSpPr>
        <p:spPr>
          <a:xfrm>
            <a:off x="5541264" y="39319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debug mode select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7269480" y="3867912"/>
            <a:ext cx="1554480" cy="30175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7306056" y="39319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457200" y="4169664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493776" y="423367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MHz Crystal Y1</a:t>
            </a:r>
            <a:endParaRPr lang="en-US" sz="800" dirty="0"/>
          </a:p>
        </p:txBody>
      </p:sp>
      <p:sp>
        <p:nvSpPr>
          <p:cNvPr id="131" name="Shape 128"/>
          <p:cNvSpPr/>
          <p:nvPr/>
        </p:nvSpPr>
        <p:spPr>
          <a:xfrm>
            <a:off x="1691640" y="4169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1728216" y="4233672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X24M_P/N</a:t>
            </a:r>
            <a:endParaRPr lang="en-US" sz="800" dirty="0"/>
          </a:p>
        </p:txBody>
      </p:sp>
      <p:sp>
        <p:nvSpPr>
          <p:cNvPr id="133" name="Shape 130"/>
          <p:cNvSpPr/>
          <p:nvPr/>
        </p:nvSpPr>
        <p:spPr>
          <a:xfrm>
            <a:off x="2377440" y="4169664"/>
            <a:ext cx="1207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2414016" y="423367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 radio clock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3675888" y="4169664"/>
            <a:ext cx="1737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6" name="Text 133"/>
          <p:cNvSpPr/>
          <p:nvPr/>
        </p:nvSpPr>
        <p:spPr>
          <a:xfrm>
            <a:off x="3712464" y="423367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FlashROM_Stack/</a:t>
            </a:r>
            <a:endParaRPr lang="en-US" sz="800" dirty="0"/>
          </a:p>
        </p:txBody>
      </p:sp>
      <p:sp>
        <p:nvSpPr>
          <p:cNvPr id="137" name="Shape 134"/>
          <p:cNvSpPr/>
          <p:nvPr/>
        </p:nvSpPr>
        <p:spPr>
          <a:xfrm>
            <a:off x="5504688" y="4169664"/>
            <a:ext cx="167335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8" name="Text 135"/>
          <p:cNvSpPr/>
          <p:nvPr/>
        </p:nvSpPr>
        <p:spPr>
          <a:xfrm>
            <a:off x="5541264" y="42336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BLE RF synthesis</a:t>
            </a:r>
            <a:endParaRPr lang="en-US" sz="800" dirty="0"/>
          </a:p>
        </p:txBody>
      </p:sp>
      <p:sp>
        <p:nvSpPr>
          <p:cNvPr id="139" name="Shape 136"/>
          <p:cNvSpPr/>
          <p:nvPr/>
        </p:nvSpPr>
        <p:spPr>
          <a:xfrm>
            <a:off x="7269480" y="4169664"/>
            <a:ext cx="1554480" cy="30175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7"/>
          <p:cNvSpPr/>
          <p:nvPr/>
        </p:nvSpPr>
        <p:spPr>
          <a:xfrm>
            <a:off x="7306056" y="423367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2" name="Text 139"/>
          <p:cNvSpPr/>
          <p:nvPr/>
        </p:nvSpPr>
        <p:spPr>
          <a:xfrm>
            <a:off x="457200" y="44714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 — </a:t>
            </a: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pins DIO_8/9/2 are physically wired on the PCB but not yet handled in firmware. Activating them replaces polling with interrupt-driven reads — critical for power efficiency.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&amp; Key Takeaways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Band01_Rev1 Firmware — Task 2  |  Masrur Jamil Prochchhod  |  HSHL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011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3977640" cy="3730752"/>
          </a:xfrm>
          <a:prstGeom prst="rect">
            <a:avLst/>
          </a:prstGeom>
          <a:solidFill>
            <a:srgbClr val="1A2F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521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81328"/>
            <a:ext cx="3822192" cy="219456"/>
          </a:xfrm>
          <a:prstGeom prst="rect">
            <a:avLst/>
          </a:prstGeom>
          <a:solidFill>
            <a:srgbClr val="142F1F"/>
          </a:solidFill>
          <a:ln w="12700">
            <a:solidFill>
              <a:srgbClr val="1A2F45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656" y="15179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advertising + connection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429000" y="1517904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" y="1705356"/>
            <a:ext cx="3822192" cy="219456"/>
          </a:xfrm>
          <a:prstGeom prst="rect">
            <a:avLst/>
          </a:prstGeom>
          <a:solidFill>
            <a:srgbClr val="142F1F"/>
          </a:solidFill>
          <a:ln w="12700">
            <a:solidFill>
              <a:srgbClr val="1A2F45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2788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6656" y="17419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GATT Service 0xFFF0 (5 chars)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429000" y="1741932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11480" y="1929384"/>
            <a:ext cx="3822192" cy="219456"/>
          </a:xfrm>
          <a:prstGeom prst="rect">
            <a:avLst/>
          </a:prstGeom>
          <a:solidFill>
            <a:srgbClr val="142F1F"/>
          </a:solidFill>
          <a:ln w="12700">
            <a:solidFill>
              <a:srgbClr val="1A2F4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6816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" y="1965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hardware driver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429000" y="1965960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11480" y="2153412"/>
            <a:ext cx="3822192" cy="219456"/>
          </a:xfrm>
          <a:prstGeom prst="rect">
            <a:avLst/>
          </a:prstGeom>
          <a:solidFill>
            <a:srgbClr val="142F1F"/>
          </a:solidFill>
          <a:ln w="12700">
            <a:solidFill>
              <a:srgbClr val="1A2F45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80844"/>
            <a:ext cx="164592" cy="1645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6656" y="21899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screen at boot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3429000" y="218998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11480" y="2377440"/>
            <a:ext cx="3822192" cy="219456"/>
          </a:xfrm>
          <a:prstGeom prst="rect">
            <a:avLst/>
          </a:prstGeom>
          <a:solidFill>
            <a:srgbClr val="142F1F"/>
          </a:solidFill>
          <a:ln w="12700">
            <a:solidFill>
              <a:srgbClr val="1A2F45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04872"/>
            <a:ext cx="164592" cy="1645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6656" y="24140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GPIO interrupts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3429000" y="2414016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11480" y="2601468"/>
            <a:ext cx="3822192" cy="219456"/>
          </a:xfrm>
          <a:prstGeom prst="rect">
            <a:avLst/>
          </a:prstGeom>
          <a:solidFill>
            <a:srgbClr val="142F1F"/>
          </a:solidFill>
          <a:ln w="12700">
            <a:solidFill>
              <a:srgbClr val="1A2F45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28900"/>
            <a:ext cx="164592" cy="1645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76656" y="26380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driver for all sensors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3429000" y="2638044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411480" y="2825496"/>
            <a:ext cx="3822192" cy="219456"/>
          </a:xfrm>
          <a:prstGeom prst="rect">
            <a:avLst/>
          </a:prstGeom>
          <a:solidFill>
            <a:srgbClr val="142F1F"/>
          </a:solidFill>
          <a:ln w="12700">
            <a:solidFill>
              <a:srgbClr val="1A2F45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52928"/>
            <a:ext cx="164592" cy="16459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6656" y="28620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ms periodic BLE update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3429000" y="2862072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11480" y="3049524"/>
            <a:ext cx="3822192" cy="219456"/>
          </a:xfrm>
          <a:prstGeom prst="rect">
            <a:avLst/>
          </a:prstGeom>
          <a:solidFill>
            <a:srgbClr val="2D2000"/>
          </a:solidFill>
          <a:ln w="12700">
            <a:solidFill>
              <a:srgbClr val="1A2F45"/>
            </a:solidFill>
            <a:prstDash val="solid"/>
          </a:ln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76956"/>
            <a:ext cx="164592" cy="16459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76656" y="30861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MAX30205 temperature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3429000" y="3086100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411480" y="3273552"/>
            <a:ext cx="3822192" cy="219456"/>
          </a:xfrm>
          <a:prstGeom prst="rect">
            <a:avLst/>
          </a:prstGeom>
          <a:solidFill>
            <a:srgbClr val="2D2000"/>
          </a:solidFill>
          <a:ln w="12700">
            <a:solidFill>
              <a:srgbClr val="1A2F45"/>
            </a:solidFill>
            <a:prstDash val="solid"/>
          </a:ln>
        </p:spPr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00984"/>
            <a:ext cx="164592" cy="164592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76656" y="33101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MAX30102 HR / SpO₂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3429000" y="331012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411480" y="3497580"/>
            <a:ext cx="3822192" cy="219456"/>
          </a:xfrm>
          <a:prstGeom prst="rect">
            <a:avLst/>
          </a:prstGeom>
          <a:solidFill>
            <a:srgbClr val="2D2000"/>
          </a:solidFill>
          <a:ln w="12700">
            <a:solidFill>
              <a:srgbClr val="1A2F45"/>
            </a:solidFill>
            <a:prstDash val="solid"/>
          </a:ln>
        </p:spPr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25012"/>
            <a:ext cx="164592" cy="164592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76656" y="35341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LIS331 accelerometer</a:t>
            </a:r>
            <a:endParaRPr lang="en-US" sz="900" dirty="0"/>
          </a:p>
        </p:txBody>
      </p:sp>
      <p:sp>
        <p:nvSpPr>
          <p:cNvPr id="47" name="Text 35"/>
          <p:cNvSpPr/>
          <p:nvPr/>
        </p:nvSpPr>
        <p:spPr>
          <a:xfrm>
            <a:off x="3429000" y="3534156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48" name="Shape 36"/>
          <p:cNvSpPr/>
          <p:nvPr/>
        </p:nvSpPr>
        <p:spPr>
          <a:xfrm>
            <a:off x="411480" y="3721608"/>
            <a:ext cx="3822192" cy="219456"/>
          </a:xfrm>
          <a:prstGeom prst="rect">
            <a:avLst/>
          </a:prstGeom>
          <a:solidFill>
            <a:srgbClr val="2D2000"/>
          </a:solidFill>
          <a:ln w="12700">
            <a:solidFill>
              <a:srgbClr val="1A2F45"/>
            </a:solidFill>
            <a:prstDash val="solid"/>
          </a:ln>
        </p:spPr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40"/>
            <a:ext cx="164592" cy="164592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676656" y="3758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live display</a:t>
            </a:r>
            <a:endParaRPr lang="en-US" sz="900" dirty="0"/>
          </a:p>
        </p:txBody>
      </p:sp>
      <p:sp>
        <p:nvSpPr>
          <p:cNvPr id="51" name="Text 38"/>
          <p:cNvSpPr/>
          <p:nvPr/>
        </p:nvSpPr>
        <p:spPr>
          <a:xfrm>
            <a:off x="3429000" y="3758184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411480" y="3945636"/>
            <a:ext cx="3822192" cy="219456"/>
          </a:xfrm>
          <a:prstGeom prst="rect">
            <a:avLst/>
          </a:prstGeom>
          <a:solidFill>
            <a:srgbClr val="2D0A0A"/>
          </a:solidFill>
          <a:ln w="12700">
            <a:solidFill>
              <a:srgbClr val="1A2F45"/>
            </a:solidFill>
            <a:prstDash val="solid"/>
          </a:ln>
        </p:spPr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73068"/>
            <a:ext cx="164592" cy="164592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676656" y="39822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HR algorithm</a:t>
            </a:r>
            <a:endParaRPr lang="en-US" sz="900" dirty="0"/>
          </a:p>
        </p:txBody>
      </p:sp>
      <p:sp>
        <p:nvSpPr>
          <p:cNvPr id="55" name="Text 41"/>
          <p:cNvSpPr/>
          <p:nvPr/>
        </p:nvSpPr>
        <p:spPr>
          <a:xfrm>
            <a:off x="3429000" y="3982212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411480" y="4169664"/>
            <a:ext cx="3822192" cy="219456"/>
          </a:xfrm>
          <a:prstGeom prst="rect">
            <a:avLst/>
          </a:prstGeom>
          <a:solidFill>
            <a:srgbClr val="2D0A0A"/>
          </a:solidFill>
          <a:ln w="12700">
            <a:solidFill>
              <a:srgbClr val="1A2F45"/>
            </a:solidFill>
            <a:prstDash val="solid"/>
          </a:ln>
        </p:spPr>
      </p:sp>
      <p:pic>
        <p:nvPicPr>
          <p:cNvPr id="57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97096"/>
            <a:ext cx="164592" cy="164592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676656" y="4206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security hardening</a:t>
            </a:r>
            <a:endParaRPr lang="en-US" sz="900" dirty="0"/>
          </a:p>
        </p:txBody>
      </p:sp>
      <p:sp>
        <p:nvSpPr>
          <p:cNvPr id="59" name="Text 44"/>
          <p:cNvSpPr/>
          <p:nvPr/>
        </p:nvSpPr>
        <p:spPr>
          <a:xfrm>
            <a:off x="3429000" y="4206240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900" dirty="0"/>
          </a:p>
        </p:txBody>
      </p:sp>
      <p:sp>
        <p:nvSpPr>
          <p:cNvPr id="60" name="Shape 45"/>
          <p:cNvSpPr/>
          <p:nvPr/>
        </p:nvSpPr>
        <p:spPr>
          <a:xfrm>
            <a:off x="4480560" y="1115568"/>
            <a:ext cx="2194560" cy="107899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46"/>
          <p:cNvSpPr/>
          <p:nvPr/>
        </p:nvSpPr>
        <p:spPr>
          <a:xfrm>
            <a:off x="4590288" y="122529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2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895" y="1282903"/>
            <a:ext cx="268834" cy="268834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5047488" y="124358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CC2640R2F + SYS/BIOS</a:t>
            </a:r>
            <a:endParaRPr lang="en-US" sz="1050" dirty="0"/>
          </a:p>
        </p:txBody>
      </p:sp>
      <p:sp>
        <p:nvSpPr>
          <p:cNvPr id="64" name="Text 48"/>
          <p:cNvSpPr/>
          <p:nvPr/>
        </p:nvSpPr>
        <p:spPr>
          <a:xfrm>
            <a:off x="4572000" y="157276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Cortex-M3 + BLE 5.1 SoC running TI SYS/BIOS RTOS — 5 tasks, fixed-priority pre-emptive scheduling</a:t>
            </a:r>
            <a:endParaRPr lang="en-US" sz="850" dirty="0"/>
          </a:p>
        </p:txBody>
      </p:sp>
      <p:sp>
        <p:nvSpPr>
          <p:cNvPr id="65" name="Shape 49"/>
          <p:cNvSpPr/>
          <p:nvPr/>
        </p:nvSpPr>
        <p:spPr>
          <a:xfrm>
            <a:off x="6812280" y="1115568"/>
            <a:ext cx="2194560" cy="107899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Shape 50"/>
          <p:cNvSpPr/>
          <p:nvPr/>
        </p:nvSpPr>
        <p:spPr>
          <a:xfrm>
            <a:off x="6922008" y="122529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9615" y="1282903"/>
            <a:ext cx="268834" cy="268834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7379208" y="124358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Complete</a:t>
            </a:r>
            <a:endParaRPr lang="en-US" sz="1050" dirty="0"/>
          </a:p>
        </p:txBody>
      </p:sp>
      <p:sp>
        <p:nvSpPr>
          <p:cNvPr id="69" name="Text 52"/>
          <p:cNvSpPr/>
          <p:nvPr/>
        </p:nvSpPr>
        <p:spPr>
          <a:xfrm>
            <a:off x="6903720" y="157276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GATT, I²C drivers, OLED, button handling all done — 3 lines of code activate live sensors</a:t>
            </a:r>
            <a:endParaRPr lang="en-US" sz="850" dirty="0"/>
          </a:p>
        </p:txBody>
      </p:sp>
      <p:sp>
        <p:nvSpPr>
          <p:cNvPr id="70" name="Shape 53"/>
          <p:cNvSpPr/>
          <p:nvPr/>
        </p:nvSpPr>
        <p:spPr>
          <a:xfrm>
            <a:off x="4480560" y="2304288"/>
            <a:ext cx="2194560" cy="107899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1" name="Shape 54"/>
          <p:cNvSpPr/>
          <p:nvPr/>
        </p:nvSpPr>
        <p:spPr>
          <a:xfrm>
            <a:off x="4590288" y="241401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2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895" y="2471623"/>
            <a:ext cx="268834" cy="268834"/>
          </a:xfrm>
          <a:prstGeom prst="rect">
            <a:avLst/>
          </a:prstGeom>
        </p:spPr>
      </p:pic>
      <p:sp>
        <p:nvSpPr>
          <p:cNvPr id="73" name="Text 55"/>
          <p:cNvSpPr/>
          <p:nvPr/>
        </p:nvSpPr>
        <p:spPr>
          <a:xfrm>
            <a:off x="5047488" y="243230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Active</a:t>
            </a:r>
            <a:endParaRPr lang="en-US" sz="1050" dirty="0"/>
          </a:p>
        </p:txBody>
      </p:sp>
      <p:sp>
        <p:nvSpPr>
          <p:cNvPr id="74" name="Text 56"/>
          <p:cNvSpPr/>
          <p:nvPr/>
        </p:nvSpPr>
        <p:spPr>
          <a:xfrm>
            <a:off x="4572000" y="276148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currently transmits {0,1,2,0,0x77,0x88} — real sensor calls are commented out and ready</a:t>
            </a:r>
            <a:endParaRPr lang="en-US" sz="850" dirty="0"/>
          </a:p>
        </p:txBody>
      </p:sp>
      <p:sp>
        <p:nvSpPr>
          <p:cNvPr id="75" name="Shape 57"/>
          <p:cNvSpPr/>
          <p:nvPr/>
        </p:nvSpPr>
        <p:spPr>
          <a:xfrm>
            <a:off x="6812280" y="2304288"/>
            <a:ext cx="2194560" cy="107899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6" name="Shape 58"/>
          <p:cNvSpPr/>
          <p:nvPr/>
        </p:nvSpPr>
        <p:spPr>
          <a:xfrm>
            <a:off x="6922008" y="241401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7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9615" y="2471623"/>
            <a:ext cx="268834" cy="268834"/>
          </a:xfrm>
          <a:prstGeom prst="rect">
            <a:avLst/>
          </a:prstGeom>
        </p:spPr>
      </p:pic>
      <p:sp>
        <p:nvSpPr>
          <p:cNvPr id="78" name="Text 59"/>
          <p:cNvSpPr/>
          <p:nvPr/>
        </p:nvSpPr>
        <p:spPr>
          <a:xfrm>
            <a:off x="7379208" y="243230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Dual-Binary Flash</a:t>
            </a:r>
            <a:endParaRPr lang="en-US" sz="1050" dirty="0"/>
          </a:p>
        </p:txBody>
      </p:sp>
      <p:sp>
        <p:nvSpPr>
          <p:cNvPr id="79" name="Text 60"/>
          <p:cNvSpPr/>
          <p:nvPr/>
        </p:nvSpPr>
        <p:spPr>
          <a:xfrm>
            <a:off x="6903720" y="276148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(~70 KB) + BLE stack (~50 KB) share 128 KB flash — memory map in .map file after CCS build</a:t>
            </a:r>
            <a:endParaRPr lang="en-US" sz="850" dirty="0"/>
          </a:p>
        </p:txBody>
      </p:sp>
      <p:sp>
        <p:nvSpPr>
          <p:cNvPr id="80" name="Shape 61"/>
          <p:cNvSpPr/>
          <p:nvPr/>
        </p:nvSpPr>
        <p:spPr>
          <a:xfrm>
            <a:off x="4480560" y="3493008"/>
            <a:ext cx="2194560" cy="107899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1" name="Shape 62"/>
          <p:cNvSpPr/>
          <p:nvPr/>
        </p:nvSpPr>
        <p:spPr>
          <a:xfrm>
            <a:off x="4590288" y="360273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2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7895" y="3660343"/>
            <a:ext cx="268834" cy="268834"/>
          </a:xfrm>
          <a:prstGeom prst="rect">
            <a:avLst/>
          </a:prstGeom>
        </p:spPr>
      </p:pic>
      <p:sp>
        <p:nvSpPr>
          <p:cNvPr id="83" name="Text 63"/>
          <p:cNvSpPr/>
          <p:nvPr/>
        </p:nvSpPr>
        <p:spPr>
          <a:xfrm>
            <a:off x="5047488" y="362102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73-hour Battery Life</a:t>
            </a:r>
            <a:endParaRPr lang="en-US" sz="1050" dirty="0"/>
          </a:p>
        </p:txBody>
      </p:sp>
      <p:sp>
        <p:nvSpPr>
          <p:cNvPr id="84" name="Text 64"/>
          <p:cNvSpPr/>
          <p:nvPr/>
        </p:nvSpPr>
        <p:spPr>
          <a:xfrm>
            <a:off x="4572000" y="395020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2.032 mA avg × 150 mAh = 73.8 h · POWER_SAVING flag + LP5907 EN pins enable &lt;1 µA deep sleep</a:t>
            </a:r>
            <a:endParaRPr lang="en-US" sz="850" dirty="0"/>
          </a:p>
        </p:txBody>
      </p:sp>
      <p:sp>
        <p:nvSpPr>
          <p:cNvPr id="85" name="Shape 65"/>
          <p:cNvSpPr/>
          <p:nvPr/>
        </p:nvSpPr>
        <p:spPr>
          <a:xfrm>
            <a:off x="6812280" y="3493008"/>
            <a:ext cx="2194560" cy="107899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6" name="Shape 66"/>
          <p:cNvSpPr/>
          <p:nvPr/>
        </p:nvSpPr>
        <p:spPr>
          <a:xfrm>
            <a:off x="6922008" y="360273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7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9615" y="3660343"/>
            <a:ext cx="268834" cy="268834"/>
          </a:xfrm>
          <a:prstGeom prst="rect">
            <a:avLst/>
          </a:prstGeom>
        </p:spPr>
      </p:pic>
      <p:sp>
        <p:nvSpPr>
          <p:cNvPr id="88" name="Text 67"/>
          <p:cNvSpPr/>
          <p:nvPr/>
        </p:nvSpPr>
        <p:spPr>
          <a:xfrm>
            <a:off x="7379208" y="362102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Algorithm Next</a:t>
            </a:r>
            <a:endParaRPr lang="en-US" sz="1050" dirty="0"/>
          </a:p>
        </p:txBody>
      </p:sp>
      <p:sp>
        <p:nvSpPr>
          <p:cNvPr id="89" name="Text 68"/>
          <p:cNvSpPr/>
          <p:nvPr/>
        </p:nvSpPr>
        <p:spPr>
          <a:xfrm>
            <a:off x="6903720" y="395020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targets ESPRIT via Hilbert Transform for HR estimation at 100 Hz — not yet in firmware</a:t>
            </a:r>
            <a:endParaRPr lang="en-US" sz="850" dirty="0"/>
          </a:p>
        </p:txBody>
      </p:sp>
      <p:sp>
        <p:nvSpPr>
          <p:cNvPr id="90" name="Shape 69"/>
          <p:cNvSpPr/>
          <p:nvPr/>
        </p:nvSpPr>
        <p:spPr>
          <a:xfrm>
            <a:off x="0" y="5047488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1" name="Text 70"/>
          <p:cNvSpPr/>
          <p:nvPr/>
        </p:nvSpPr>
        <p:spPr>
          <a:xfrm>
            <a:off x="457200" y="484632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Task 3 — Build in CCS, flash to hardware, activate live sensor reading, verify with nRF Connect</a:t>
            </a:r>
            <a:endParaRPr lang="en-US" sz="950" dirty="0"/>
          </a:p>
        </p:txBody>
      </p:sp>
      <p:sp>
        <p:nvSpPr>
          <p:cNvPr id="92" name="Text 71"/>
          <p:cNvSpPr/>
          <p:nvPr/>
        </p:nvSpPr>
        <p:spPr>
          <a:xfrm>
            <a:off x="7955280" y="4846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3272</Words>
  <Application>Microsoft Office PowerPoint</Application>
  <PresentationFormat>On-screen Show (16:9)</PresentationFormat>
  <Paragraphs>626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Firmware Architecture &amp; Code Analysis — Band01_Rev1 Task 2</dc:title>
  <dc:subject>PptxGenJS Presentation</dc:subject>
  <dc:creator>Masrur Jamil Prochchhod</dc:creator>
  <cp:lastModifiedBy>Masrur Jamil Prochchhod</cp:lastModifiedBy>
  <cp:revision>2</cp:revision>
  <dcterms:created xsi:type="dcterms:W3CDTF">2026-05-27T13:25:49Z</dcterms:created>
  <dcterms:modified xsi:type="dcterms:W3CDTF">2026-05-27T13:31:34Z</dcterms:modified>
</cp:coreProperties>
</file>