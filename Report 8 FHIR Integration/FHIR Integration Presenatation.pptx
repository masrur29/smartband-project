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2" d="100"/>
          <a:sy n="122" d="100"/>
        </p:scale>
        <p:origin x="4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906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sp>
      <p:sp>
        <p:nvSpPr>
          <p:cNvPr id="3" name="Shape 1"/>
          <p:cNvSpPr/>
          <p:nvPr/>
        </p:nvSpPr>
        <p:spPr>
          <a:xfrm>
            <a:off x="6858000" y="3474720"/>
            <a:ext cx="3200400" cy="3200400"/>
          </a:xfrm>
          <a:prstGeom prst="ellipse">
            <a:avLst/>
          </a:prstGeom>
          <a:solidFill>
            <a:srgbClr val="028090">
              <a:alpha val="12000"/>
            </a:srgbClr>
          </a:solidFill>
          <a:ln w="12700">
            <a:solidFill>
              <a:srgbClr val="028090"/>
            </a:solidFill>
            <a:prstDash val="solid"/>
          </a:ln>
        </p:spPr>
      </p:sp>
      <p:sp>
        <p:nvSpPr>
          <p:cNvPr id="4" name="Shape 2"/>
          <p:cNvSpPr/>
          <p:nvPr/>
        </p:nvSpPr>
        <p:spPr>
          <a:xfrm>
            <a:off x="7498080" y="182880"/>
            <a:ext cx="2011680" cy="2011680"/>
          </a:xfrm>
          <a:prstGeom prst="ellipse">
            <a:avLst/>
          </a:prstGeom>
          <a:solidFill>
            <a:srgbClr val="00B4D8">
              <a:alpha val="10000"/>
            </a:srgbClr>
          </a:solidFill>
          <a:ln w="12700">
            <a:solidFill>
              <a:srgbClr val="00B4D8"/>
            </a:solidFill>
            <a:prstDash val="solid"/>
          </a:ln>
        </p:spPr>
      </p:sp>
      <p:sp>
        <p:nvSpPr>
          <p:cNvPr id="5" name="Text 3"/>
          <p:cNvSpPr/>
          <p:nvPr/>
        </p:nvSpPr>
        <p:spPr>
          <a:xfrm>
            <a:off x="457200" y="1280160"/>
            <a:ext cx="7772400" cy="1645920"/>
          </a:xfrm>
          <a:prstGeom prst="rect">
            <a:avLst/>
          </a:prstGeom>
          <a:noFill/>
          <a:ln/>
        </p:spPr>
        <p:txBody>
          <a:bodyPr wrap="square"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FHIR Integration Prospects</a:t>
            </a:r>
            <a:endParaRPr lang="en-US" sz="4000" dirty="0"/>
          </a:p>
          <a:p>
            <a:pPr marL="0" indent="0" algn="l">
              <a:buNone/>
            </a:pPr>
            <a:r>
              <a:rPr lang="en-US" sz="4000" b="1" dirty="0">
                <a:solidFill>
                  <a:srgbClr val="FFFFFF"/>
                </a:solidFill>
                <a:latin typeface="Calibri" pitchFamily="34" charset="0"/>
                <a:ea typeface="Calibri" pitchFamily="34" charset="-122"/>
                <a:cs typeface="Calibri" pitchFamily="34" charset="-120"/>
              </a:rPr>
              <a:t>Smartband V001</a:t>
            </a:r>
            <a:endParaRPr lang="en-US" sz="4000" dirty="0"/>
          </a:p>
        </p:txBody>
      </p:sp>
      <p:sp>
        <p:nvSpPr>
          <p:cNvPr id="6" name="Text 4"/>
          <p:cNvSpPr/>
          <p:nvPr/>
        </p:nvSpPr>
        <p:spPr>
          <a:xfrm>
            <a:off x="457200" y="3017520"/>
            <a:ext cx="6858000" cy="457200"/>
          </a:xfrm>
          <a:prstGeom prst="rect">
            <a:avLst/>
          </a:prstGeom>
          <a:noFill/>
          <a:ln/>
        </p:spPr>
        <p:txBody>
          <a:bodyPr wrap="square" rtlCol="0" anchor="ctr"/>
          <a:lstStyle/>
          <a:p>
            <a:pPr marL="0" indent="0" algn="l">
              <a:buNone/>
            </a:pPr>
            <a:r>
              <a:rPr lang="en-US" sz="1800" dirty="0">
                <a:solidFill>
                  <a:srgbClr val="00B4D8"/>
                </a:solidFill>
                <a:latin typeface="Calibri" pitchFamily="34" charset="0"/>
                <a:ea typeface="Calibri" pitchFamily="34" charset="-122"/>
                <a:cs typeface="Calibri" pitchFamily="34" charset="-120"/>
              </a:rPr>
              <a:t>Utilizing HL7 FHIR R4 Standards for Health Data Interoperability</a:t>
            </a:r>
            <a:endParaRPr lang="en-US" sz="1800" dirty="0"/>
          </a:p>
        </p:txBody>
      </p:sp>
      <p:sp>
        <p:nvSpPr>
          <p:cNvPr id="7" name="Text 5"/>
          <p:cNvSpPr/>
          <p:nvPr/>
        </p:nvSpPr>
        <p:spPr>
          <a:xfrm>
            <a:off x="457200" y="4434840"/>
            <a:ext cx="6400800" cy="411480"/>
          </a:xfrm>
          <a:prstGeom prst="rect">
            <a:avLst/>
          </a:prstGeom>
          <a:noFill/>
          <a:ln/>
        </p:spPr>
        <p:txBody>
          <a:bodyPr wrap="square" rtlCol="0" anchor="ctr"/>
          <a:lstStyle/>
          <a:p>
            <a:pPr marL="0" indent="0" algn="l">
              <a:buNone/>
            </a:pPr>
            <a:r>
              <a:rPr lang="en-US" sz="1100" dirty="0">
                <a:solidFill>
                  <a:srgbClr val="6B7A8D"/>
                </a:solidFill>
                <a:latin typeface="Calibri" pitchFamily="34" charset="0"/>
                <a:ea typeface="Calibri" pitchFamily="34" charset="-122"/>
                <a:cs typeface="Calibri" pitchFamily="34" charset="-120"/>
              </a:rPr>
              <a:t>Masrur Jamil Prochchhod  ·  Hochschule Hamm-Lippstadt (HSHL)  ·  June 2026  ·  Submitted to: Prof. Dr. Javidi da Costa, Joao Paulo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What We Will Cover Today</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This presentation covers the full roadmap for integrating HL7 FHIR R4 health data standards into the Smartband V001 project — from sensor hardware to hospital EHR integration.</a:t>
            </a:r>
            <a:endParaRPr lang="en-US" sz="1200" dirty="0"/>
          </a:p>
        </p:txBody>
      </p:sp>
      <p:sp>
        <p:nvSpPr>
          <p:cNvPr id="10" name="Shape 8"/>
          <p:cNvSpPr/>
          <p:nvPr/>
        </p:nvSpPr>
        <p:spPr>
          <a:xfrm>
            <a:off x="365760" y="1325880"/>
            <a:ext cx="4160520" cy="658368"/>
          </a:xfrm>
          <a:prstGeom prst="rect">
            <a:avLst/>
          </a:prstGeom>
          <a:solidFill>
            <a:srgbClr val="FFFFFF"/>
          </a:solidFill>
          <a:ln/>
          <a:effectLst>
            <a:outerShdw blurRad="50800" dist="25400" dir="8100000" algn="bl" rotWithShape="0">
              <a:srgbClr val="000000">
                <a:alpha val="7000"/>
              </a:srgbClr>
            </a:outerShdw>
          </a:effectLst>
        </p:spPr>
      </p:sp>
      <p:sp>
        <p:nvSpPr>
          <p:cNvPr id="11" name="Shape 9"/>
          <p:cNvSpPr/>
          <p:nvPr/>
        </p:nvSpPr>
        <p:spPr>
          <a:xfrm>
            <a:off x="365760" y="1325880"/>
            <a:ext cx="502920" cy="658368"/>
          </a:xfrm>
          <a:prstGeom prst="rect">
            <a:avLst/>
          </a:prstGeom>
          <a:solidFill>
            <a:srgbClr val="028090"/>
          </a:solidFill>
          <a:ln/>
        </p:spPr>
      </p:sp>
      <p:sp>
        <p:nvSpPr>
          <p:cNvPr id="12" name="Text 10"/>
          <p:cNvSpPr/>
          <p:nvPr/>
        </p:nvSpPr>
        <p:spPr>
          <a:xfrm>
            <a:off x="365760" y="1325880"/>
            <a:ext cx="50292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3" name="Text 11"/>
          <p:cNvSpPr/>
          <p:nvPr/>
        </p:nvSpPr>
        <p:spPr>
          <a:xfrm>
            <a:off x="960120" y="1325880"/>
            <a:ext cx="3474720" cy="65836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What is HL7 FHIR and why it matters for wearables</a:t>
            </a:r>
            <a:endParaRPr lang="en-US" sz="1200" dirty="0"/>
          </a:p>
        </p:txBody>
      </p:sp>
      <p:sp>
        <p:nvSpPr>
          <p:cNvPr id="14" name="Shape 12"/>
          <p:cNvSpPr/>
          <p:nvPr/>
        </p:nvSpPr>
        <p:spPr>
          <a:xfrm>
            <a:off x="365760" y="2148840"/>
            <a:ext cx="4160520" cy="658368"/>
          </a:xfrm>
          <a:prstGeom prst="rect">
            <a:avLst/>
          </a:prstGeom>
          <a:solidFill>
            <a:srgbClr val="FFFFFF"/>
          </a:solidFill>
          <a:ln/>
          <a:effectLst>
            <a:outerShdw blurRad="50800" dist="25400" dir="8100000" algn="bl" rotWithShape="0">
              <a:srgbClr val="000000">
                <a:alpha val="7000"/>
              </a:srgbClr>
            </a:outerShdw>
          </a:effectLst>
        </p:spPr>
      </p:sp>
      <p:sp>
        <p:nvSpPr>
          <p:cNvPr id="15" name="Shape 13"/>
          <p:cNvSpPr/>
          <p:nvPr/>
        </p:nvSpPr>
        <p:spPr>
          <a:xfrm>
            <a:off x="365760" y="2148840"/>
            <a:ext cx="502920" cy="658368"/>
          </a:xfrm>
          <a:prstGeom prst="rect">
            <a:avLst/>
          </a:prstGeom>
          <a:solidFill>
            <a:srgbClr val="0D1B2A"/>
          </a:solidFill>
          <a:ln/>
        </p:spPr>
      </p:sp>
      <p:sp>
        <p:nvSpPr>
          <p:cNvPr id="16" name="Text 14"/>
          <p:cNvSpPr/>
          <p:nvPr/>
        </p:nvSpPr>
        <p:spPr>
          <a:xfrm>
            <a:off x="365760" y="2148840"/>
            <a:ext cx="50292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7" name="Text 15"/>
          <p:cNvSpPr/>
          <p:nvPr/>
        </p:nvSpPr>
        <p:spPr>
          <a:xfrm>
            <a:off x="960120" y="2148840"/>
            <a:ext cx="3474720" cy="65836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How every Smartband sensor maps to an international LOINC code</a:t>
            </a:r>
            <a:endParaRPr lang="en-US" sz="1200" dirty="0"/>
          </a:p>
        </p:txBody>
      </p:sp>
      <p:sp>
        <p:nvSpPr>
          <p:cNvPr id="18" name="Shape 16"/>
          <p:cNvSpPr/>
          <p:nvPr/>
        </p:nvSpPr>
        <p:spPr>
          <a:xfrm>
            <a:off x="365760" y="2971800"/>
            <a:ext cx="4160520" cy="658368"/>
          </a:xfrm>
          <a:prstGeom prst="rect">
            <a:avLst/>
          </a:prstGeom>
          <a:solidFill>
            <a:srgbClr val="FFFFFF"/>
          </a:solidFill>
          <a:ln/>
          <a:effectLst>
            <a:outerShdw blurRad="50800" dist="25400" dir="8100000" algn="bl" rotWithShape="0">
              <a:srgbClr val="000000">
                <a:alpha val="7000"/>
              </a:srgbClr>
            </a:outerShdw>
          </a:effectLst>
        </p:spPr>
      </p:sp>
      <p:sp>
        <p:nvSpPr>
          <p:cNvPr id="19" name="Shape 17"/>
          <p:cNvSpPr/>
          <p:nvPr/>
        </p:nvSpPr>
        <p:spPr>
          <a:xfrm>
            <a:off x="365760" y="2971800"/>
            <a:ext cx="502920" cy="658368"/>
          </a:xfrm>
          <a:prstGeom prst="rect">
            <a:avLst/>
          </a:prstGeom>
          <a:solidFill>
            <a:srgbClr val="028090"/>
          </a:solidFill>
          <a:ln/>
        </p:spPr>
      </p:sp>
      <p:sp>
        <p:nvSpPr>
          <p:cNvPr id="20" name="Text 18"/>
          <p:cNvSpPr/>
          <p:nvPr/>
        </p:nvSpPr>
        <p:spPr>
          <a:xfrm>
            <a:off x="365760" y="2971800"/>
            <a:ext cx="50292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1" name="Text 19"/>
          <p:cNvSpPr/>
          <p:nvPr/>
        </p:nvSpPr>
        <p:spPr>
          <a:xfrm>
            <a:off x="960120" y="2971800"/>
            <a:ext cx="3474720" cy="65836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The four-layer FHIR system architecture</a:t>
            </a:r>
            <a:endParaRPr lang="en-US" sz="1200" dirty="0"/>
          </a:p>
        </p:txBody>
      </p:sp>
      <p:sp>
        <p:nvSpPr>
          <p:cNvPr id="22" name="Shape 20"/>
          <p:cNvSpPr/>
          <p:nvPr/>
        </p:nvSpPr>
        <p:spPr>
          <a:xfrm>
            <a:off x="365760" y="3794760"/>
            <a:ext cx="4160520" cy="658368"/>
          </a:xfrm>
          <a:prstGeom prst="rect">
            <a:avLst/>
          </a:prstGeom>
          <a:solidFill>
            <a:srgbClr val="FFFFFF"/>
          </a:solidFill>
          <a:ln/>
          <a:effectLst>
            <a:outerShdw blurRad="50800" dist="25400" dir="8100000" algn="bl" rotWithShape="0">
              <a:srgbClr val="000000">
                <a:alpha val="7000"/>
              </a:srgbClr>
            </a:outerShdw>
          </a:effectLst>
        </p:spPr>
      </p:sp>
      <p:sp>
        <p:nvSpPr>
          <p:cNvPr id="23" name="Shape 21"/>
          <p:cNvSpPr/>
          <p:nvPr/>
        </p:nvSpPr>
        <p:spPr>
          <a:xfrm>
            <a:off x="365760" y="3794760"/>
            <a:ext cx="502920" cy="658368"/>
          </a:xfrm>
          <a:prstGeom prst="rect">
            <a:avLst/>
          </a:prstGeom>
          <a:solidFill>
            <a:srgbClr val="0D1B2A"/>
          </a:solidFill>
          <a:ln/>
        </p:spPr>
      </p:sp>
      <p:sp>
        <p:nvSpPr>
          <p:cNvPr id="24" name="Text 22"/>
          <p:cNvSpPr/>
          <p:nvPr/>
        </p:nvSpPr>
        <p:spPr>
          <a:xfrm>
            <a:off x="365760" y="3794760"/>
            <a:ext cx="50292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5" name="Text 23"/>
          <p:cNvSpPr/>
          <p:nvPr/>
        </p:nvSpPr>
        <p:spPr>
          <a:xfrm>
            <a:off x="960120" y="3794760"/>
            <a:ext cx="3474720" cy="65836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Clinical workflow — how doctors interact with FHIR data</a:t>
            </a:r>
            <a:endParaRPr lang="en-US" sz="1200" dirty="0"/>
          </a:p>
        </p:txBody>
      </p:sp>
      <p:sp>
        <p:nvSpPr>
          <p:cNvPr id="26" name="Shape 24"/>
          <p:cNvSpPr/>
          <p:nvPr/>
        </p:nvSpPr>
        <p:spPr>
          <a:xfrm>
            <a:off x="4663440" y="1325880"/>
            <a:ext cx="4160520" cy="658368"/>
          </a:xfrm>
          <a:prstGeom prst="rect">
            <a:avLst/>
          </a:prstGeom>
          <a:solidFill>
            <a:srgbClr val="FFFFFF"/>
          </a:solidFill>
          <a:ln/>
          <a:effectLst>
            <a:outerShdw blurRad="50800" dist="25400" dir="8100000" algn="bl" rotWithShape="0">
              <a:srgbClr val="000000">
                <a:alpha val="7000"/>
              </a:srgbClr>
            </a:outerShdw>
          </a:effectLst>
        </p:spPr>
      </p:sp>
      <p:sp>
        <p:nvSpPr>
          <p:cNvPr id="27" name="Shape 25"/>
          <p:cNvSpPr/>
          <p:nvPr/>
        </p:nvSpPr>
        <p:spPr>
          <a:xfrm>
            <a:off x="4663440" y="1325880"/>
            <a:ext cx="502920" cy="658368"/>
          </a:xfrm>
          <a:prstGeom prst="rect">
            <a:avLst/>
          </a:prstGeom>
          <a:solidFill>
            <a:srgbClr val="028090"/>
          </a:solidFill>
          <a:ln/>
        </p:spPr>
      </p:sp>
      <p:sp>
        <p:nvSpPr>
          <p:cNvPr id="28" name="Text 26"/>
          <p:cNvSpPr/>
          <p:nvPr/>
        </p:nvSpPr>
        <p:spPr>
          <a:xfrm>
            <a:off x="4663440" y="1325880"/>
            <a:ext cx="50292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9" name="Text 27"/>
          <p:cNvSpPr/>
          <p:nvPr/>
        </p:nvSpPr>
        <p:spPr>
          <a:xfrm>
            <a:off x="5257800" y="1325880"/>
            <a:ext cx="3474720" cy="65836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Future sensors planned for Band01_Rev1</a:t>
            </a:r>
            <a:endParaRPr lang="en-US" sz="1200" dirty="0"/>
          </a:p>
        </p:txBody>
      </p:sp>
      <p:sp>
        <p:nvSpPr>
          <p:cNvPr id="30" name="Shape 28"/>
          <p:cNvSpPr/>
          <p:nvPr/>
        </p:nvSpPr>
        <p:spPr>
          <a:xfrm>
            <a:off x="4663440" y="2148840"/>
            <a:ext cx="4160520" cy="658368"/>
          </a:xfrm>
          <a:prstGeom prst="rect">
            <a:avLst/>
          </a:prstGeom>
          <a:solidFill>
            <a:srgbClr val="FFFFFF"/>
          </a:solidFill>
          <a:ln/>
          <a:effectLst>
            <a:outerShdw blurRad="50800" dist="25400" dir="8100000" algn="bl" rotWithShape="0">
              <a:srgbClr val="000000">
                <a:alpha val="7000"/>
              </a:srgbClr>
            </a:outerShdw>
          </a:effectLst>
        </p:spPr>
      </p:sp>
      <p:sp>
        <p:nvSpPr>
          <p:cNvPr id="31" name="Shape 29"/>
          <p:cNvSpPr/>
          <p:nvPr/>
        </p:nvSpPr>
        <p:spPr>
          <a:xfrm>
            <a:off x="4663440" y="2148840"/>
            <a:ext cx="502920" cy="658368"/>
          </a:xfrm>
          <a:prstGeom prst="rect">
            <a:avLst/>
          </a:prstGeom>
          <a:solidFill>
            <a:srgbClr val="0D1B2A"/>
          </a:solidFill>
          <a:ln/>
        </p:spPr>
      </p:sp>
      <p:sp>
        <p:nvSpPr>
          <p:cNvPr id="32" name="Text 30"/>
          <p:cNvSpPr/>
          <p:nvPr/>
        </p:nvSpPr>
        <p:spPr>
          <a:xfrm>
            <a:off x="4663440" y="2148840"/>
            <a:ext cx="50292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3" name="Text 31"/>
          <p:cNvSpPr/>
          <p:nvPr/>
        </p:nvSpPr>
        <p:spPr>
          <a:xfrm>
            <a:off x="5257800" y="2148840"/>
            <a:ext cx="3474720" cy="65836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Five-phase implementation roadmap to full compliance</a:t>
            </a:r>
            <a:endParaRPr lang="en-US" sz="1200" dirty="0"/>
          </a:p>
        </p:txBody>
      </p:sp>
      <p:sp>
        <p:nvSpPr>
          <p:cNvPr id="34" name="Shape 32"/>
          <p:cNvSpPr/>
          <p:nvPr/>
        </p:nvSpPr>
        <p:spPr>
          <a:xfrm>
            <a:off x="4663440" y="2971800"/>
            <a:ext cx="4160520" cy="658368"/>
          </a:xfrm>
          <a:prstGeom prst="rect">
            <a:avLst/>
          </a:prstGeom>
          <a:solidFill>
            <a:srgbClr val="FFFFFF"/>
          </a:solidFill>
          <a:ln/>
          <a:effectLst>
            <a:outerShdw blurRad="50800" dist="25400" dir="8100000" algn="bl" rotWithShape="0">
              <a:srgbClr val="000000">
                <a:alpha val="7000"/>
              </a:srgbClr>
            </a:outerShdw>
          </a:effectLst>
        </p:spPr>
      </p:sp>
      <p:sp>
        <p:nvSpPr>
          <p:cNvPr id="35" name="Shape 33"/>
          <p:cNvSpPr/>
          <p:nvPr/>
        </p:nvSpPr>
        <p:spPr>
          <a:xfrm>
            <a:off x="4663440" y="2971800"/>
            <a:ext cx="502920" cy="658368"/>
          </a:xfrm>
          <a:prstGeom prst="rect">
            <a:avLst/>
          </a:prstGeom>
          <a:solidFill>
            <a:srgbClr val="028090"/>
          </a:solidFill>
          <a:ln/>
        </p:spPr>
      </p:sp>
      <p:sp>
        <p:nvSpPr>
          <p:cNvPr id="36" name="Text 34"/>
          <p:cNvSpPr/>
          <p:nvPr/>
        </p:nvSpPr>
        <p:spPr>
          <a:xfrm>
            <a:off x="4663440" y="2971800"/>
            <a:ext cx="50292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37" name="Text 35"/>
          <p:cNvSpPr/>
          <p:nvPr/>
        </p:nvSpPr>
        <p:spPr>
          <a:xfrm>
            <a:off x="5257800" y="2971800"/>
            <a:ext cx="3474720" cy="65836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Data privacy, GDPR, and SMART on FHIR authentication</a:t>
            </a:r>
            <a:endParaRPr lang="en-US" sz="1200" dirty="0"/>
          </a:p>
        </p:txBody>
      </p:sp>
      <p:sp>
        <p:nvSpPr>
          <p:cNvPr id="38" name="Shape 36"/>
          <p:cNvSpPr/>
          <p:nvPr/>
        </p:nvSpPr>
        <p:spPr>
          <a:xfrm>
            <a:off x="4663440" y="3794760"/>
            <a:ext cx="4160520" cy="658368"/>
          </a:xfrm>
          <a:prstGeom prst="rect">
            <a:avLst/>
          </a:prstGeom>
          <a:solidFill>
            <a:srgbClr val="FFFFFF"/>
          </a:solidFill>
          <a:ln/>
          <a:effectLst>
            <a:outerShdw blurRad="50800" dist="25400" dir="8100000" algn="bl" rotWithShape="0">
              <a:srgbClr val="000000">
                <a:alpha val="7000"/>
              </a:srgbClr>
            </a:outerShdw>
          </a:effectLst>
        </p:spPr>
      </p:sp>
      <p:sp>
        <p:nvSpPr>
          <p:cNvPr id="39" name="Shape 37"/>
          <p:cNvSpPr/>
          <p:nvPr/>
        </p:nvSpPr>
        <p:spPr>
          <a:xfrm>
            <a:off x="4663440" y="3794760"/>
            <a:ext cx="502920" cy="658368"/>
          </a:xfrm>
          <a:prstGeom prst="rect">
            <a:avLst/>
          </a:prstGeom>
          <a:solidFill>
            <a:srgbClr val="0D1B2A"/>
          </a:solidFill>
          <a:ln/>
        </p:spPr>
      </p:sp>
      <p:sp>
        <p:nvSpPr>
          <p:cNvPr id="40" name="Text 38"/>
          <p:cNvSpPr/>
          <p:nvPr/>
        </p:nvSpPr>
        <p:spPr>
          <a:xfrm>
            <a:off x="4663440" y="3794760"/>
            <a:ext cx="50292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41" name="Text 39"/>
          <p:cNvSpPr/>
          <p:nvPr/>
        </p:nvSpPr>
        <p:spPr>
          <a:xfrm>
            <a:off x="5257800" y="3794760"/>
            <a:ext cx="3474720" cy="658368"/>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Recommended next steps and procurement list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What is HL7 FHIR? — The Universal Language for Health Data</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HL7 FHIR R4 (Fast Healthcare Interoperability Resources) is the international standard published by Health Level Seven International for exchanging electronic health records between any system, anywhere in the world.</a:t>
            </a:r>
            <a:endParaRPr lang="en-US" sz="1200" dirty="0"/>
          </a:p>
        </p:txBody>
      </p:sp>
      <p:sp>
        <p:nvSpPr>
          <p:cNvPr id="10" name="Text 8"/>
          <p:cNvSpPr/>
          <p:nvPr/>
        </p:nvSpPr>
        <p:spPr>
          <a:xfrm>
            <a:off x="365760" y="1353312"/>
            <a:ext cx="4160520" cy="29260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The Problem FHIR Solves</a:t>
            </a:r>
            <a:endParaRPr lang="en-US" sz="1400" dirty="0"/>
          </a:p>
        </p:txBody>
      </p:sp>
      <p:sp>
        <p:nvSpPr>
          <p:cNvPr id="11" name="Text 9"/>
          <p:cNvSpPr/>
          <p:nvPr/>
        </p:nvSpPr>
        <p:spPr>
          <a:xfrm>
            <a:off x="365760" y="1691640"/>
            <a:ext cx="4160520" cy="1097280"/>
          </a:xfrm>
          <a:prstGeom prst="rect">
            <a:avLst/>
          </a:prstGeom>
          <a:noFill/>
          <a:ln/>
        </p:spPr>
        <p:txBody>
          <a:bodyPr wrap="square" rtlCol="0" anchor="t"/>
          <a:lstStyle/>
          <a:p>
            <a:pPr marL="0" indent="0">
              <a:buNone/>
            </a:pPr>
            <a:r>
              <a:rPr lang="en-US" sz="1200" dirty="0">
                <a:solidFill>
                  <a:srgbClr val="6B7A8D"/>
                </a:solidFill>
                <a:latin typeface="Calibri" pitchFamily="34" charset="0"/>
                <a:ea typeface="Calibri" pitchFamily="34" charset="-122"/>
                <a:cs typeface="Calibri" pitchFamily="34" charset="-120"/>
              </a:rPr>
              <a:t>Before FHIR, every hospital system, health app, and medical device used its own proprietary data format. A reading from one wearable could not be understood by a hospital's software without expensive custom integration work. FHIR replaces this chaos with a single, agreed-upon format that every modern health system speaks natively.</a:t>
            </a:r>
            <a:endParaRPr lang="en-US" sz="1200" dirty="0"/>
          </a:p>
        </p:txBody>
      </p:sp>
      <p:sp>
        <p:nvSpPr>
          <p:cNvPr id="12" name="Text 10"/>
          <p:cNvSpPr/>
          <p:nvPr/>
        </p:nvSpPr>
        <p:spPr>
          <a:xfrm>
            <a:off x="365760" y="2880360"/>
            <a:ext cx="4160520" cy="27432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How it Works</a:t>
            </a:r>
            <a:endParaRPr lang="en-US" sz="1400" dirty="0"/>
          </a:p>
        </p:txBody>
      </p:sp>
      <p:sp>
        <p:nvSpPr>
          <p:cNvPr id="13" name="Text 11"/>
          <p:cNvSpPr/>
          <p:nvPr/>
        </p:nvSpPr>
        <p:spPr>
          <a:xfrm>
            <a:off x="365760" y="3200400"/>
            <a:ext cx="4160520" cy="914400"/>
          </a:xfrm>
          <a:prstGeom prst="rect">
            <a:avLst/>
          </a:prstGeom>
          <a:noFill/>
          <a:ln/>
        </p:spPr>
        <p:txBody>
          <a:bodyPr wrap="square" rtlCol="0" anchor="t"/>
          <a:lstStyle/>
          <a:p>
            <a:pPr marL="0" indent="0">
              <a:buNone/>
            </a:pPr>
            <a:r>
              <a:rPr lang="en-US" sz="1200" dirty="0">
                <a:solidFill>
                  <a:srgbClr val="6B7A8D"/>
                </a:solidFill>
                <a:latin typeface="Calibri" pitchFamily="34" charset="0"/>
                <a:ea typeface="Calibri" pitchFamily="34" charset="-122"/>
                <a:cs typeface="Calibri" pitchFamily="34" charset="-120"/>
              </a:rPr>
              <a:t>FHIR breaks health data into modular objects called Resources. Each resource represents one clinical concept — a patient, a measurement, a diagnosis. Resources are transmitted as JSON over standard HTTP (REST API), making them readable by any programming language or platform.</a:t>
            </a:r>
            <a:endParaRPr lang="en-US" sz="1200" dirty="0"/>
          </a:p>
        </p:txBody>
      </p:sp>
      <p:sp>
        <p:nvSpPr>
          <p:cNvPr id="14" name="Text 12"/>
          <p:cNvSpPr/>
          <p:nvPr/>
        </p:nvSpPr>
        <p:spPr>
          <a:xfrm>
            <a:off x="4663440" y="1353312"/>
            <a:ext cx="4114800" cy="292608"/>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Key FHIR Resources Used in Smartband V001</a:t>
            </a:r>
            <a:endParaRPr lang="en-US" sz="1400" dirty="0"/>
          </a:p>
        </p:txBody>
      </p:sp>
      <p:sp>
        <p:nvSpPr>
          <p:cNvPr id="15" name="Shape 13"/>
          <p:cNvSpPr/>
          <p:nvPr/>
        </p:nvSpPr>
        <p:spPr>
          <a:xfrm>
            <a:off x="4663440" y="1719072"/>
            <a:ext cx="4114800" cy="475488"/>
          </a:xfrm>
          <a:prstGeom prst="rect">
            <a:avLst/>
          </a:prstGeom>
          <a:solidFill>
            <a:srgbClr val="FFFFFF"/>
          </a:solidFill>
          <a:ln/>
          <a:effectLst>
            <a:outerShdw blurRad="50800" dist="25400" dir="8100000" algn="bl" rotWithShape="0">
              <a:srgbClr val="000000">
                <a:alpha val="7000"/>
              </a:srgbClr>
            </a:outerShdw>
          </a:effectLst>
        </p:spPr>
      </p:sp>
      <p:sp>
        <p:nvSpPr>
          <p:cNvPr id="16" name="Shape 14"/>
          <p:cNvSpPr/>
          <p:nvPr/>
        </p:nvSpPr>
        <p:spPr>
          <a:xfrm>
            <a:off x="4663440" y="1719072"/>
            <a:ext cx="54864" cy="475488"/>
          </a:xfrm>
          <a:prstGeom prst="rect">
            <a:avLst/>
          </a:prstGeom>
          <a:solidFill>
            <a:srgbClr val="028090"/>
          </a:solidFill>
          <a:ln/>
        </p:spPr>
      </p:sp>
      <p:sp>
        <p:nvSpPr>
          <p:cNvPr id="17" name="Text 15"/>
          <p:cNvSpPr/>
          <p:nvPr/>
        </p:nvSpPr>
        <p:spPr>
          <a:xfrm>
            <a:off x="4773168" y="1746504"/>
            <a:ext cx="1097280" cy="201168"/>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Patient</a:t>
            </a:r>
            <a:endParaRPr lang="en-US" sz="1200" dirty="0"/>
          </a:p>
        </p:txBody>
      </p:sp>
      <p:sp>
        <p:nvSpPr>
          <p:cNvPr id="18" name="Text 16"/>
          <p:cNvSpPr/>
          <p:nvPr/>
        </p:nvSpPr>
        <p:spPr>
          <a:xfrm>
            <a:off x="4773168" y="1965960"/>
            <a:ext cx="3877056" cy="20116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Stores the wearer's demographics, age, weight, height, and device assignment</a:t>
            </a:r>
            <a:endParaRPr lang="en-US" sz="1000" dirty="0"/>
          </a:p>
        </p:txBody>
      </p:sp>
      <p:sp>
        <p:nvSpPr>
          <p:cNvPr id="19" name="Shape 17"/>
          <p:cNvSpPr/>
          <p:nvPr/>
        </p:nvSpPr>
        <p:spPr>
          <a:xfrm>
            <a:off x="4663440" y="2286000"/>
            <a:ext cx="4114800" cy="475488"/>
          </a:xfrm>
          <a:prstGeom prst="rect">
            <a:avLst/>
          </a:prstGeom>
          <a:solidFill>
            <a:srgbClr val="FFFFFF"/>
          </a:solidFill>
          <a:ln/>
          <a:effectLst>
            <a:outerShdw blurRad="50800" dist="25400" dir="8100000" algn="bl" rotWithShape="0">
              <a:srgbClr val="000000">
                <a:alpha val="7000"/>
              </a:srgbClr>
            </a:outerShdw>
          </a:effectLst>
        </p:spPr>
      </p:sp>
      <p:sp>
        <p:nvSpPr>
          <p:cNvPr id="20" name="Shape 18"/>
          <p:cNvSpPr/>
          <p:nvPr/>
        </p:nvSpPr>
        <p:spPr>
          <a:xfrm>
            <a:off x="4663440" y="2286000"/>
            <a:ext cx="54864" cy="475488"/>
          </a:xfrm>
          <a:prstGeom prst="rect">
            <a:avLst/>
          </a:prstGeom>
          <a:solidFill>
            <a:srgbClr val="0D1B2A"/>
          </a:solidFill>
          <a:ln/>
        </p:spPr>
      </p:sp>
      <p:sp>
        <p:nvSpPr>
          <p:cNvPr id="21" name="Text 19"/>
          <p:cNvSpPr/>
          <p:nvPr/>
        </p:nvSpPr>
        <p:spPr>
          <a:xfrm>
            <a:off x="4773168" y="2313432"/>
            <a:ext cx="1097280" cy="20116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Observation</a:t>
            </a:r>
            <a:endParaRPr lang="en-US" sz="1200" dirty="0"/>
          </a:p>
        </p:txBody>
      </p:sp>
      <p:sp>
        <p:nvSpPr>
          <p:cNvPr id="22" name="Text 20"/>
          <p:cNvSpPr/>
          <p:nvPr/>
        </p:nvSpPr>
        <p:spPr>
          <a:xfrm>
            <a:off x="4773168" y="2532888"/>
            <a:ext cx="3877056" cy="20116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Every single sensor reading — HR, temperature, SpO2, acceleration — as a structured data object</a:t>
            </a:r>
            <a:endParaRPr lang="en-US" sz="1000" dirty="0"/>
          </a:p>
        </p:txBody>
      </p:sp>
      <p:sp>
        <p:nvSpPr>
          <p:cNvPr id="23" name="Shape 21"/>
          <p:cNvSpPr/>
          <p:nvPr/>
        </p:nvSpPr>
        <p:spPr>
          <a:xfrm>
            <a:off x="4663440" y="2852928"/>
            <a:ext cx="4114800" cy="475488"/>
          </a:xfrm>
          <a:prstGeom prst="rect">
            <a:avLst/>
          </a:prstGeom>
          <a:solidFill>
            <a:srgbClr val="FFFFFF"/>
          </a:solidFill>
          <a:ln/>
          <a:effectLst>
            <a:outerShdw blurRad="50800" dist="25400" dir="8100000" algn="bl" rotWithShape="0">
              <a:srgbClr val="000000">
                <a:alpha val="7000"/>
              </a:srgbClr>
            </a:outerShdw>
          </a:effectLst>
        </p:spPr>
      </p:sp>
      <p:sp>
        <p:nvSpPr>
          <p:cNvPr id="24" name="Shape 22"/>
          <p:cNvSpPr/>
          <p:nvPr/>
        </p:nvSpPr>
        <p:spPr>
          <a:xfrm>
            <a:off x="4663440" y="2852928"/>
            <a:ext cx="54864" cy="475488"/>
          </a:xfrm>
          <a:prstGeom prst="rect">
            <a:avLst/>
          </a:prstGeom>
          <a:solidFill>
            <a:srgbClr val="028090"/>
          </a:solidFill>
          <a:ln/>
        </p:spPr>
      </p:sp>
      <p:sp>
        <p:nvSpPr>
          <p:cNvPr id="25" name="Text 23"/>
          <p:cNvSpPr/>
          <p:nvPr/>
        </p:nvSpPr>
        <p:spPr>
          <a:xfrm>
            <a:off x="4773168" y="2880360"/>
            <a:ext cx="1097280" cy="201168"/>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Bundle</a:t>
            </a:r>
            <a:endParaRPr lang="en-US" sz="1200" dirty="0"/>
          </a:p>
        </p:txBody>
      </p:sp>
      <p:sp>
        <p:nvSpPr>
          <p:cNvPr id="26" name="Text 24"/>
          <p:cNvSpPr/>
          <p:nvPr/>
        </p:nvSpPr>
        <p:spPr>
          <a:xfrm>
            <a:off x="4773168" y="3099816"/>
            <a:ext cx="3877056" cy="20116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A container that groups multiple Observations together into one API response</a:t>
            </a:r>
            <a:endParaRPr lang="en-US" sz="1000" dirty="0"/>
          </a:p>
        </p:txBody>
      </p:sp>
      <p:sp>
        <p:nvSpPr>
          <p:cNvPr id="27" name="Shape 25"/>
          <p:cNvSpPr/>
          <p:nvPr/>
        </p:nvSpPr>
        <p:spPr>
          <a:xfrm>
            <a:off x="4663440" y="3419856"/>
            <a:ext cx="4114800" cy="475488"/>
          </a:xfrm>
          <a:prstGeom prst="rect">
            <a:avLst/>
          </a:prstGeom>
          <a:solidFill>
            <a:srgbClr val="FFFFFF"/>
          </a:solidFill>
          <a:ln/>
          <a:effectLst>
            <a:outerShdw blurRad="50800" dist="25400" dir="8100000" algn="bl" rotWithShape="0">
              <a:srgbClr val="000000">
                <a:alpha val="7000"/>
              </a:srgbClr>
            </a:outerShdw>
          </a:effectLst>
        </p:spPr>
      </p:sp>
      <p:sp>
        <p:nvSpPr>
          <p:cNvPr id="28" name="Shape 26"/>
          <p:cNvSpPr/>
          <p:nvPr/>
        </p:nvSpPr>
        <p:spPr>
          <a:xfrm>
            <a:off x="4663440" y="3419856"/>
            <a:ext cx="54864" cy="475488"/>
          </a:xfrm>
          <a:prstGeom prst="rect">
            <a:avLst/>
          </a:prstGeom>
          <a:solidFill>
            <a:srgbClr val="7C3AED"/>
          </a:solidFill>
          <a:ln/>
        </p:spPr>
      </p:sp>
      <p:sp>
        <p:nvSpPr>
          <p:cNvPr id="29" name="Text 27"/>
          <p:cNvSpPr/>
          <p:nvPr/>
        </p:nvSpPr>
        <p:spPr>
          <a:xfrm>
            <a:off x="4773168" y="3447288"/>
            <a:ext cx="1097280" cy="201168"/>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Condition</a:t>
            </a:r>
            <a:endParaRPr lang="en-US" sz="1200" dirty="0"/>
          </a:p>
        </p:txBody>
      </p:sp>
      <p:sp>
        <p:nvSpPr>
          <p:cNvPr id="30" name="Text 28"/>
          <p:cNvSpPr/>
          <p:nvPr/>
        </p:nvSpPr>
        <p:spPr>
          <a:xfrm>
            <a:off x="4773168" y="3666744"/>
            <a:ext cx="3877056" cy="20116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Records a detected health condition or alert — e.g. elevated heart rate episode</a:t>
            </a:r>
            <a:endParaRPr lang="en-US" sz="1000" dirty="0"/>
          </a:p>
        </p:txBody>
      </p:sp>
      <p:sp>
        <p:nvSpPr>
          <p:cNvPr id="31" name="Shape 29"/>
          <p:cNvSpPr/>
          <p:nvPr/>
        </p:nvSpPr>
        <p:spPr>
          <a:xfrm>
            <a:off x="4663440" y="3986784"/>
            <a:ext cx="4114800" cy="475488"/>
          </a:xfrm>
          <a:prstGeom prst="rect">
            <a:avLst/>
          </a:prstGeom>
          <a:solidFill>
            <a:srgbClr val="FFFFFF"/>
          </a:solidFill>
          <a:ln/>
          <a:effectLst>
            <a:outerShdw blurRad="50800" dist="25400" dir="8100000" algn="bl" rotWithShape="0">
              <a:srgbClr val="000000">
                <a:alpha val="7000"/>
              </a:srgbClr>
            </a:outerShdw>
          </a:effectLst>
        </p:spPr>
      </p:sp>
      <p:sp>
        <p:nvSpPr>
          <p:cNvPr id="32" name="Shape 30"/>
          <p:cNvSpPr/>
          <p:nvPr/>
        </p:nvSpPr>
        <p:spPr>
          <a:xfrm>
            <a:off x="4663440" y="3986784"/>
            <a:ext cx="54864" cy="475488"/>
          </a:xfrm>
          <a:prstGeom prst="rect">
            <a:avLst/>
          </a:prstGeom>
          <a:solidFill>
            <a:srgbClr val="E87A1A"/>
          </a:solidFill>
          <a:ln/>
        </p:spPr>
      </p:sp>
      <p:sp>
        <p:nvSpPr>
          <p:cNvPr id="33" name="Text 31"/>
          <p:cNvSpPr/>
          <p:nvPr/>
        </p:nvSpPr>
        <p:spPr>
          <a:xfrm>
            <a:off x="4773168" y="4014216"/>
            <a:ext cx="1097280" cy="201168"/>
          </a:xfrm>
          <a:prstGeom prst="rect">
            <a:avLst/>
          </a:prstGeom>
          <a:noFill/>
          <a:ln/>
        </p:spPr>
        <p:txBody>
          <a:bodyPr wrap="square" lIns="0" tIns="0" rIns="0" bIns="0" rtlCol="0" anchor="ctr"/>
          <a:lstStyle/>
          <a:p>
            <a:pPr marL="0" indent="0">
              <a:buNone/>
            </a:pPr>
            <a:r>
              <a:rPr lang="en-US" sz="1200" b="1" dirty="0">
                <a:solidFill>
                  <a:srgbClr val="E87A1A"/>
                </a:solidFill>
                <a:latin typeface="Calibri" pitchFamily="34" charset="0"/>
                <a:ea typeface="Calibri" pitchFamily="34" charset="-122"/>
                <a:cs typeface="Calibri" pitchFamily="34" charset="-120"/>
              </a:rPr>
              <a:t>CarePlan</a:t>
            </a:r>
            <a:endParaRPr lang="en-US" sz="1200" dirty="0"/>
          </a:p>
        </p:txBody>
      </p:sp>
      <p:sp>
        <p:nvSpPr>
          <p:cNvPr id="34" name="Text 32"/>
          <p:cNvSpPr/>
          <p:nvPr/>
        </p:nvSpPr>
        <p:spPr>
          <a:xfrm>
            <a:off x="4773168" y="4233672"/>
            <a:ext cx="3877056" cy="20116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The doctor's monitoring plan — thresholds, instructions, follow-up schedule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46892"/>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Why FHIR for Smartband V001? — Six Key Reasons</a:t>
            </a:r>
            <a:endParaRPr lang="en-US" sz="2200" dirty="0"/>
          </a:p>
        </p:txBody>
      </p:sp>
      <p:sp>
        <p:nvSpPr>
          <p:cNvPr id="5" name="Shape 3"/>
          <p:cNvSpPr/>
          <p:nvPr/>
        </p:nvSpPr>
        <p:spPr>
          <a:xfrm>
            <a:off x="3908"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Without FHIR, the Smartband's data is a proprietary island. With FHIR, it becomes part of the global health data ecosystem — readable by any hospital, app, or research platform in the world.</a:t>
            </a:r>
            <a:endParaRPr lang="en-US" sz="1200" dirty="0"/>
          </a:p>
        </p:txBody>
      </p:sp>
      <p:sp>
        <p:nvSpPr>
          <p:cNvPr id="10" name="Shape 8"/>
          <p:cNvSpPr/>
          <p:nvPr/>
        </p:nvSpPr>
        <p:spPr>
          <a:xfrm>
            <a:off x="365760" y="1325880"/>
            <a:ext cx="4131994" cy="1124712"/>
          </a:xfrm>
          <a:prstGeom prst="rect">
            <a:avLst/>
          </a:prstGeom>
          <a:solidFill>
            <a:srgbClr val="FFFFFF"/>
          </a:solidFill>
          <a:ln/>
          <a:effectLst>
            <a:outerShdw blurRad="63500" dist="25400" dir="8100000" algn="bl" rotWithShape="0">
              <a:srgbClr val="000000">
                <a:alpha val="8000"/>
              </a:srgbClr>
            </a:outerShdw>
          </a:effectLst>
        </p:spPr>
      </p:sp>
      <p:sp>
        <p:nvSpPr>
          <p:cNvPr id="11" name="Shape 9"/>
          <p:cNvSpPr/>
          <p:nvPr/>
        </p:nvSpPr>
        <p:spPr>
          <a:xfrm>
            <a:off x="365760" y="1325880"/>
            <a:ext cx="640080" cy="1024128"/>
          </a:xfrm>
          <a:prstGeom prst="rect">
            <a:avLst/>
          </a:prstGeom>
          <a:solidFill>
            <a:srgbClr val="028090"/>
          </a:solidFill>
          <a:ln/>
        </p:spPr>
      </p:sp>
      <p:pic>
        <p:nvPicPr>
          <p:cNvPr id="12" name="Image 0" descr="preencoded.png"/>
          <p:cNvPicPr>
            <a:picLocks noChangeAspect="1"/>
          </p:cNvPicPr>
          <p:nvPr/>
        </p:nvPicPr>
        <p:blipFill>
          <a:blip r:embed="rId3"/>
          <a:stretch>
            <a:fillRect/>
          </a:stretch>
        </p:blipFill>
        <p:spPr>
          <a:xfrm>
            <a:off x="475488" y="1600200"/>
            <a:ext cx="420624" cy="420624"/>
          </a:xfrm>
          <a:prstGeom prst="rect">
            <a:avLst/>
          </a:prstGeom>
        </p:spPr>
      </p:pic>
      <p:sp>
        <p:nvSpPr>
          <p:cNvPr id="13" name="Text 10"/>
          <p:cNvSpPr/>
          <p:nvPr/>
        </p:nvSpPr>
        <p:spPr>
          <a:xfrm>
            <a:off x="1115568" y="1380744"/>
            <a:ext cx="329184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Interoperability</a:t>
            </a:r>
            <a:endParaRPr lang="en-US" sz="1300" dirty="0"/>
          </a:p>
        </p:txBody>
      </p:sp>
      <p:sp>
        <p:nvSpPr>
          <p:cNvPr id="14" name="Text 11"/>
          <p:cNvSpPr/>
          <p:nvPr/>
        </p:nvSpPr>
        <p:spPr>
          <a:xfrm>
            <a:off x="1115568" y="1618488"/>
            <a:ext cx="3291840" cy="182880"/>
          </a:xfrm>
          <a:prstGeom prst="rect">
            <a:avLst/>
          </a:prstGeom>
          <a:noFill/>
          <a:ln/>
        </p:spPr>
        <p:txBody>
          <a:bodyPr wrap="square" lIns="0" tIns="0" rIns="0" bIns="0" rtlCol="0" anchor="ctr"/>
          <a:lstStyle/>
          <a:p>
            <a:pPr marL="0" indent="0">
              <a:buNone/>
            </a:pPr>
            <a:r>
              <a:rPr lang="en-US" sz="1000" i="1" dirty="0">
                <a:solidFill>
                  <a:srgbClr val="028090"/>
                </a:solidFill>
                <a:latin typeface="Calibri" pitchFamily="34" charset="0"/>
                <a:ea typeface="Calibri" pitchFamily="34" charset="-122"/>
                <a:cs typeface="Calibri" pitchFamily="34" charset="-120"/>
              </a:rPr>
              <a:t>Works with any EHR or health app worldwide</a:t>
            </a:r>
            <a:endParaRPr lang="en-US" sz="1000" dirty="0"/>
          </a:p>
        </p:txBody>
      </p:sp>
      <p:sp>
        <p:nvSpPr>
          <p:cNvPr id="15" name="Text 12"/>
          <p:cNvSpPr/>
          <p:nvPr/>
        </p:nvSpPr>
        <p:spPr>
          <a:xfrm>
            <a:off x="1115568" y="1828800"/>
            <a:ext cx="3291840" cy="475488"/>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FHIR-compliant data can be consumed by Epic, Cerner, OpenMRS, and thousands of other systems without writing a single line of custom integration code. One standard, infinite connections.</a:t>
            </a:r>
            <a:endParaRPr lang="en-US" sz="1000" dirty="0"/>
          </a:p>
        </p:txBody>
      </p:sp>
      <p:sp>
        <p:nvSpPr>
          <p:cNvPr id="16" name="Shape 13"/>
          <p:cNvSpPr/>
          <p:nvPr/>
        </p:nvSpPr>
        <p:spPr>
          <a:xfrm>
            <a:off x="4800600" y="1325880"/>
            <a:ext cx="4160520" cy="1143000"/>
          </a:xfrm>
          <a:prstGeom prst="rect">
            <a:avLst/>
          </a:prstGeom>
          <a:solidFill>
            <a:srgbClr val="FFFFFF"/>
          </a:solidFill>
          <a:ln/>
          <a:effectLst>
            <a:outerShdw blurRad="63500" dist="25400" dir="8100000" algn="bl" rotWithShape="0">
              <a:srgbClr val="000000">
                <a:alpha val="8000"/>
              </a:srgbClr>
            </a:outerShdw>
          </a:effectLst>
        </p:spPr>
      </p:sp>
      <p:sp>
        <p:nvSpPr>
          <p:cNvPr id="17" name="Shape 14"/>
          <p:cNvSpPr/>
          <p:nvPr/>
        </p:nvSpPr>
        <p:spPr>
          <a:xfrm>
            <a:off x="4800600" y="1325880"/>
            <a:ext cx="640080" cy="1024128"/>
          </a:xfrm>
          <a:prstGeom prst="rect">
            <a:avLst/>
          </a:prstGeom>
          <a:solidFill>
            <a:srgbClr val="18A058"/>
          </a:solidFill>
          <a:ln/>
        </p:spPr>
      </p:sp>
      <p:pic>
        <p:nvPicPr>
          <p:cNvPr id="18" name="Image 1" descr="preencoded.png"/>
          <p:cNvPicPr>
            <a:picLocks noChangeAspect="1"/>
          </p:cNvPicPr>
          <p:nvPr/>
        </p:nvPicPr>
        <p:blipFill>
          <a:blip r:embed="rId4"/>
          <a:stretch>
            <a:fillRect/>
          </a:stretch>
        </p:blipFill>
        <p:spPr>
          <a:xfrm>
            <a:off x="4910328" y="1600200"/>
            <a:ext cx="420624" cy="420624"/>
          </a:xfrm>
          <a:prstGeom prst="rect">
            <a:avLst/>
          </a:prstGeom>
        </p:spPr>
      </p:pic>
      <p:sp>
        <p:nvSpPr>
          <p:cNvPr id="19" name="Text 15"/>
          <p:cNvSpPr/>
          <p:nvPr/>
        </p:nvSpPr>
        <p:spPr>
          <a:xfrm>
            <a:off x="5550408" y="1380744"/>
            <a:ext cx="329184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Clinical Validity</a:t>
            </a:r>
            <a:endParaRPr lang="en-US" sz="1300" dirty="0"/>
          </a:p>
        </p:txBody>
      </p:sp>
      <p:sp>
        <p:nvSpPr>
          <p:cNvPr id="20" name="Text 16"/>
          <p:cNvSpPr/>
          <p:nvPr/>
        </p:nvSpPr>
        <p:spPr>
          <a:xfrm>
            <a:off x="5550408" y="1618488"/>
            <a:ext cx="3291840" cy="182880"/>
          </a:xfrm>
          <a:prstGeom prst="rect">
            <a:avLst/>
          </a:prstGeom>
          <a:noFill/>
          <a:ln/>
        </p:spPr>
        <p:txBody>
          <a:bodyPr wrap="square" lIns="0" tIns="0" rIns="0" bIns="0" rtlCol="0" anchor="ctr"/>
          <a:lstStyle/>
          <a:p>
            <a:pPr marL="0" indent="0">
              <a:buNone/>
            </a:pPr>
            <a:r>
              <a:rPr lang="en-US" sz="1000" i="1" dirty="0">
                <a:solidFill>
                  <a:srgbClr val="18A058"/>
                </a:solidFill>
                <a:latin typeface="Calibri" pitchFamily="34" charset="0"/>
                <a:ea typeface="Calibri" pitchFamily="34" charset="-122"/>
                <a:cs typeface="Calibri" pitchFamily="34" charset="-120"/>
              </a:rPr>
              <a:t>LOINC + UCUM ensure correct interpretation</a:t>
            </a:r>
            <a:endParaRPr lang="en-US" sz="1000" dirty="0"/>
          </a:p>
        </p:txBody>
      </p:sp>
      <p:sp>
        <p:nvSpPr>
          <p:cNvPr id="21" name="Text 17"/>
          <p:cNvSpPr/>
          <p:nvPr/>
        </p:nvSpPr>
        <p:spPr>
          <a:xfrm>
            <a:off x="5550408" y="1828800"/>
            <a:ext cx="3291840" cy="475488"/>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Every sensor reading carries an internationally agreed code (LOINC) and unit (UCUM). A heart rate reading from Smartband V001 means exactly the same thing to a doctor in Germany as it does in Japan or the USA.</a:t>
            </a:r>
            <a:endParaRPr lang="en-US" sz="1000" dirty="0"/>
          </a:p>
        </p:txBody>
      </p:sp>
      <p:sp>
        <p:nvSpPr>
          <p:cNvPr id="22" name="Shape 18"/>
          <p:cNvSpPr/>
          <p:nvPr/>
        </p:nvSpPr>
        <p:spPr>
          <a:xfrm>
            <a:off x="365760" y="2514600"/>
            <a:ext cx="4160520" cy="1097280"/>
          </a:xfrm>
          <a:prstGeom prst="rect">
            <a:avLst/>
          </a:prstGeom>
          <a:solidFill>
            <a:srgbClr val="FFFFFF"/>
          </a:solidFill>
          <a:ln/>
          <a:effectLst>
            <a:outerShdw blurRad="63500" dist="25400" dir="8100000" algn="bl" rotWithShape="0">
              <a:srgbClr val="000000">
                <a:alpha val="8000"/>
              </a:srgbClr>
            </a:outerShdw>
          </a:effectLst>
        </p:spPr>
      </p:sp>
      <p:sp>
        <p:nvSpPr>
          <p:cNvPr id="23" name="Shape 19"/>
          <p:cNvSpPr/>
          <p:nvPr/>
        </p:nvSpPr>
        <p:spPr>
          <a:xfrm>
            <a:off x="365760" y="2514600"/>
            <a:ext cx="640080" cy="1024128"/>
          </a:xfrm>
          <a:prstGeom prst="rect">
            <a:avLst/>
          </a:prstGeom>
          <a:solidFill>
            <a:srgbClr val="0D1B2A"/>
          </a:solidFill>
          <a:ln/>
        </p:spPr>
      </p:sp>
      <p:pic>
        <p:nvPicPr>
          <p:cNvPr id="24" name="Image 2" descr="preencoded.png"/>
          <p:cNvPicPr>
            <a:picLocks noChangeAspect="1"/>
          </p:cNvPicPr>
          <p:nvPr/>
        </p:nvPicPr>
        <p:blipFill>
          <a:blip r:embed="rId5"/>
          <a:stretch>
            <a:fillRect/>
          </a:stretch>
        </p:blipFill>
        <p:spPr>
          <a:xfrm>
            <a:off x="475488" y="2788920"/>
            <a:ext cx="420624" cy="420624"/>
          </a:xfrm>
          <a:prstGeom prst="rect">
            <a:avLst/>
          </a:prstGeom>
        </p:spPr>
      </p:pic>
      <p:sp>
        <p:nvSpPr>
          <p:cNvPr id="25" name="Text 20"/>
          <p:cNvSpPr/>
          <p:nvPr/>
        </p:nvSpPr>
        <p:spPr>
          <a:xfrm>
            <a:off x="1115568" y="2569464"/>
            <a:ext cx="329184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Research Ready</a:t>
            </a:r>
            <a:endParaRPr lang="en-US" sz="1300" dirty="0"/>
          </a:p>
        </p:txBody>
      </p:sp>
      <p:sp>
        <p:nvSpPr>
          <p:cNvPr id="26" name="Text 21"/>
          <p:cNvSpPr/>
          <p:nvPr/>
        </p:nvSpPr>
        <p:spPr>
          <a:xfrm>
            <a:off x="1115568" y="2807208"/>
            <a:ext cx="3291840" cy="182880"/>
          </a:xfrm>
          <a:prstGeom prst="rect">
            <a:avLst/>
          </a:prstGeom>
          <a:noFill/>
          <a:ln/>
        </p:spPr>
        <p:txBody>
          <a:bodyPr wrap="square" lIns="0" tIns="0" rIns="0" bIns="0" rtlCol="0" anchor="ctr"/>
          <a:lstStyle/>
          <a:p>
            <a:pPr marL="0" indent="0">
              <a:buNone/>
            </a:pPr>
            <a:r>
              <a:rPr lang="en-US" sz="1000" i="1" dirty="0">
                <a:solidFill>
                  <a:srgbClr val="0D1B2A"/>
                </a:solidFill>
                <a:latin typeface="Calibri" pitchFamily="34" charset="0"/>
                <a:ea typeface="Calibri" pitchFamily="34" charset="-122"/>
                <a:cs typeface="Calibri" pitchFamily="34" charset="-120"/>
              </a:rPr>
              <a:t>Direct import into research platforms</a:t>
            </a:r>
            <a:endParaRPr lang="en-US" sz="1000" dirty="0"/>
          </a:p>
        </p:txBody>
      </p:sp>
      <p:sp>
        <p:nvSpPr>
          <p:cNvPr id="27" name="Text 22"/>
          <p:cNvSpPr/>
          <p:nvPr/>
        </p:nvSpPr>
        <p:spPr>
          <a:xfrm>
            <a:off x="1115568" y="3017520"/>
            <a:ext cx="3291840" cy="539496"/>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FHIR-formatted data can be loaded directly into clinical research databases like the N3C COVID Cohort or hospital analytics platforms, enabling Smartband data to contribute to real medical studies.</a:t>
            </a:r>
            <a:endParaRPr lang="en-US" sz="1000" dirty="0"/>
          </a:p>
        </p:txBody>
      </p:sp>
      <p:sp>
        <p:nvSpPr>
          <p:cNvPr id="28" name="Shape 23"/>
          <p:cNvSpPr/>
          <p:nvPr/>
        </p:nvSpPr>
        <p:spPr>
          <a:xfrm>
            <a:off x="4800599" y="2514600"/>
            <a:ext cx="4230077" cy="1133856"/>
          </a:xfrm>
          <a:prstGeom prst="rect">
            <a:avLst/>
          </a:prstGeom>
          <a:solidFill>
            <a:srgbClr val="FFFFFF"/>
          </a:solidFill>
          <a:ln/>
          <a:effectLst>
            <a:outerShdw blurRad="63500" dist="25400" dir="8100000" algn="bl" rotWithShape="0">
              <a:srgbClr val="000000">
                <a:alpha val="8000"/>
              </a:srgbClr>
            </a:outerShdw>
          </a:effectLst>
        </p:spPr>
      </p:sp>
      <p:sp>
        <p:nvSpPr>
          <p:cNvPr id="29" name="Shape 24"/>
          <p:cNvSpPr/>
          <p:nvPr/>
        </p:nvSpPr>
        <p:spPr>
          <a:xfrm>
            <a:off x="4800600" y="2514600"/>
            <a:ext cx="640080" cy="1024128"/>
          </a:xfrm>
          <a:prstGeom prst="rect">
            <a:avLst/>
          </a:prstGeom>
          <a:solidFill>
            <a:srgbClr val="E84040"/>
          </a:solidFill>
          <a:ln/>
        </p:spPr>
      </p:sp>
      <p:pic>
        <p:nvPicPr>
          <p:cNvPr id="30" name="Image 3" descr="preencoded.png"/>
          <p:cNvPicPr>
            <a:picLocks noChangeAspect="1"/>
          </p:cNvPicPr>
          <p:nvPr/>
        </p:nvPicPr>
        <p:blipFill>
          <a:blip r:embed="rId6"/>
          <a:stretch>
            <a:fillRect/>
          </a:stretch>
        </p:blipFill>
        <p:spPr>
          <a:xfrm>
            <a:off x="4910328" y="2788920"/>
            <a:ext cx="420624" cy="420624"/>
          </a:xfrm>
          <a:prstGeom prst="rect">
            <a:avLst/>
          </a:prstGeom>
        </p:spPr>
      </p:pic>
      <p:sp>
        <p:nvSpPr>
          <p:cNvPr id="31" name="Text 25"/>
          <p:cNvSpPr/>
          <p:nvPr/>
        </p:nvSpPr>
        <p:spPr>
          <a:xfrm>
            <a:off x="5550408" y="2569464"/>
            <a:ext cx="329184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Regulatory Alignment</a:t>
            </a:r>
            <a:endParaRPr lang="en-US" sz="1300" dirty="0"/>
          </a:p>
        </p:txBody>
      </p:sp>
      <p:sp>
        <p:nvSpPr>
          <p:cNvPr id="32" name="Text 26"/>
          <p:cNvSpPr/>
          <p:nvPr/>
        </p:nvSpPr>
        <p:spPr>
          <a:xfrm>
            <a:off x="5550408" y="2807208"/>
            <a:ext cx="3291840" cy="182880"/>
          </a:xfrm>
          <a:prstGeom prst="rect">
            <a:avLst/>
          </a:prstGeom>
          <a:noFill/>
          <a:ln/>
        </p:spPr>
        <p:txBody>
          <a:bodyPr wrap="square" lIns="0" tIns="0" rIns="0" bIns="0" rtlCol="0" anchor="ctr"/>
          <a:lstStyle/>
          <a:p>
            <a:pPr marL="0" indent="0">
              <a:buNone/>
            </a:pPr>
            <a:r>
              <a:rPr lang="en-US" sz="1000" i="1" dirty="0">
                <a:solidFill>
                  <a:srgbClr val="E84040"/>
                </a:solidFill>
                <a:latin typeface="Calibri" pitchFamily="34" charset="0"/>
                <a:ea typeface="Calibri" pitchFamily="34" charset="-122"/>
                <a:cs typeface="Calibri" pitchFamily="34" charset="-120"/>
              </a:rPr>
              <a:t>EU MDR and FDA increasingly require FHIR</a:t>
            </a:r>
            <a:endParaRPr lang="en-US" sz="1000" dirty="0"/>
          </a:p>
        </p:txBody>
      </p:sp>
      <p:sp>
        <p:nvSpPr>
          <p:cNvPr id="33" name="Text 27"/>
          <p:cNvSpPr/>
          <p:nvPr/>
        </p:nvSpPr>
        <p:spPr>
          <a:xfrm>
            <a:off x="5550408" y="3017520"/>
            <a:ext cx="3291840" cy="475488"/>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The EU Medical Device Regulation (MDR 2017/745) and the US FDA both increasingly require or strongly recommend FHIR compliance for connected medical devices. Building it now prevents costly retrofits later.</a:t>
            </a:r>
            <a:endParaRPr lang="en-US" sz="1000" dirty="0"/>
          </a:p>
        </p:txBody>
      </p:sp>
      <p:sp>
        <p:nvSpPr>
          <p:cNvPr id="34" name="Shape 28"/>
          <p:cNvSpPr/>
          <p:nvPr/>
        </p:nvSpPr>
        <p:spPr>
          <a:xfrm>
            <a:off x="365759" y="3703320"/>
            <a:ext cx="4241409" cy="1106424"/>
          </a:xfrm>
          <a:prstGeom prst="rect">
            <a:avLst/>
          </a:prstGeom>
          <a:solidFill>
            <a:srgbClr val="FFFFFF"/>
          </a:solidFill>
          <a:ln/>
          <a:effectLst>
            <a:outerShdw blurRad="63500" dist="25400" dir="8100000" algn="bl" rotWithShape="0">
              <a:srgbClr val="000000">
                <a:alpha val="8000"/>
              </a:srgbClr>
            </a:outerShdw>
          </a:effectLst>
        </p:spPr>
      </p:sp>
      <p:sp>
        <p:nvSpPr>
          <p:cNvPr id="35" name="Shape 29"/>
          <p:cNvSpPr/>
          <p:nvPr/>
        </p:nvSpPr>
        <p:spPr>
          <a:xfrm>
            <a:off x="365760" y="3703320"/>
            <a:ext cx="640080" cy="1024128"/>
          </a:xfrm>
          <a:prstGeom prst="rect">
            <a:avLst/>
          </a:prstGeom>
          <a:solidFill>
            <a:srgbClr val="7C3AED"/>
          </a:solidFill>
          <a:ln/>
        </p:spPr>
      </p:sp>
      <p:pic>
        <p:nvPicPr>
          <p:cNvPr id="36" name="Image 4" descr="preencoded.png"/>
          <p:cNvPicPr>
            <a:picLocks noChangeAspect="1"/>
          </p:cNvPicPr>
          <p:nvPr/>
        </p:nvPicPr>
        <p:blipFill>
          <a:blip r:embed="rId7"/>
          <a:stretch>
            <a:fillRect/>
          </a:stretch>
        </p:blipFill>
        <p:spPr>
          <a:xfrm>
            <a:off x="475488" y="3977640"/>
            <a:ext cx="420624" cy="420624"/>
          </a:xfrm>
          <a:prstGeom prst="rect">
            <a:avLst/>
          </a:prstGeom>
        </p:spPr>
      </p:pic>
      <p:sp>
        <p:nvSpPr>
          <p:cNvPr id="37" name="Text 30"/>
          <p:cNvSpPr/>
          <p:nvPr/>
        </p:nvSpPr>
        <p:spPr>
          <a:xfrm>
            <a:off x="1115568" y="3758184"/>
            <a:ext cx="329184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EHR Integration</a:t>
            </a:r>
            <a:endParaRPr lang="en-US" sz="1300" dirty="0"/>
          </a:p>
        </p:txBody>
      </p:sp>
      <p:sp>
        <p:nvSpPr>
          <p:cNvPr id="38" name="Text 31"/>
          <p:cNvSpPr/>
          <p:nvPr/>
        </p:nvSpPr>
        <p:spPr>
          <a:xfrm>
            <a:off x="1115568" y="3995928"/>
            <a:ext cx="3291840" cy="182880"/>
          </a:xfrm>
          <a:prstGeom prst="rect">
            <a:avLst/>
          </a:prstGeom>
          <a:noFill/>
          <a:ln/>
        </p:spPr>
        <p:txBody>
          <a:bodyPr wrap="square" lIns="0" tIns="0" rIns="0" bIns="0" rtlCol="0" anchor="ctr"/>
          <a:lstStyle/>
          <a:p>
            <a:pPr marL="0" indent="0">
              <a:buNone/>
            </a:pPr>
            <a:r>
              <a:rPr lang="en-US" sz="1000" i="1" dirty="0">
                <a:solidFill>
                  <a:srgbClr val="7C3AED"/>
                </a:solidFill>
                <a:latin typeface="Calibri" pitchFamily="34" charset="0"/>
                <a:ea typeface="Calibri" pitchFamily="34" charset="-122"/>
                <a:cs typeface="Calibri" pitchFamily="34" charset="-120"/>
              </a:rPr>
              <a:t>Connects to Epic, Cerner, OpenMRS directly</a:t>
            </a:r>
            <a:endParaRPr lang="en-US" sz="1000" dirty="0"/>
          </a:p>
        </p:txBody>
      </p:sp>
      <p:sp>
        <p:nvSpPr>
          <p:cNvPr id="39" name="Text 32"/>
          <p:cNvSpPr/>
          <p:nvPr/>
        </p:nvSpPr>
        <p:spPr>
          <a:xfrm>
            <a:off x="1115568" y="4206240"/>
            <a:ext cx="3291840" cy="475488"/>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Because FHIR is the API standard for modern EHRs, Smartband V001 data can flow directly into a patient's hospital record — giving clinicians a complete longitudinal health picture that includes wearable data.</a:t>
            </a:r>
            <a:endParaRPr lang="en-US" sz="1000" dirty="0"/>
          </a:p>
        </p:txBody>
      </p:sp>
      <p:sp>
        <p:nvSpPr>
          <p:cNvPr id="40" name="Shape 33"/>
          <p:cNvSpPr/>
          <p:nvPr/>
        </p:nvSpPr>
        <p:spPr>
          <a:xfrm>
            <a:off x="4800600" y="3703320"/>
            <a:ext cx="4230076" cy="1138428"/>
          </a:xfrm>
          <a:prstGeom prst="rect">
            <a:avLst/>
          </a:prstGeom>
          <a:solidFill>
            <a:srgbClr val="FFFFFF"/>
          </a:solidFill>
          <a:ln/>
          <a:effectLst>
            <a:outerShdw blurRad="63500" dist="25400" dir="8100000" algn="bl" rotWithShape="0">
              <a:srgbClr val="000000">
                <a:alpha val="8000"/>
              </a:srgbClr>
            </a:outerShdw>
          </a:effectLst>
        </p:spPr>
      </p:sp>
      <p:sp>
        <p:nvSpPr>
          <p:cNvPr id="41" name="Shape 34"/>
          <p:cNvSpPr/>
          <p:nvPr/>
        </p:nvSpPr>
        <p:spPr>
          <a:xfrm>
            <a:off x="4800600" y="3703320"/>
            <a:ext cx="640080" cy="1024128"/>
          </a:xfrm>
          <a:prstGeom prst="rect">
            <a:avLst/>
          </a:prstGeom>
          <a:solidFill>
            <a:srgbClr val="E87A1A"/>
          </a:solidFill>
          <a:ln/>
        </p:spPr>
      </p:sp>
      <p:pic>
        <p:nvPicPr>
          <p:cNvPr id="42" name="Image 5" descr="preencoded.png"/>
          <p:cNvPicPr>
            <a:picLocks noChangeAspect="1"/>
          </p:cNvPicPr>
          <p:nvPr/>
        </p:nvPicPr>
        <p:blipFill>
          <a:blip r:embed="rId8"/>
          <a:stretch>
            <a:fillRect/>
          </a:stretch>
        </p:blipFill>
        <p:spPr>
          <a:xfrm>
            <a:off x="4910328" y="3977640"/>
            <a:ext cx="420624" cy="420624"/>
          </a:xfrm>
          <a:prstGeom prst="rect">
            <a:avLst/>
          </a:prstGeom>
        </p:spPr>
      </p:pic>
      <p:sp>
        <p:nvSpPr>
          <p:cNvPr id="43" name="Text 35"/>
          <p:cNvSpPr/>
          <p:nvPr/>
        </p:nvSpPr>
        <p:spPr>
          <a:xfrm>
            <a:off x="5550408" y="3758184"/>
            <a:ext cx="329184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Clinical Workflow</a:t>
            </a:r>
            <a:endParaRPr lang="en-US" sz="1300" dirty="0"/>
          </a:p>
        </p:txBody>
      </p:sp>
      <p:sp>
        <p:nvSpPr>
          <p:cNvPr id="44" name="Text 36"/>
          <p:cNvSpPr/>
          <p:nvPr/>
        </p:nvSpPr>
        <p:spPr>
          <a:xfrm>
            <a:off x="5550408" y="3995928"/>
            <a:ext cx="3291840" cy="182880"/>
          </a:xfrm>
          <a:prstGeom prst="rect">
            <a:avLst/>
          </a:prstGeom>
          <a:noFill/>
          <a:ln/>
        </p:spPr>
        <p:txBody>
          <a:bodyPr wrap="square" lIns="0" tIns="0" rIns="0" bIns="0" rtlCol="0" anchor="ctr"/>
          <a:lstStyle/>
          <a:p>
            <a:pPr marL="0" indent="0">
              <a:buNone/>
            </a:pPr>
            <a:r>
              <a:rPr lang="en-US" sz="1000" i="1" dirty="0">
                <a:solidFill>
                  <a:srgbClr val="E87A1A"/>
                </a:solidFill>
                <a:latin typeface="Calibri" pitchFamily="34" charset="0"/>
                <a:ea typeface="Calibri" pitchFamily="34" charset="-122"/>
                <a:cs typeface="Calibri" pitchFamily="34" charset="-120"/>
              </a:rPr>
              <a:t>Enables structured doctor-patient workflows</a:t>
            </a:r>
            <a:endParaRPr lang="en-US" sz="1000" dirty="0"/>
          </a:p>
        </p:txBody>
      </p:sp>
      <p:sp>
        <p:nvSpPr>
          <p:cNvPr id="45" name="Text 37"/>
          <p:cNvSpPr/>
          <p:nvPr/>
        </p:nvSpPr>
        <p:spPr>
          <a:xfrm>
            <a:off x="5550408" y="4206240"/>
            <a:ext cx="3291840" cy="475488"/>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FHIR enables doctor dashboards, patient portals, structured care plans, and subscription-based real-time alerts — turning raw sensor data into a clinical-grade remote monitoring system.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Sensor → FHIR Mapping — LOINC Codes &amp; UCUM Units</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LOINC (Logical Observation Identifiers Names and Codes) is a universal database of codes for medical measurements. UCUM standardizes the units. Together they ensure that a heart rate of 75 bpm from Smartband V001 is understood identically by every hospital system globally.</a:t>
            </a:r>
            <a:endParaRPr lang="en-US" sz="1200" dirty="0"/>
          </a:p>
        </p:txBody>
      </p:sp>
      <p:sp>
        <p:nvSpPr>
          <p:cNvPr id="10" name="Text 8"/>
          <p:cNvSpPr/>
          <p:nvPr/>
        </p:nvSpPr>
        <p:spPr>
          <a:xfrm>
            <a:off x="365760" y="1335024"/>
            <a:ext cx="411480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What is a LOINC Code?</a:t>
            </a:r>
            <a:endParaRPr lang="en-US" sz="1300" dirty="0"/>
          </a:p>
        </p:txBody>
      </p:sp>
      <p:sp>
        <p:nvSpPr>
          <p:cNvPr id="11" name="Text 9"/>
          <p:cNvSpPr/>
          <p:nvPr/>
        </p:nvSpPr>
        <p:spPr>
          <a:xfrm>
            <a:off x="365760" y="1645920"/>
            <a:ext cx="4114800" cy="731520"/>
          </a:xfrm>
          <a:prstGeom prst="rect">
            <a:avLst/>
          </a:prstGeom>
          <a:noFill/>
          <a:ln/>
        </p:spPr>
        <p:txBody>
          <a:bodyPr wrap="square" rtlCol="0" anchor="t"/>
          <a:lstStyle/>
          <a:p>
            <a:pPr marL="0" indent="0">
              <a:buNone/>
            </a:pPr>
            <a:r>
              <a:rPr lang="en-US" sz="1100" dirty="0">
                <a:solidFill>
                  <a:srgbClr val="6B7A8D"/>
                </a:solidFill>
                <a:latin typeface="Calibri" pitchFamily="34" charset="0"/>
                <a:ea typeface="Calibri" pitchFamily="34" charset="-122"/>
                <a:cs typeface="Calibri" pitchFamily="34" charset="-120"/>
              </a:rPr>
              <a:t>A LOINC code is a unique number assigned to a specific clinical measurement. For example, 8867-4 always means Heart Rate, measured in beats per minute, anywhere in the world. It is maintained by the Regenstrief Institute and used in over 168 countries.</a:t>
            </a:r>
            <a:endParaRPr lang="en-US" sz="1100" dirty="0"/>
          </a:p>
        </p:txBody>
      </p:sp>
      <p:sp>
        <p:nvSpPr>
          <p:cNvPr id="12" name="Text 10"/>
          <p:cNvSpPr/>
          <p:nvPr/>
        </p:nvSpPr>
        <p:spPr>
          <a:xfrm>
            <a:off x="365760" y="2450592"/>
            <a:ext cx="411480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What is UCUM?</a:t>
            </a:r>
            <a:endParaRPr lang="en-US" sz="1300" dirty="0"/>
          </a:p>
        </p:txBody>
      </p:sp>
      <p:sp>
        <p:nvSpPr>
          <p:cNvPr id="13" name="Text 11"/>
          <p:cNvSpPr/>
          <p:nvPr/>
        </p:nvSpPr>
        <p:spPr>
          <a:xfrm>
            <a:off x="365760" y="2761488"/>
            <a:ext cx="4114800" cy="731520"/>
          </a:xfrm>
          <a:prstGeom prst="rect">
            <a:avLst/>
          </a:prstGeom>
          <a:noFill/>
          <a:ln/>
        </p:spPr>
        <p:txBody>
          <a:bodyPr wrap="square" rtlCol="0" anchor="t"/>
          <a:lstStyle/>
          <a:p>
            <a:pPr marL="0" indent="0">
              <a:buNone/>
            </a:pPr>
            <a:r>
              <a:rPr lang="en-US" sz="1100" dirty="0">
                <a:solidFill>
                  <a:srgbClr val="6B7A8D"/>
                </a:solidFill>
                <a:latin typeface="Calibri" pitchFamily="34" charset="0"/>
                <a:ea typeface="Calibri" pitchFamily="34" charset="-122"/>
                <a:cs typeface="Calibri" pitchFamily="34" charset="-120"/>
              </a:rPr>
              <a:t>UCUM (Unified Code for Units of Measure) standardizes how units are written. It ensures '/min' always means beats per minute, 'Cel' always means degrees Celsius, and '[g]' always means G-force — removing any ambiguity when data crosses system boundaries.</a:t>
            </a:r>
            <a:endParaRPr lang="en-US" sz="1100" dirty="0"/>
          </a:p>
        </p:txBody>
      </p:sp>
      <p:sp>
        <p:nvSpPr>
          <p:cNvPr id="14" name="Shape 12"/>
          <p:cNvSpPr/>
          <p:nvPr/>
        </p:nvSpPr>
        <p:spPr>
          <a:xfrm>
            <a:off x="365760" y="3566160"/>
            <a:ext cx="4114800" cy="1005840"/>
          </a:xfrm>
          <a:prstGeom prst="rect">
            <a:avLst/>
          </a:prstGeom>
          <a:solidFill>
            <a:srgbClr val="028090">
              <a:alpha val="8000"/>
            </a:srgbClr>
          </a:solidFill>
          <a:ln/>
        </p:spPr>
      </p:sp>
      <p:sp>
        <p:nvSpPr>
          <p:cNvPr id="15" name="Shape 13"/>
          <p:cNvSpPr/>
          <p:nvPr/>
        </p:nvSpPr>
        <p:spPr>
          <a:xfrm>
            <a:off x="365760" y="3566160"/>
            <a:ext cx="54864" cy="1005840"/>
          </a:xfrm>
          <a:prstGeom prst="rect">
            <a:avLst/>
          </a:prstGeom>
          <a:solidFill>
            <a:srgbClr val="028090"/>
          </a:solidFill>
          <a:ln/>
        </p:spPr>
      </p:sp>
      <p:sp>
        <p:nvSpPr>
          <p:cNvPr id="16" name="Text 14"/>
          <p:cNvSpPr/>
          <p:nvPr/>
        </p:nvSpPr>
        <p:spPr>
          <a:xfrm>
            <a:off x="502920" y="3621024"/>
            <a:ext cx="3840480" cy="219456"/>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Example FHIR Observation for Heart Rate:</a:t>
            </a:r>
            <a:endParaRPr lang="en-US" sz="1100" dirty="0"/>
          </a:p>
        </p:txBody>
      </p:sp>
      <p:sp>
        <p:nvSpPr>
          <p:cNvPr id="17" name="Text 15"/>
          <p:cNvSpPr/>
          <p:nvPr/>
        </p:nvSpPr>
        <p:spPr>
          <a:xfrm>
            <a:off x="502920" y="3858768"/>
            <a:ext cx="3840480" cy="658368"/>
          </a:xfrm>
          <a:prstGeom prst="rect">
            <a:avLst/>
          </a:prstGeom>
          <a:noFill/>
          <a:ln/>
        </p:spPr>
        <p:txBody>
          <a:bodyPr wrap="square" rtlCol="0" anchor="t"/>
          <a:lstStyle/>
          <a:p>
            <a:pPr marL="0" indent="0">
              <a:buNone/>
            </a:pPr>
            <a:r>
              <a:rPr lang="en-US" sz="900" dirty="0">
                <a:solidFill>
                  <a:srgbClr val="0D1B2A"/>
                </a:solidFill>
                <a:latin typeface="Consolas" pitchFamily="34" charset="0"/>
                <a:ea typeface="Consolas" pitchFamily="34" charset="-122"/>
                <a:cs typeface="Consolas" pitchFamily="34" charset="-120"/>
              </a:rPr>
              <a:t>{ "resourceType": "Observation",</a:t>
            </a:r>
            <a:endParaRPr lang="en-US" sz="900" dirty="0"/>
          </a:p>
          <a:p>
            <a:pPr marL="0" indent="0">
              <a:buNone/>
            </a:pPr>
            <a:r>
              <a:rPr lang="en-US" sz="900" dirty="0">
                <a:solidFill>
                  <a:srgbClr val="0D1B2A"/>
                </a:solidFill>
                <a:latin typeface="Consolas" pitchFamily="34" charset="0"/>
                <a:ea typeface="Consolas" pitchFamily="34" charset="-122"/>
                <a:cs typeface="Consolas" pitchFamily="34" charset="-120"/>
              </a:rPr>
              <a:t>  "code": { "coding": [{ "system": "http://loinc.org",</a:t>
            </a:r>
            <a:endParaRPr lang="en-US" sz="900" dirty="0"/>
          </a:p>
          <a:p>
            <a:pPr marL="0" indent="0">
              <a:buNone/>
            </a:pPr>
            <a:r>
              <a:rPr lang="en-US" sz="900" dirty="0">
                <a:solidFill>
                  <a:srgbClr val="0D1B2A"/>
                </a:solidFill>
                <a:latin typeface="Consolas" pitchFamily="34" charset="0"/>
                <a:ea typeface="Consolas" pitchFamily="34" charset="-122"/>
                <a:cs typeface="Consolas" pitchFamily="34" charset="-120"/>
              </a:rPr>
              <a:t>    "code": "8867-4", "display": "Heart rate" }] },</a:t>
            </a:r>
            <a:endParaRPr lang="en-US" sz="900" dirty="0"/>
          </a:p>
          <a:p>
            <a:pPr marL="0" indent="0">
              <a:buNone/>
            </a:pPr>
            <a:r>
              <a:rPr lang="en-US" sz="900" dirty="0">
                <a:solidFill>
                  <a:srgbClr val="0D1B2A"/>
                </a:solidFill>
                <a:latin typeface="Consolas" pitchFamily="34" charset="0"/>
                <a:ea typeface="Consolas" pitchFamily="34" charset="-122"/>
                <a:cs typeface="Consolas" pitchFamily="34" charset="-120"/>
              </a:rPr>
              <a:t>  "valueQuantity": { "value": 75, "unit": "/min" } }</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663440" y="1335024"/>
          <a:ext cx="4572000" cy="3505811"/>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31013">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Measurement</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Sensor</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LOINC</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Unit</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31013">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Heart Rate</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MAX30102</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8867-4</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/min</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On PCB ✓</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1013">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SpO2</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MAX30102</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2708-6</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On PCB ✓</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1013">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Body Temperature</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MLX90632</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8310-5</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Cel</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On PCB ✓</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1013">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Acceleration</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MPU-6050</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80493-0</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[g]</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On PCB ✓</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1013">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Step Count</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MPU-6050</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55423-8</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steps</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Calculated</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1013">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Calories</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Calculated</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41981-2</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kcal</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Calculated</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1013">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Stress Level</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GSR/EDA</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74767-6</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score</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Future HW</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1013">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Blood Pressure</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PPG/Cuff</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55284-4</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mm[Hg]</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Future HW</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1013">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ECG</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AD8232</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11524-6</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mV</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Future HW</a:t>
                      </a:r>
                      <a:endParaRPr lang="en-US" sz="1000" dirty="0">
                        <a:latin typeface="Calibri" charset="0"/>
                        <a:ea typeface="Calibri" charset="0"/>
                        <a:cs typeface="Calibri" charset="0"/>
                      </a:endParaRPr>
                    </a:p>
                  </a:txBody>
                  <a:tcPr>
                    <a:lnL w="6350" cap="flat" cmpd="sng" algn="ctr">
                      <a:solidFill>
                        <a:srgbClr val="E8EDF3"/>
                      </a:solidFill>
                      <a:prstDash val="solid"/>
                      <a:round/>
                      <a:headEnd type="none" w="med" len="med"/>
                      <a:tailEnd type="none" w="med" len="med"/>
                    </a:lnL>
                    <a:lnR w="6350" cap="flat" cmpd="sng" algn="ctr">
                      <a:solidFill>
                        <a:srgbClr val="E8EDF3"/>
                      </a:solidFill>
                      <a:prstDash val="solid"/>
                      <a:round/>
                      <a:headEnd type="none" w="med" len="med"/>
                      <a:tailEnd type="none" w="med" len="med"/>
                    </a:lnR>
                    <a:lnT w="6350" cap="flat" cmpd="sng" algn="ctr">
                      <a:solidFill>
                        <a:srgbClr val="E8EDF3"/>
                      </a:solidFill>
                      <a:prstDash val="solid"/>
                      <a:round/>
                      <a:headEnd type="none" w="med" len="med"/>
                      <a:tailEnd type="none" w="med" len="med"/>
                    </a:lnT>
                    <a:lnB w="6350" cap="flat" cmpd="sng" algn="ctr">
                      <a:solidFill>
                        <a:srgbClr val="E8EDF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Four-Layer FHIR Architecture — From Sensor to Clinician</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The Smartband V001 FHIR architecture has four distinct layers. The critical transformation happens at Layer 3 — this is where raw sensor numbers become internationally standardized FHIR resources that any hospital system can read directly.</a:t>
            </a:r>
            <a:endParaRPr lang="en-US" sz="1200" dirty="0"/>
          </a:p>
        </p:txBody>
      </p:sp>
      <p:sp>
        <p:nvSpPr>
          <p:cNvPr id="10" name="Shape 8"/>
          <p:cNvSpPr/>
          <p:nvPr/>
        </p:nvSpPr>
        <p:spPr>
          <a:xfrm>
            <a:off x="365760" y="1325880"/>
            <a:ext cx="8412480" cy="713232"/>
          </a:xfrm>
          <a:prstGeom prst="rect">
            <a:avLst/>
          </a:prstGeom>
          <a:solidFill>
            <a:srgbClr val="FFFFFF"/>
          </a:solidFill>
          <a:ln/>
          <a:effectLst>
            <a:outerShdw blurRad="50800" dist="25400" dir="8100000" algn="bl" rotWithShape="0">
              <a:srgbClr val="000000">
                <a:alpha val="7000"/>
              </a:srgbClr>
            </a:outerShdw>
          </a:effectLst>
        </p:spPr>
      </p:sp>
      <p:sp>
        <p:nvSpPr>
          <p:cNvPr id="11" name="Shape 9"/>
          <p:cNvSpPr/>
          <p:nvPr/>
        </p:nvSpPr>
        <p:spPr>
          <a:xfrm>
            <a:off x="365760" y="1325880"/>
            <a:ext cx="594360" cy="713232"/>
          </a:xfrm>
          <a:prstGeom prst="rect">
            <a:avLst/>
          </a:prstGeom>
          <a:solidFill>
            <a:srgbClr val="E84040"/>
          </a:solidFill>
          <a:ln/>
        </p:spPr>
      </p:sp>
      <p:sp>
        <p:nvSpPr>
          <p:cNvPr id="12" name="Text 10"/>
          <p:cNvSpPr/>
          <p:nvPr/>
        </p:nvSpPr>
        <p:spPr>
          <a:xfrm>
            <a:off x="365760" y="1325880"/>
            <a:ext cx="594360"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L1</a:t>
            </a:r>
            <a:endParaRPr lang="en-US" sz="1600" dirty="0"/>
          </a:p>
        </p:txBody>
      </p:sp>
      <p:sp>
        <p:nvSpPr>
          <p:cNvPr id="13" name="Text 11"/>
          <p:cNvSpPr/>
          <p:nvPr/>
        </p:nvSpPr>
        <p:spPr>
          <a:xfrm>
            <a:off x="1042416" y="1380744"/>
            <a:ext cx="237744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Sensing Hardware</a:t>
            </a:r>
            <a:endParaRPr lang="en-US" sz="1300" dirty="0"/>
          </a:p>
        </p:txBody>
      </p:sp>
      <p:sp>
        <p:nvSpPr>
          <p:cNvPr id="14" name="Text 12"/>
          <p:cNvSpPr/>
          <p:nvPr/>
        </p:nvSpPr>
        <p:spPr>
          <a:xfrm>
            <a:off x="1042416" y="1673352"/>
            <a:ext cx="2560320" cy="29260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Band01_Rev1 PCB · MAX30102 · MPU-6050 · MLX90632</a:t>
            </a:r>
            <a:endParaRPr lang="en-US" sz="1000" dirty="0"/>
          </a:p>
        </p:txBody>
      </p:sp>
      <p:sp>
        <p:nvSpPr>
          <p:cNvPr id="15" name="Text 13"/>
          <p:cNvSpPr/>
          <p:nvPr/>
        </p:nvSpPr>
        <p:spPr>
          <a:xfrm>
            <a:off x="3749040" y="1399032"/>
            <a:ext cx="4937760" cy="585216"/>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Collects raw physiological data via I2C and SPI. The sensors measure heart rate, blood oxygen, body temperature, and 3-axis acceleration every 2 seconds. Data is passed to the onboard CC2640R2F microcontroller.</a:t>
            </a:r>
            <a:endParaRPr lang="en-US" sz="1100" dirty="0"/>
          </a:p>
        </p:txBody>
      </p:sp>
      <p:sp>
        <p:nvSpPr>
          <p:cNvPr id="16" name="Shape 14"/>
          <p:cNvSpPr/>
          <p:nvPr/>
        </p:nvSpPr>
        <p:spPr>
          <a:xfrm>
            <a:off x="3611880" y="1399032"/>
            <a:ext cx="0" cy="566928"/>
          </a:xfrm>
          <a:prstGeom prst="line">
            <a:avLst/>
          </a:prstGeom>
          <a:noFill/>
          <a:ln w="12700">
            <a:solidFill>
              <a:srgbClr val="E8EDF3"/>
            </a:solidFill>
            <a:prstDash val="solid"/>
          </a:ln>
        </p:spPr>
      </p:sp>
      <p:sp>
        <p:nvSpPr>
          <p:cNvPr id="17" name="Text 15"/>
          <p:cNvSpPr/>
          <p:nvPr/>
        </p:nvSpPr>
        <p:spPr>
          <a:xfrm>
            <a:off x="438912" y="2039112"/>
            <a:ext cx="438912" cy="164592"/>
          </a:xfrm>
          <a:prstGeom prst="rect">
            <a:avLst/>
          </a:prstGeom>
          <a:noFill/>
          <a:ln/>
        </p:spPr>
        <p:txBody>
          <a:bodyPr wrap="square" lIns="0" tIns="0" rIns="0" bIns="0" rtlCol="0" anchor="ctr"/>
          <a:lstStyle/>
          <a:p>
            <a:pPr marL="0" indent="0" algn="ctr">
              <a:buNone/>
            </a:pPr>
            <a:r>
              <a:rPr lang="en-US" sz="1100" dirty="0">
                <a:solidFill>
                  <a:srgbClr val="6B7A8D"/>
                </a:solidFill>
                <a:latin typeface="Calibri" pitchFamily="34" charset="0"/>
                <a:ea typeface="Calibri" pitchFamily="34" charset="-122"/>
                <a:cs typeface="Calibri" pitchFamily="34" charset="-120"/>
              </a:rPr>
              <a:t>↓</a:t>
            </a:r>
            <a:endParaRPr lang="en-US" sz="1100" dirty="0"/>
          </a:p>
        </p:txBody>
      </p:sp>
      <p:sp>
        <p:nvSpPr>
          <p:cNvPr id="18" name="Shape 16"/>
          <p:cNvSpPr/>
          <p:nvPr/>
        </p:nvSpPr>
        <p:spPr>
          <a:xfrm>
            <a:off x="365760" y="2176272"/>
            <a:ext cx="8412480" cy="713232"/>
          </a:xfrm>
          <a:prstGeom prst="rect">
            <a:avLst/>
          </a:prstGeom>
          <a:solidFill>
            <a:srgbClr val="FFFFFF"/>
          </a:solidFill>
          <a:ln/>
          <a:effectLst>
            <a:outerShdw blurRad="50800" dist="25400" dir="8100000" algn="bl" rotWithShape="0">
              <a:srgbClr val="000000">
                <a:alpha val="7000"/>
              </a:srgbClr>
            </a:outerShdw>
          </a:effectLst>
        </p:spPr>
      </p:sp>
      <p:sp>
        <p:nvSpPr>
          <p:cNvPr id="19" name="Shape 17"/>
          <p:cNvSpPr/>
          <p:nvPr/>
        </p:nvSpPr>
        <p:spPr>
          <a:xfrm>
            <a:off x="365760" y="2176272"/>
            <a:ext cx="594360" cy="713232"/>
          </a:xfrm>
          <a:prstGeom prst="rect">
            <a:avLst/>
          </a:prstGeom>
          <a:solidFill>
            <a:srgbClr val="E87A1A"/>
          </a:solidFill>
          <a:ln/>
        </p:spPr>
      </p:sp>
      <p:sp>
        <p:nvSpPr>
          <p:cNvPr id="20" name="Text 18"/>
          <p:cNvSpPr/>
          <p:nvPr/>
        </p:nvSpPr>
        <p:spPr>
          <a:xfrm>
            <a:off x="365760" y="2176272"/>
            <a:ext cx="594360"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L2</a:t>
            </a:r>
            <a:endParaRPr lang="en-US" sz="1600" dirty="0"/>
          </a:p>
        </p:txBody>
      </p:sp>
      <p:sp>
        <p:nvSpPr>
          <p:cNvPr id="21" name="Text 19"/>
          <p:cNvSpPr/>
          <p:nvPr/>
        </p:nvSpPr>
        <p:spPr>
          <a:xfrm>
            <a:off x="1042416" y="2231136"/>
            <a:ext cx="237744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Firmware Processing</a:t>
            </a:r>
            <a:endParaRPr lang="en-US" sz="1300" dirty="0"/>
          </a:p>
        </p:txBody>
      </p:sp>
      <p:sp>
        <p:nvSpPr>
          <p:cNvPr id="22" name="Text 20"/>
          <p:cNvSpPr/>
          <p:nvPr/>
        </p:nvSpPr>
        <p:spPr>
          <a:xfrm>
            <a:off x="1042416" y="2523744"/>
            <a:ext cx="2560320" cy="29260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CC2640R2F · TI-RTOS · BLE GATT profile</a:t>
            </a:r>
            <a:endParaRPr lang="en-US" sz="1000" dirty="0"/>
          </a:p>
        </p:txBody>
      </p:sp>
      <p:sp>
        <p:nvSpPr>
          <p:cNvPr id="23" name="Text 21"/>
          <p:cNvSpPr/>
          <p:nvPr/>
        </p:nvSpPr>
        <p:spPr>
          <a:xfrm>
            <a:off x="3749040" y="2249424"/>
            <a:ext cx="4937760" cy="585216"/>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The firmware reads sensor registers via I2C, applies calibration algorithms, and transmits the processed values via Bluetooth Low Energy (BLE) GATT profile. Currently the sensor reads are in development — placeholder values transmitted.</a:t>
            </a:r>
            <a:endParaRPr lang="en-US" sz="1100" dirty="0"/>
          </a:p>
        </p:txBody>
      </p:sp>
      <p:sp>
        <p:nvSpPr>
          <p:cNvPr id="24" name="Shape 22"/>
          <p:cNvSpPr/>
          <p:nvPr/>
        </p:nvSpPr>
        <p:spPr>
          <a:xfrm>
            <a:off x="3611880" y="2249424"/>
            <a:ext cx="0" cy="566928"/>
          </a:xfrm>
          <a:prstGeom prst="line">
            <a:avLst/>
          </a:prstGeom>
          <a:noFill/>
          <a:ln w="12700">
            <a:solidFill>
              <a:srgbClr val="E8EDF3"/>
            </a:solidFill>
            <a:prstDash val="solid"/>
          </a:ln>
        </p:spPr>
      </p:sp>
      <p:sp>
        <p:nvSpPr>
          <p:cNvPr id="25" name="Text 23"/>
          <p:cNvSpPr/>
          <p:nvPr/>
        </p:nvSpPr>
        <p:spPr>
          <a:xfrm>
            <a:off x="438912" y="2889504"/>
            <a:ext cx="438912" cy="164592"/>
          </a:xfrm>
          <a:prstGeom prst="rect">
            <a:avLst/>
          </a:prstGeom>
          <a:noFill/>
          <a:ln/>
        </p:spPr>
        <p:txBody>
          <a:bodyPr wrap="square" lIns="0" tIns="0" rIns="0" bIns="0" rtlCol="0" anchor="ctr"/>
          <a:lstStyle/>
          <a:p>
            <a:pPr marL="0" indent="0" algn="ctr">
              <a:buNone/>
            </a:pPr>
            <a:r>
              <a:rPr lang="en-US" sz="1100" dirty="0">
                <a:solidFill>
                  <a:srgbClr val="6B7A8D"/>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365760" y="3026664"/>
            <a:ext cx="8412480" cy="713232"/>
          </a:xfrm>
          <a:prstGeom prst="rect">
            <a:avLst/>
          </a:prstGeom>
          <a:solidFill>
            <a:srgbClr val="FFFFFF"/>
          </a:solidFill>
          <a:ln/>
          <a:effectLst>
            <a:outerShdw blurRad="50800" dist="25400" dir="8100000" algn="bl" rotWithShape="0">
              <a:srgbClr val="000000">
                <a:alpha val="7000"/>
              </a:srgbClr>
            </a:outerShdw>
          </a:effectLst>
        </p:spPr>
      </p:sp>
      <p:sp>
        <p:nvSpPr>
          <p:cNvPr id="27" name="Shape 25"/>
          <p:cNvSpPr/>
          <p:nvPr/>
        </p:nvSpPr>
        <p:spPr>
          <a:xfrm>
            <a:off x="365760" y="3026664"/>
            <a:ext cx="594360" cy="713232"/>
          </a:xfrm>
          <a:prstGeom prst="rect">
            <a:avLst/>
          </a:prstGeom>
          <a:solidFill>
            <a:srgbClr val="028090"/>
          </a:solidFill>
          <a:ln/>
        </p:spPr>
      </p:sp>
      <p:sp>
        <p:nvSpPr>
          <p:cNvPr id="28" name="Text 26"/>
          <p:cNvSpPr/>
          <p:nvPr/>
        </p:nvSpPr>
        <p:spPr>
          <a:xfrm>
            <a:off x="365760" y="3026664"/>
            <a:ext cx="594360"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L3</a:t>
            </a:r>
            <a:endParaRPr lang="en-US" sz="1600" dirty="0"/>
          </a:p>
        </p:txBody>
      </p:sp>
      <p:sp>
        <p:nvSpPr>
          <p:cNvPr id="29" name="Text 27"/>
          <p:cNvSpPr/>
          <p:nvPr/>
        </p:nvSpPr>
        <p:spPr>
          <a:xfrm>
            <a:off x="1042416" y="3081528"/>
            <a:ext cx="237744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FHIR Gateway</a:t>
            </a:r>
            <a:endParaRPr lang="en-US" sz="1300" dirty="0"/>
          </a:p>
        </p:txBody>
      </p:sp>
      <p:sp>
        <p:nvSpPr>
          <p:cNvPr id="30" name="Text 28"/>
          <p:cNvSpPr/>
          <p:nvPr/>
        </p:nvSpPr>
        <p:spPr>
          <a:xfrm>
            <a:off x="1042416" y="3374136"/>
            <a:ext cx="2560320" cy="29260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Raspberry Pi 5 · Flask server · HL7 FHIR R4</a:t>
            </a:r>
            <a:endParaRPr lang="en-US" sz="1000" dirty="0"/>
          </a:p>
        </p:txBody>
      </p:sp>
      <p:sp>
        <p:nvSpPr>
          <p:cNvPr id="31" name="Text 29"/>
          <p:cNvSpPr/>
          <p:nvPr/>
        </p:nvSpPr>
        <p:spPr>
          <a:xfrm>
            <a:off x="3749040" y="3099816"/>
            <a:ext cx="4937760" cy="585216"/>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The gateway receives BLE data and structures it as FHIR R4 Observation resources with proper LOINC codes and UCUM units. It exposes a REST API at /api/fhir/... — this is the layer that makes the device interoperable.</a:t>
            </a:r>
            <a:endParaRPr lang="en-US" sz="1100" dirty="0"/>
          </a:p>
        </p:txBody>
      </p:sp>
      <p:sp>
        <p:nvSpPr>
          <p:cNvPr id="32" name="Shape 30"/>
          <p:cNvSpPr/>
          <p:nvPr/>
        </p:nvSpPr>
        <p:spPr>
          <a:xfrm>
            <a:off x="3611880" y="3099816"/>
            <a:ext cx="0" cy="566928"/>
          </a:xfrm>
          <a:prstGeom prst="line">
            <a:avLst/>
          </a:prstGeom>
          <a:noFill/>
          <a:ln w="12700">
            <a:solidFill>
              <a:srgbClr val="E8EDF3"/>
            </a:solidFill>
            <a:prstDash val="solid"/>
          </a:ln>
        </p:spPr>
      </p:sp>
      <p:sp>
        <p:nvSpPr>
          <p:cNvPr id="33" name="Text 31"/>
          <p:cNvSpPr/>
          <p:nvPr/>
        </p:nvSpPr>
        <p:spPr>
          <a:xfrm>
            <a:off x="438912" y="3739896"/>
            <a:ext cx="438912" cy="164592"/>
          </a:xfrm>
          <a:prstGeom prst="rect">
            <a:avLst/>
          </a:prstGeom>
          <a:noFill/>
          <a:ln/>
        </p:spPr>
        <p:txBody>
          <a:bodyPr wrap="square" lIns="0" tIns="0" rIns="0" bIns="0" rtlCol="0" anchor="ctr"/>
          <a:lstStyle/>
          <a:p>
            <a:pPr marL="0" indent="0" algn="ctr">
              <a:buNone/>
            </a:pPr>
            <a:r>
              <a:rPr lang="en-US" sz="1100" dirty="0">
                <a:solidFill>
                  <a:srgbClr val="6B7A8D"/>
                </a:solidFill>
                <a:latin typeface="Calibri" pitchFamily="34" charset="0"/>
                <a:ea typeface="Calibri" pitchFamily="34" charset="-122"/>
                <a:cs typeface="Calibri" pitchFamily="34" charset="-120"/>
              </a:rPr>
              <a:t>↓</a:t>
            </a:r>
            <a:endParaRPr lang="en-US" sz="1100" dirty="0"/>
          </a:p>
        </p:txBody>
      </p:sp>
      <p:sp>
        <p:nvSpPr>
          <p:cNvPr id="34" name="Shape 32"/>
          <p:cNvSpPr/>
          <p:nvPr/>
        </p:nvSpPr>
        <p:spPr>
          <a:xfrm>
            <a:off x="365760" y="3877056"/>
            <a:ext cx="8412480" cy="713232"/>
          </a:xfrm>
          <a:prstGeom prst="rect">
            <a:avLst/>
          </a:prstGeom>
          <a:solidFill>
            <a:srgbClr val="FFFFFF"/>
          </a:solidFill>
          <a:ln/>
          <a:effectLst>
            <a:outerShdw blurRad="50800" dist="25400" dir="8100000" algn="bl" rotWithShape="0">
              <a:srgbClr val="000000">
                <a:alpha val="7000"/>
              </a:srgbClr>
            </a:outerShdw>
          </a:effectLst>
        </p:spPr>
      </p:sp>
      <p:sp>
        <p:nvSpPr>
          <p:cNvPr id="35" name="Shape 33"/>
          <p:cNvSpPr/>
          <p:nvPr/>
        </p:nvSpPr>
        <p:spPr>
          <a:xfrm>
            <a:off x="365760" y="3877056"/>
            <a:ext cx="594360" cy="713232"/>
          </a:xfrm>
          <a:prstGeom prst="rect">
            <a:avLst/>
          </a:prstGeom>
          <a:solidFill>
            <a:srgbClr val="7C3AED"/>
          </a:solidFill>
          <a:ln/>
        </p:spPr>
      </p:sp>
      <p:sp>
        <p:nvSpPr>
          <p:cNvPr id="36" name="Text 34"/>
          <p:cNvSpPr/>
          <p:nvPr/>
        </p:nvSpPr>
        <p:spPr>
          <a:xfrm>
            <a:off x="365760" y="3877056"/>
            <a:ext cx="594360"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L4</a:t>
            </a:r>
            <a:endParaRPr lang="en-US" sz="1600" dirty="0"/>
          </a:p>
        </p:txBody>
      </p:sp>
      <p:sp>
        <p:nvSpPr>
          <p:cNvPr id="37" name="Text 35"/>
          <p:cNvSpPr/>
          <p:nvPr/>
        </p:nvSpPr>
        <p:spPr>
          <a:xfrm>
            <a:off x="1042416" y="3931920"/>
            <a:ext cx="237744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Clinical Consumers</a:t>
            </a:r>
            <a:endParaRPr lang="en-US" sz="1300" dirty="0"/>
          </a:p>
        </p:txBody>
      </p:sp>
      <p:sp>
        <p:nvSpPr>
          <p:cNvPr id="38" name="Text 36"/>
          <p:cNvSpPr/>
          <p:nvPr/>
        </p:nvSpPr>
        <p:spPr>
          <a:xfrm>
            <a:off x="1042416" y="4224528"/>
            <a:ext cx="2560320" cy="29260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Phone app · Doctor dashboard · Hospital EHR · Research platforms</a:t>
            </a:r>
            <a:endParaRPr lang="en-US" sz="1000" dirty="0"/>
          </a:p>
        </p:txBody>
      </p:sp>
      <p:sp>
        <p:nvSpPr>
          <p:cNvPr id="39" name="Text 37"/>
          <p:cNvSpPr/>
          <p:nvPr/>
        </p:nvSpPr>
        <p:spPr>
          <a:xfrm>
            <a:off x="3749040" y="3950208"/>
            <a:ext cx="4937760" cy="585216"/>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Any FHIR-compatible system connects to the gateway REST API without custom integration. Epic, Cerner, OpenMRS, and research databases all speak FHIR R4 natively — enabling seamless data flow to wherever it is needed clinically.</a:t>
            </a:r>
            <a:endParaRPr lang="en-US" sz="1100" dirty="0"/>
          </a:p>
        </p:txBody>
      </p:sp>
      <p:sp>
        <p:nvSpPr>
          <p:cNvPr id="40" name="Shape 38"/>
          <p:cNvSpPr/>
          <p:nvPr/>
        </p:nvSpPr>
        <p:spPr>
          <a:xfrm>
            <a:off x="3611880" y="3950208"/>
            <a:ext cx="0" cy="566928"/>
          </a:xfrm>
          <a:prstGeom prst="line">
            <a:avLst/>
          </a:prstGeom>
          <a:noFill/>
          <a:ln w="12700">
            <a:solidFill>
              <a:srgbClr val="E8EDF3"/>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FHIR REST API — What the Gateway Exposes</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The Raspberry Pi 5 gateway acts as a FHIR server. Any device or software that speaks HTTP can call these endpoints and receive properly structured FHIR R4 resources in return — no special driver or SDK required.</a:t>
            </a:r>
            <a:endParaRPr lang="en-US" sz="1200" dirty="0"/>
          </a:p>
        </p:txBody>
      </p:sp>
      <p:sp>
        <p:nvSpPr>
          <p:cNvPr id="10" name="Text 8"/>
          <p:cNvSpPr/>
          <p:nvPr/>
        </p:nvSpPr>
        <p:spPr>
          <a:xfrm>
            <a:off x="365760" y="1335024"/>
            <a:ext cx="2743200" cy="27432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How the API Works</a:t>
            </a:r>
            <a:endParaRPr lang="en-US" sz="1300" dirty="0"/>
          </a:p>
        </p:txBody>
      </p:sp>
      <p:sp>
        <p:nvSpPr>
          <p:cNvPr id="11" name="Text 9"/>
          <p:cNvSpPr/>
          <p:nvPr/>
        </p:nvSpPr>
        <p:spPr>
          <a:xfrm>
            <a:off x="365760" y="1664208"/>
            <a:ext cx="2743200" cy="1097280"/>
          </a:xfrm>
          <a:prstGeom prst="rect">
            <a:avLst/>
          </a:prstGeom>
          <a:noFill/>
          <a:ln/>
        </p:spPr>
        <p:txBody>
          <a:bodyPr wrap="square" rtlCol="0" anchor="t"/>
          <a:lstStyle/>
          <a:p>
            <a:pPr marL="0" indent="0">
              <a:buNone/>
            </a:pPr>
            <a:r>
              <a:rPr lang="en-US" sz="1100" dirty="0">
                <a:solidFill>
                  <a:srgbClr val="6B7A8D"/>
                </a:solidFill>
                <a:latin typeface="Calibri" pitchFamily="34" charset="0"/>
                <a:ea typeface="Calibri" pitchFamily="34" charset="-122"/>
                <a:cs typeface="Calibri" pitchFamily="34" charset="-120"/>
              </a:rPr>
              <a:t>A client sends an HTTP GET request to an endpoint. The gateway reads the latest sensor data from the CSV log, wraps it in a FHIR resource with LOINC codes and UCUM units, and returns it as JSON. The client can be a phone app, a hospital EHR, or a research script — they all get the same standardized response.</a:t>
            </a:r>
            <a:endParaRPr lang="en-US" sz="1100" dirty="0"/>
          </a:p>
        </p:txBody>
      </p:sp>
      <p:sp>
        <p:nvSpPr>
          <p:cNvPr id="15" name="Shape 13"/>
          <p:cNvSpPr/>
          <p:nvPr/>
        </p:nvSpPr>
        <p:spPr>
          <a:xfrm>
            <a:off x="3246120" y="1335024"/>
            <a:ext cx="5532120" cy="384048"/>
          </a:xfrm>
          <a:prstGeom prst="rect">
            <a:avLst/>
          </a:prstGeom>
          <a:solidFill>
            <a:srgbClr val="FFFFFF"/>
          </a:solidFill>
          <a:ln/>
          <a:effectLst>
            <a:outerShdw blurRad="38100" dist="12700" dir="8100000" algn="bl" rotWithShape="0">
              <a:srgbClr val="000000">
                <a:alpha val="6000"/>
              </a:srgbClr>
            </a:outerShdw>
          </a:effectLst>
        </p:spPr>
      </p:sp>
      <p:sp>
        <p:nvSpPr>
          <p:cNvPr id="16" name="Shape 14"/>
          <p:cNvSpPr/>
          <p:nvPr/>
        </p:nvSpPr>
        <p:spPr>
          <a:xfrm>
            <a:off x="3310128" y="1408176"/>
            <a:ext cx="420624" cy="201168"/>
          </a:xfrm>
          <a:prstGeom prst="roundRect">
            <a:avLst>
              <a:gd name="adj" fmla="val 18182"/>
            </a:avLst>
          </a:prstGeom>
          <a:solidFill>
            <a:srgbClr val="028090"/>
          </a:solidFill>
          <a:ln/>
        </p:spPr>
      </p:sp>
      <p:sp>
        <p:nvSpPr>
          <p:cNvPr id="17" name="Text 15"/>
          <p:cNvSpPr/>
          <p:nvPr/>
        </p:nvSpPr>
        <p:spPr>
          <a:xfrm>
            <a:off x="3310128" y="1408176"/>
            <a:ext cx="420624"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18" name="Text 16"/>
          <p:cNvSpPr/>
          <p:nvPr/>
        </p:nvSpPr>
        <p:spPr>
          <a:xfrm>
            <a:off x="3803904" y="1362456"/>
            <a:ext cx="2651760" cy="201168"/>
          </a:xfrm>
          <a:prstGeom prst="rect">
            <a:avLst/>
          </a:prstGeom>
          <a:noFill/>
          <a:ln/>
        </p:spPr>
        <p:txBody>
          <a:bodyPr wrap="square" lIns="0" tIns="0" rIns="0" bIns="0" rtlCol="0" anchor="ctr"/>
          <a:lstStyle/>
          <a:p>
            <a:pPr marL="0" indent="0">
              <a:buNone/>
            </a:pPr>
            <a:r>
              <a:rPr lang="en-US" sz="1000" b="1" dirty="0">
                <a:solidFill>
                  <a:srgbClr val="028090"/>
                </a:solidFill>
                <a:latin typeface="Consolas" pitchFamily="34" charset="0"/>
                <a:ea typeface="Consolas" pitchFamily="34" charset="-122"/>
                <a:cs typeface="Consolas" pitchFamily="34" charset="-120"/>
              </a:rPr>
              <a:t>/api/fhir/patient</a:t>
            </a:r>
            <a:endParaRPr lang="en-US" sz="1000" dirty="0"/>
          </a:p>
        </p:txBody>
      </p:sp>
      <p:sp>
        <p:nvSpPr>
          <p:cNvPr id="19" name="Text 17"/>
          <p:cNvSpPr/>
          <p:nvPr/>
        </p:nvSpPr>
        <p:spPr>
          <a:xfrm>
            <a:off x="3803904" y="1554480"/>
            <a:ext cx="4846320" cy="146304"/>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All registered patients — demographics, device, weight, height</a:t>
            </a:r>
            <a:endParaRPr lang="en-US" sz="900" dirty="0"/>
          </a:p>
        </p:txBody>
      </p:sp>
      <p:sp>
        <p:nvSpPr>
          <p:cNvPr id="20" name="Shape 18"/>
          <p:cNvSpPr/>
          <p:nvPr/>
        </p:nvSpPr>
        <p:spPr>
          <a:xfrm>
            <a:off x="3246120" y="1792224"/>
            <a:ext cx="5532120" cy="384048"/>
          </a:xfrm>
          <a:prstGeom prst="rect">
            <a:avLst/>
          </a:prstGeom>
          <a:solidFill>
            <a:srgbClr val="FFFFFF"/>
          </a:solidFill>
          <a:ln/>
          <a:effectLst>
            <a:outerShdw blurRad="38100" dist="12700" dir="8100000" algn="bl" rotWithShape="0">
              <a:srgbClr val="000000">
                <a:alpha val="6000"/>
              </a:srgbClr>
            </a:outerShdw>
          </a:effectLst>
        </p:spPr>
      </p:sp>
      <p:sp>
        <p:nvSpPr>
          <p:cNvPr id="21" name="Shape 19"/>
          <p:cNvSpPr/>
          <p:nvPr/>
        </p:nvSpPr>
        <p:spPr>
          <a:xfrm>
            <a:off x="3310128" y="1865376"/>
            <a:ext cx="420624" cy="201168"/>
          </a:xfrm>
          <a:prstGeom prst="roundRect">
            <a:avLst>
              <a:gd name="adj" fmla="val 18182"/>
            </a:avLst>
          </a:prstGeom>
          <a:solidFill>
            <a:srgbClr val="028090"/>
          </a:solidFill>
          <a:ln/>
        </p:spPr>
      </p:sp>
      <p:sp>
        <p:nvSpPr>
          <p:cNvPr id="22" name="Text 20"/>
          <p:cNvSpPr/>
          <p:nvPr/>
        </p:nvSpPr>
        <p:spPr>
          <a:xfrm>
            <a:off x="3310128" y="1865376"/>
            <a:ext cx="420624"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23" name="Text 21"/>
          <p:cNvSpPr/>
          <p:nvPr/>
        </p:nvSpPr>
        <p:spPr>
          <a:xfrm>
            <a:off x="3803904" y="1819656"/>
            <a:ext cx="2651760" cy="201168"/>
          </a:xfrm>
          <a:prstGeom prst="rect">
            <a:avLst/>
          </a:prstGeom>
          <a:noFill/>
          <a:ln/>
        </p:spPr>
        <p:txBody>
          <a:bodyPr wrap="square" lIns="0" tIns="0" rIns="0" bIns="0" rtlCol="0" anchor="ctr"/>
          <a:lstStyle/>
          <a:p>
            <a:pPr marL="0" indent="0">
              <a:buNone/>
            </a:pPr>
            <a:r>
              <a:rPr lang="en-US" sz="1000" b="1" dirty="0">
                <a:solidFill>
                  <a:srgbClr val="028090"/>
                </a:solidFill>
                <a:latin typeface="Consolas" pitchFamily="34" charset="0"/>
                <a:ea typeface="Consolas" pitchFamily="34" charset="-122"/>
                <a:cs typeface="Consolas" pitchFamily="34" charset="-120"/>
              </a:rPr>
              <a:t>/api/fhir/observation</a:t>
            </a:r>
            <a:endParaRPr lang="en-US" sz="1000" dirty="0"/>
          </a:p>
        </p:txBody>
      </p:sp>
      <p:sp>
        <p:nvSpPr>
          <p:cNvPr id="24" name="Text 22"/>
          <p:cNvSpPr/>
          <p:nvPr/>
        </p:nvSpPr>
        <p:spPr>
          <a:xfrm>
            <a:off x="3803904" y="2011680"/>
            <a:ext cx="4846320" cy="146304"/>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Complete snapshot — all current vital observations grouped together</a:t>
            </a:r>
            <a:endParaRPr lang="en-US" sz="900" dirty="0"/>
          </a:p>
        </p:txBody>
      </p:sp>
      <p:sp>
        <p:nvSpPr>
          <p:cNvPr id="25" name="Shape 23"/>
          <p:cNvSpPr/>
          <p:nvPr/>
        </p:nvSpPr>
        <p:spPr>
          <a:xfrm>
            <a:off x="3246120" y="2249424"/>
            <a:ext cx="5532120" cy="384048"/>
          </a:xfrm>
          <a:prstGeom prst="rect">
            <a:avLst/>
          </a:prstGeom>
          <a:solidFill>
            <a:srgbClr val="FFFFFF"/>
          </a:solidFill>
          <a:ln/>
          <a:effectLst>
            <a:outerShdw blurRad="38100" dist="12700" dir="8100000" algn="bl" rotWithShape="0">
              <a:srgbClr val="000000">
                <a:alpha val="6000"/>
              </a:srgbClr>
            </a:outerShdw>
          </a:effectLst>
        </p:spPr>
      </p:sp>
      <p:sp>
        <p:nvSpPr>
          <p:cNvPr id="26" name="Shape 24"/>
          <p:cNvSpPr/>
          <p:nvPr/>
        </p:nvSpPr>
        <p:spPr>
          <a:xfrm>
            <a:off x="3310128" y="2322576"/>
            <a:ext cx="420624" cy="201168"/>
          </a:xfrm>
          <a:prstGeom prst="roundRect">
            <a:avLst>
              <a:gd name="adj" fmla="val 18182"/>
            </a:avLst>
          </a:prstGeom>
          <a:solidFill>
            <a:srgbClr val="028090"/>
          </a:solidFill>
          <a:ln/>
        </p:spPr>
      </p:sp>
      <p:sp>
        <p:nvSpPr>
          <p:cNvPr id="27" name="Text 25"/>
          <p:cNvSpPr/>
          <p:nvPr/>
        </p:nvSpPr>
        <p:spPr>
          <a:xfrm>
            <a:off x="3310128" y="2322576"/>
            <a:ext cx="420624"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28" name="Text 26"/>
          <p:cNvSpPr/>
          <p:nvPr/>
        </p:nvSpPr>
        <p:spPr>
          <a:xfrm>
            <a:off x="3803904" y="2276856"/>
            <a:ext cx="2651760" cy="201168"/>
          </a:xfrm>
          <a:prstGeom prst="rect">
            <a:avLst/>
          </a:prstGeom>
          <a:noFill/>
          <a:ln/>
        </p:spPr>
        <p:txBody>
          <a:bodyPr wrap="square" lIns="0" tIns="0" rIns="0" bIns="0" rtlCol="0" anchor="ctr"/>
          <a:lstStyle/>
          <a:p>
            <a:pPr marL="0" indent="0">
              <a:buNone/>
            </a:pPr>
            <a:r>
              <a:rPr lang="en-US" sz="1000" b="1" dirty="0">
                <a:solidFill>
                  <a:srgbClr val="028090"/>
                </a:solidFill>
                <a:latin typeface="Consolas" pitchFamily="34" charset="0"/>
                <a:ea typeface="Consolas" pitchFamily="34" charset="-122"/>
                <a:cs typeface="Consolas" pitchFamily="34" charset="-120"/>
              </a:rPr>
              <a:t>/api/fhir/observation/hr</a:t>
            </a:r>
            <a:endParaRPr lang="en-US" sz="1000" dirty="0"/>
          </a:p>
        </p:txBody>
      </p:sp>
      <p:sp>
        <p:nvSpPr>
          <p:cNvPr id="29" name="Text 27"/>
          <p:cNvSpPr/>
          <p:nvPr/>
        </p:nvSpPr>
        <p:spPr>
          <a:xfrm>
            <a:off x="3803904" y="2468880"/>
            <a:ext cx="4846320" cy="146304"/>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Heart Rate  (LOINC 8867-4)  — beats per minute</a:t>
            </a:r>
            <a:endParaRPr lang="en-US" sz="900" dirty="0"/>
          </a:p>
        </p:txBody>
      </p:sp>
      <p:sp>
        <p:nvSpPr>
          <p:cNvPr id="30" name="Shape 28"/>
          <p:cNvSpPr/>
          <p:nvPr/>
        </p:nvSpPr>
        <p:spPr>
          <a:xfrm>
            <a:off x="3246120" y="2706624"/>
            <a:ext cx="5532120" cy="384048"/>
          </a:xfrm>
          <a:prstGeom prst="rect">
            <a:avLst/>
          </a:prstGeom>
          <a:solidFill>
            <a:srgbClr val="FFFFFF"/>
          </a:solidFill>
          <a:ln/>
          <a:effectLst>
            <a:outerShdw blurRad="38100" dist="12700" dir="8100000" algn="bl" rotWithShape="0">
              <a:srgbClr val="000000">
                <a:alpha val="6000"/>
              </a:srgbClr>
            </a:outerShdw>
          </a:effectLst>
        </p:spPr>
      </p:sp>
      <p:sp>
        <p:nvSpPr>
          <p:cNvPr id="31" name="Shape 29"/>
          <p:cNvSpPr/>
          <p:nvPr/>
        </p:nvSpPr>
        <p:spPr>
          <a:xfrm>
            <a:off x="3310128" y="2779776"/>
            <a:ext cx="420624" cy="201168"/>
          </a:xfrm>
          <a:prstGeom prst="roundRect">
            <a:avLst>
              <a:gd name="adj" fmla="val 18182"/>
            </a:avLst>
          </a:prstGeom>
          <a:solidFill>
            <a:srgbClr val="028090"/>
          </a:solidFill>
          <a:ln/>
        </p:spPr>
      </p:sp>
      <p:sp>
        <p:nvSpPr>
          <p:cNvPr id="32" name="Text 30"/>
          <p:cNvSpPr/>
          <p:nvPr/>
        </p:nvSpPr>
        <p:spPr>
          <a:xfrm>
            <a:off x="3310128" y="2779776"/>
            <a:ext cx="420624"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33" name="Text 31"/>
          <p:cNvSpPr/>
          <p:nvPr/>
        </p:nvSpPr>
        <p:spPr>
          <a:xfrm>
            <a:off x="3803904" y="2734056"/>
            <a:ext cx="2651760" cy="201168"/>
          </a:xfrm>
          <a:prstGeom prst="rect">
            <a:avLst/>
          </a:prstGeom>
          <a:noFill/>
          <a:ln/>
        </p:spPr>
        <p:txBody>
          <a:bodyPr wrap="square" lIns="0" tIns="0" rIns="0" bIns="0" rtlCol="0" anchor="ctr"/>
          <a:lstStyle/>
          <a:p>
            <a:pPr marL="0" indent="0">
              <a:buNone/>
            </a:pPr>
            <a:r>
              <a:rPr lang="en-US" sz="1000" b="1" dirty="0">
                <a:solidFill>
                  <a:srgbClr val="028090"/>
                </a:solidFill>
                <a:latin typeface="Consolas" pitchFamily="34" charset="0"/>
                <a:ea typeface="Consolas" pitchFamily="34" charset="-122"/>
                <a:cs typeface="Consolas" pitchFamily="34" charset="-120"/>
              </a:rPr>
              <a:t>/api/fhir/observation/temp</a:t>
            </a:r>
            <a:endParaRPr lang="en-US" sz="1000" dirty="0"/>
          </a:p>
        </p:txBody>
      </p:sp>
      <p:sp>
        <p:nvSpPr>
          <p:cNvPr id="34" name="Text 32"/>
          <p:cNvSpPr/>
          <p:nvPr/>
        </p:nvSpPr>
        <p:spPr>
          <a:xfrm>
            <a:off x="3803904" y="2926080"/>
            <a:ext cx="4846320" cy="146304"/>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Body Temperature  (LOINC 8310-5)  — degrees Celsius</a:t>
            </a:r>
            <a:endParaRPr lang="en-US" sz="900" dirty="0"/>
          </a:p>
        </p:txBody>
      </p:sp>
      <p:sp>
        <p:nvSpPr>
          <p:cNvPr id="35" name="Shape 33"/>
          <p:cNvSpPr/>
          <p:nvPr/>
        </p:nvSpPr>
        <p:spPr>
          <a:xfrm>
            <a:off x="3246120" y="3163824"/>
            <a:ext cx="5532120" cy="384048"/>
          </a:xfrm>
          <a:prstGeom prst="rect">
            <a:avLst/>
          </a:prstGeom>
          <a:solidFill>
            <a:srgbClr val="FFFFFF"/>
          </a:solidFill>
          <a:ln/>
          <a:effectLst>
            <a:outerShdw blurRad="38100" dist="12700" dir="8100000" algn="bl" rotWithShape="0">
              <a:srgbClr val="000000">
                <a:alpha val="6000"/>
              </a:srgbClr>
            </a:outerShdw>
          </a:effectLst>
        </p:spPr>
      </p:sp>
      <p:sp>
        <p:nvSpPr>
          <p:cNvPr id="36" name="Shape 34"/>
          <p:cNvSpPr/>
          <p:nvPr/>
        </p:nvSpPr>
        <p:spPr>
          <a:xfrm>
            <a:off x="3310128" y="3236976"/>
            <a:ext cx="420624" cy="201168"/>
          </a:xfrm>
          <a:prstGeom prst="roundRect">
            <a:avLst>
              <a:gd name="adj" fmla="val 18182"/>
            </a:avLst>
          </a:prstGeom>
          <a:solidFill>
            <a:srgbClr val="028090"/>
          </a:solidFill>
          <a:ln/>
        </p:spPr>
      </p:sp>
      <p:sp>
        <p:nvSpPr>
          <p:cNvPr id="37" name="Text 35"/>
          <p:cNvSpPr/>
          <p:nvPr/>
        </p:nvSpPr>
        <p:spPr>
          <a:xfrm>
            <a:off x="3310128" y="3236976"/>
            <a:ext cx="420624"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38" name="Text 36"/>
          <p:cNvSpPr/>
          <p:nvPr/>
        </p:nvSpPr>
        <p:spPr>
          <a:xfrm>
            <a:off x="3803904" y="3191256"/>
            <a:ext cx="2651760" cy="201168"/>
          </a:xfrm>
          <a:prstGeom prst="rect">
            <a:avLst/>
          </a:prstGeom>
          <a:noFill/>
          <a:ln/>
        </p:spPr>
        <p:txBody>
          <a:bodyPr wrap="square" lIns="0" tIns="0" rIns="0" bIns="0" rtlCol="0" anchor="ctr"/>
          <a:lstStyle/>
          <a:p>
            <a:pPr marL="0" indent="0">
              <a:buNone/>
            </a:pPr>
            <a:r>
              <a:rPr lang="en-US" sz="1000" b="1" dirty="0">
                <a:solidFill>
                  <a:srgbClr val="028090"/>
                </a:solidFill>
                <a:latin typeface="Consolas" pitchFamily="34" charset="0"/>
                <a:ea typeface="Consolas" pitchFamily="34" charset="-122"/>
                <a:cs typeface="Consolas" pitchFamily="34" charset="-120"/>
              </a:rPr>
              <a:t>/api/fhir/observation/spo2</a:t>
            </a:r>
            <a:endParaRPr lang="en-US" sz="1000" dirty="0"/>
          </a:p>
        </p:txBody>
      </p:sp>
      <p:sp>
        <p:nvSpPr>
          <p:cNvPr id="39" name="Text 37"/>
          <p:cNvSpPr/>
          <p:nvPr/>
        </p:nvSpPr>
        <p:spPr>
          <a:xfrm>
            <a:off x="3803904" y="3383280"/>
            <a:ext cx="4846320" cy="146304"/>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Blood Oxygen Saturation  (LOINC 2708-6)  — percentage</a:t>
            </a:r>
            <a:endParaRPr lang="en-US" sz="900" dirty="0"/>
          </a:p>
        </p:txBody>
      </p:sp>
      <p:sp>
        <p:nvSpPr>
          <p:cNvPr id="40" name="Shape 38"/>
          <p:cNvSpPr/>
          <p:nvPr/>
        </p:nvSpPr>
        <p:spPr>
          <a:xfrm>
            <a:off x="3246120" y="3621024"/>
            <a:ext cx="5532120" cy="384048"/>
          </a:xfrm>
          <a:prstGeom prst="rect">
            <a:avLst/>
          </a:prstGeom>
          <a:solidFill>
            <a:srgbClr val="FFFFFF"/>
          </a:solidFill>
          <a:ln/>
          <a:effectLst>
            <a:outerShdw blurRad="38100" dist="12700" dir="8100000" algn="bl" rotWithShape="0">
              <a:srgbClr val="000000">
                <a:alpha val="6000"/>
              </a:srgbClr>
            </a:outerShdw>
          </a:effectLst>
        </p:spPr>
      </p:sp>
      <p:sp>
        <p:nvSpPr>
          <p:cNvPr id="41" name="Shape 39"/>
          <p:cNvSpPr/>
          <p:nvPr/>
        </p:nvSpPr>
        <p:spPr>
          <a:xfrm>
            <a:off x="3310128" y="3694176"/>
            <a:ext cx="420624" cy="201168"/>
          </a:xfrm>
          <a:prstGeom prst="roundRect">
            <a:avLst>
              <a:gd name="adj" fmla="val 18182"/>
            </a:avLst>
          </a:prstGeom>
          <a:solidFill>
            <a:srgbClr val="028090"/>
          </a:solidFill>
          <a:ln/>
        </p:spPr>
      </p:sp>
      <p:sp>
        <p:nvSpPr>
          <p:cNvPr id="42" name="Text 40"/>
          <p:cNvSpPr/>
          <p:nvPr/>
        </p:nvSpPr>
        <p:spPr>
          <a:xfrm>
            <a:off x="3310128" y="3694176"/>
            <a:ext cx="420624"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43" name="Text 41"/>
          <p:cNvSpPr/>
          <p:nvPr/>
        </p:nvSpPr>
        <p:spPr>
          <a:xfrm>
            <a:off x="3803904" y="3648456"/>
            <a:ext cx="2651760" cy="201168"/>
          </a:xfrm>
          <a:prstGeom prst="rect">
            <a:avLst/>
          </a:prstGeom>
          <a:noFill/>
          <a:ln/>
        </p:spPr>
        <p:txBody>
          <a:bodyPr wrap="square" lIns="0" tIns="0" rIns="0" bIns="0" rtlCol="0" anchor="ctr"/>
          <a:lstStyle/>
          <a:p>
            <a:pPr marL="0" indent="0">
              <a:buNone/>
            </a:pPr>
            <a:r>
              <a:rPr lang="en-US" sz="1000" b="1" dirty="0">
                <a:solidFill>
                  <a:srgbClr val="028090"/>
                </a:solidFill>
                <a:latin typeface="Consolas" pitchFamily="34" charset="0"/>
                <a:ea typeface="Consolas" pitchFamily="34" charset="-122"/>
                <a:cs typeface="Consolas" pitchFamily="34" charset="-120"/>
              </a:rPr>
              <a:t>/api/fhir/observation/steps</a:t>
            </a:r>
            <a:endParaRPr lang="en-US" sz="1000" dirty="0"/>
          </a:p>
        </p:txBody>
      </p:sp>
      <p:sp>
        <p:nvSpPr>
          <p:cNvPr id="44" name="Text 42"/>
          <p:cNvSpPr/>
          <p:nvPr/>
        </p:nvSpPr>
        <p:spPr>
          <a:xfrm>
            <a:off x="3803904" y="3840480"/>
            <a:ext cx="4846320" cy="146304"/>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Step Count  (LOINC 55423-8)  — derived from MPU-6050 motion data</a:t>
            </a:r>
            <a:endParaRPr lang="en-US" sz="900" dirty="0"/>
          </a:p>
        </p:txBody>
      </p:sp>
      <p:sp>
        <p:nvSpPr>
          <p:cNvPr id="45" name="Shape 43"/>
          <p:cNvSpPr/>
          <p:nvPr/>
        </p:nvSpPr>
        <p:spPr>
          <a:xfrm>
            <a:off x="3246120" y="4078224"/>
            <a:ext cx="5532120" cy="384048"/>
          </a:xfrm>
          <a:prstGeom prst="rect">
            <a:avLst/>
          </a:prstGeom>
          <a:solidFill>
            <a:srgbClr val="FFFFFF"/>
          </a:solidFill>
          <a:ln/>
          <a:effectLst>
            <a:outerShdw blurRad="38100" dist="12700" dir="8100000" algn="bl" rotWithShape="0">
              <a:srgbClr val="000000">
                <a:alpha val="6000"/>
              </a:srgbClr>
            </a:outerShdw>
          </a:effectLst>
        </p:spPr>
      </p:sp>
      <p:sp>
        <p:nvSpPr>
          <p:cNvPr id="46" name="Shape 44"/>
          <p:cNvSpPr/>
          <p:nvPr/>
        </p:nvSpPr>
        <p:spPr>
          <a:xfrm>
            <a:off x="3310128" y="4151376"/>
            <a:ext cx="420624" cy="201168"/>
          </a:xfrm>
          <a:prstGeom prst="roundRect">
            <a:avLst>
              <a:gd name="adj" fmla="val 18182"/>
            </a:avLst>
          </a:prstGeom>
          <a:solidFill>
            <a:srgbClr val="028090"/>
          </a:solidFill>
          <a:ln/>
        </p:spPr>
      </p:sp>
      <p:sp>
        <p:nvSpPr>
          <p:cNvPr id="47" name="Text 45"/>
          <p:cNvSpPr/>
          <p:nvPr/>
        </p:nvSpPr>
        <p:spPr>
          <a:xfrm>
            <a:off x="3310128" y="4151376"/>
            <a:ext cx="420624"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48" name="Text 46"/>
          <p:cNvSpPr/>
          <p:nvPr/>
        </p:nvSpPr>
        <p:spPr>
          <a:xfrm>
            <a:off x="3803904" y="4105656"/>
            <a:ext cx="2651760" cy="201168"/>
          </a:xfrm>
          <a:prstGeom prst="rect">
            <a:avLst/>
          </a:prstGeom>
          <a:noFill/>
          <a:ln/>
        </p:spPr>
        <p:txBody>
          <a:bodyPr wrap="square" lIns="0" tIns="0" rIns="0" bIns="0" rtlCol="0" anchor="ctr"/>
          <a:lstStyle/>
          <a:p>
            <a:pPr marL="0" indent="0">
              <a:buNone/>
            </a:pPr>
            <a:r>
              <a:rPr lang="en-US" sz="1000" b="1" dirty="0">
                <a:solidFill>
                  <a:srgbClr val="028090"/>
                </a:solidFill>
                <a:latin typeface="Consolas" pitchFamily="34" charset="0"/>
                <a:ea typeface="Consolas" pitchFamily="34" charset="-122"/>
                <a:cs typeface="Consolas" pitchFamily="34" charset="-120"/>
              </a:rPr>
              <a:t>/api/fhir/condition</a:t>
            </a:r>
            <a:endParaRPr lang="en-US" sz="1000" dirty="0"/>
          </a:p>
        </p:txBody>
      </p:sp>
      <p:sp>
        <p:nvSpPr>
          <p:cNvPr id="49" name="Text 47"/>
          <p:cNvSpPr/>
          <p:nvPr/>
        </p:nvSpPr>
        <p:spPr>
          <a:xfrm>
            <a:off x="3803904" y="4297680"/>
            <a:ext cx="4846320" cy="146304"/>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Active health alerts — e.g. tachycardia episode, elevated temperature</a:t>
            </a:r>
            <a:endParaRPr lang="en-US" sz="900" dirty="0"/>
          </a:p>
        </p:txBody>
      </p:sp>
      <p:sp>
        <p:nvSpPr>
          <p:cNvPr id="50" name="Shape 48"/>
          <p:cNvSpPr/>
          <p:nvPr/>
        </p:nvSpPr>
        <p:spPr>
          <a:xfrm>
            <a:off x="3246120" y="4535424"/>
            <a:ext cx="5532120" cy="384048"/>
          </a:xfrm>
          <a:prstGeom prst="rect">
            <a:avLst/>
          </a:prstGeom>
          <a:solidFill>
            <a:srgbClr val="FFFFFF"/>
          </a:solidFill>
          <a:ln/>
          <a:effectLst>
            <a:outerShdw blurRad="38100" dist="12700" dir="8100000" algn="bl" rotWithShape="0">
              <a:srgbClr val="000000">
                <a:alpha val="6000"/>
              </a:srgbClr>
            </a:outerShdw>
          </a:effectLst>
        </p:spPr>
      </p:sp>
      <p:sp>
        <p:nvSpPr>
          <p:cNvPr id="51" name="Shape 49"/>
          <p:cNvSpPr/>
          <p:nvPr/>
        </p:nvSpPr>
        <p:spPr>
          <a:xfrm>
            <a:off x="3310128" y="4608576"/>
            <a:ext cx="420624" cy="201168"/>
          </a:xfrm>
          <a:prstGeom prst="roundRect">
            <a:avLst>
              <a:gd name="adj" fmla="val 18182"/>
            </a:avLst>
          </a:prstGeom>
          <a:solidFill>
            <a:srgbClr val="028090"/>
          </a:solidFill>
          <a:ln/>
        </p:spPr>
      </p:sp>
      <p:sp>
        <p:nvSpPr>
          <p:cNvPr id="52" name="Text 50"/>
          <p:cNvSpPr/>
          <p:nvPr/>
        </p:nvSpPr>
        <p:spPr>
          <a:xfrm>
            <a:off x="3310128" y="4608576"/>
            <a:ext cx="420624"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53" name="Text 51"/>
          <p:cNvSpPr/>
          <p:nvPr/>
        </p:nvSpPr>
        <p:spPr>
          <a:xfrm>
            <a:off x="3803904" y="4562856"/>
            <a:ext cx="2651760" cy="201168"/>
          </a:xfrm>
          <a:prstGeom prst="rect">
            <a:avLst/>
          </a:prstGeom>
          <a:noFill/>
          <a:ln/>
        </p:spPr>
        <p:txBody>
          <a:bodyPr wrap="square" lIns="0" tIns="0" rIns="0" bIns="0" rtlCol="0" anchor="ctr"/>
          <a:lstStyle/>
          <a:p>
            <a:pPr marL="0" indent="0">
              <a:buNone/>
            </a:pPr>
            <a:r>
              <a:rPr lang="en-US" sz="1000" b="1" dirty="0">
                <a:solidFill>
                  <a:srgbClr val="028090"/>
                </a:solidFill>
                <a:latin typeface="Consolas" pitchFamily="34" charset="0"/>
                <a:ea typeface="Consolas" pitchFamily="34" charset="-122"/>
                <a:cs typeface="Consolas" pitchFamily="34" charset="-120"/>
              </a:rPr>
              <a:t>/api/fhir/careplan</a:t>
            </a:r>
            <a:endParaRPr lang="en-US" sz="1000" dirty="0"/>
          </a:p>
        </p:txBody>
      </p:sp>
      <p:sp>
        <p:nvSpPr>
          <p:cNvPr id="54" name="Text 52"/>
          <p:cNvSpPr/>
          <p:nvPr/>
        </p:nvSpPr>
        <p:spPr>
          <a:xfrm>
            <a:off x="3803904" y="4754880"/>
            <a:ext cx="4846320" cy="146304"/>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Doctor's monitoring plan — thresholds, frequency, instructions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Clinical Workflow — How Doctors Interact with Smartband FHIR Data</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FHIR transforms the Smartband from a simple data collector into a clinical tool. The workflow below shows how a doctor can monitor a patient remotely, receive alerts, and document clinical decisions — all through the FHIR standard.</a:t>
            </a:r>
            <a:endParaRPr lang="en-US" sz="1200" dirty="0"/>
          </a:p>
        </p:txBody>
      </p:sp>
      <p:sp>
        <p:nvSpPr>
          <p:cNvPr id="10" name="Shape 8"/>
          <p:cNvSpPr/>
          <p:nvPr/>
        </p:nvSpPr>
        <p:spPr>
          <a:xfrm>
            <a:off x="365760" y="1325880"/>
            <a:ext cx="4160520" cy="969264"/>
          </a:xfrm>
          <a:prstGeom prst="rect">
            <a:avLst/>
          </a:prstGeom>
          <a:solidFill>
            <a:srgbClr val="FFFFFF"/>
          </a:solidFill>
          <a:ln/>
          <a:effectLst>
            <a:outerShdw blurRad="50800" dist="25400" dir="8100000" algn="bl" rotWithShape="0">
              <a:srgbClr val="000000">
                <a:alpha val="7000"/>
              </a:srgbClr>
            </a:outerShdw>
          </a:effectLst>
        </p:spPr>
      </p:sp>
      <p:sp>
        <p:nvSpPr>
          <p:cNvPr id="11" name="Shape 9"/>
          <p:cNvSpPr/>
          <p:nvPr/>
        </p:nvSpPr>
        <p:spPr>
          <a:xfrm>
            <a:off x="438912" y="1508760"/>
            <a:ext cx="475488" cy="475488"/>
          </a:xfrm>
          <a:prstGeom prst="ellipse">
            <a:avLst/>
          </a:prstGeom>
          <a:solidFill>
            <a:srgbClr val="028090"/>
          </a:solidFill>
          <a:ln/>
        </p:spPr>
      </p:sp>
      <p:sp>
        <p:nvSpPr>
          <p:cNvPr id="12" name="Text 10"/>
          <p:cNvSpPr/>
          <p:nvPr/>
        </p:nvSpPr>
        <p:spPr>
          <a:xfrm>
            <a:off x="438912" y="1508760"/>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3" name="Text 11"/>
          <p:cNvSpPr/>
          <p:nvPr/>
        </p:nvSpPr>
        <p:spPr>
          <a:xfrm>
            <a:off x="1024128" y="1399032"/>
            <a:ext cx="338328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Patient wears Smartband V001</a:t>
            </a:r>
            <a:endParaRPr lang="en-US" sz="1200" dirty="0"/>
          </a:p>
        </p:txBody>
      </p:sp>
      <p:sp>
        <p:nvSpPr>
          <p:cNvPr id="14" name="Text 12"/>
          <p:cNvSpPr/>
          <p:nvPr/>
        </p:nvSpPr>
        <p:spPr>
          <a:xfrm>
            <a:off x="1024128" y="1691640"/>
            <a:ext cx="3383280" cy="548640"/>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The device continuously collects HR, SpO2, body temperature, and acceleration every 2 seconds. The patient goes about their daily life wearing the band on the wrist.</a:t>
            </a:r>
            <a:endParaRPr lang="en-US" sz="1000" dirty="0"/>
          </a:p>
        </p:txBody>
      </p:sp>
      <p:sp>
        <p:nvSpPr>
          <p:cNvPr id="15" name="Text 13"/>
          <p:cNvSpPr/>
          <p:nvPr/>
        </p:nvSpPr>
        <p:spPr>
          <a:xfrm>
            <a:off x="530352" y="2295144"/>
            <a:ext cx="256032" cy="182880"/>
          </a:xfrm>
          <a:prstGeom prst="rect">
            <a:avLst/>
          </a:prstGeom>
          <a:noFill/>
          <a:ln/>
        </p:spPr>
        <p:txBody>
          <a:bodyPr wrap="square" lIns="0" tIns="0" rIns="0" bIns="0" rtlCol="0" anchor="ctr"/>
          <a:lstStyle/>
          <a:p>
            <a:pPr marL="0" indent="0" algn="ctr">
              <a:buNone/>
            </a:pPr>
            <a:r>
              <a:rPr lang="en-US" sz="1100" dirty="0">
                <a:solidFill>
                  <a:srgbClr val="6B7A8D"/>
                </a:solidFill>
                <a:latin typeface="Calibri" pitchFamily="34" charset="0"/>
                <a:ea typeface="Calibri" pitchFamily="34" charset="-122"/>
                <a:cs typeface="Calibri" pitchFamily="34" charset="-120"/>
              </a:rPr>
              <a:t>↓</a:t>
            </a:r>
            <a:endParaRPr lang="en-US" sz="1100" dirty="0"/>
          </a:p>
        </p:txBody>
      </p:sp>
      <p:sp>
        <p:nvSpPr>
          <p:cNvPr id="16" name="Shape 14"/>
          <p:cNvSpPr/>
          <p:nvPr/>
        </p:nvSpPr>
        <p:spPr>
          <a:xfrm>
            <a:off x="365760" y="2459736"/>
            <a:ext cx="4160520" cy="969264"/>
          </a:xfrm>
          <a:prstGeom prst="rect">
            <a:avLst/>
          </a:prstGeom>
          <a:solidFill>
            <a:srgbClr val="FFFFFF"/>
          </a:solidFill>
          <a:ln/>
          <a:effectLst>
            <a:outerShdw blurRad="50800" dist="25400" dir="8100000" algn="bl" rotWithShape="0">
              <a:srgbClr val="000000">
                <a:alpha val="7000"/>
              </a:srgbClr>
            </a:outerShdw>
          </a:effectLst>
        </p:spPr>
      </p:sp>
      <p:sp>
        <p:nvSpPr>
          <p:cNvPr id="17" name="Shape 15"/>
          <p:cNvSpPr/>
          <p:nvPr/>
        </p:nvSpPr>
        <p:spPr>
          <a:xfrm>
            <a:off x="438912" y="2642616"/>
            <a:ext cx="475488" cy="475488"/>
          </a:xfrm>
          <a:prstGeom prst="ellipse">
            <a:avLst/>
          </a:prstGeom>
          <a:solidFill>
            <a:srgbClr val="E87A1A"/>
          </a:solidFill>
          <a:ln/>
        </p:spPr>
      </p:sp>
      <p:sp>
        <p:nvSpPr>
          <p:cNvPr id="18" name="Text 16"/>
          <p:cNvSpPr/>
          <p:nvPr/>
        </p:nvSpPr>
        <p:spPr>
          <a:xfrm>
            <a:off x="438912" y="2642616"/>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9" name="Text 17"/>
          <p:cNvSpPr/>
          <p:nvPr/>
        </p:nvSpPr>
        <p:spPr>
          <a:xfrm>
            <a:off x="1024128" y="2532888"/>
            <a:ext cx="338328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Bluetooth transmission to gateway</a:t>
            </a:r>
            <a:endParaRPr lang="en-US" sz="1200" dirty="0"/>
          </a:p>
        </p:txBody>
      </p:sp>
      <p:sp>
        <p:nvSpPr>
          <p:cNvPr id="20" name="Text 18"/>
          <p:cNvSpPr/>
          <p:nvPr/>
        </p:nvSpPr>
        <p:spPr>
          <a:xfrm>
            <a:off x="1024128" y="2825496"/>
            <a:ext cx="3383280" cy="548640"/>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The CC2640R2F firmware transmits readings via BLE GATT profile to the Raspberry Pi 5 gateway. The Pmod BT2 module on the Pi receives the data via UART at 115200 baud.</a:t>
            </a:r>
            <a:endParaRPr lang="en-US" sz="1000" dirty="0"/>
          </a:p>
        </p:txBody>
      </p:sp>
      <p:sp>
        <p:nvSpPr>
          <p:cNvPr id="21" name="Text 19"/>
          <p:cNvSpPr/>
          <p:nvPr/>
        </p:nvSpPr>
        <p:spPr>
          <a:xfrm>
            <a:off x="530352" y="3429000"/>
            <a:ext cx="256032" cy="182880"/>
          </a:xfrm>
          <a:prstGeom prst="rect">
            <a:avLst/>
          </a:prstGeom>
          <a:noFill/>
          <a:ln/>
        </p:spPr>
        <p:txBody>
          <a:bodyPr wrap="square" lIns="0" tIns="0" rIns="0" bIns="0" rtlCol="0" anchor="ctr"/>
          <a:lstStyle/>
          <a:p>
            <a:pPr marL="0" indent="0" algn="ctr">
              <a:buNone/>
            </a:pPr>
            <a:r>
              <a:rPr lang="en-US" sz="1100" dirty="0">
                <a:solidFill>
                  <a:srgbClr val="6B7A8D"/>
                </a:solidFill>
                <a:latin typeface="Calibri" pitchFamily="34" charset="0"/>
                <a:ea typeface="Calibri" pitchFamily="34" charset="-122"/>
                <a:cs typeface="Calibri" pitchFamily="34" charset="-120"/>
              </a:rPr>
              <a:t>↓</a:t>
            </a:r>
            <a:endParaRPr lang="en-US" sz="1100" dirty="0"/>
          </a:p>
        </p:txBody>
      </p:sp>
      <p:sp>
        <p:nvSpPr>
          <p:cNvPr id="22" name="Shape 20"/>
          <p:cNvSpPr/>
          <p:nvPr/>
        </p:nvSpPr>
        <p:spPr>
          <a:xfrm>
            <a:off x="365760" y="3593592"/>
            <a:ext cx="4160520" cy="969264"/>
          </a:xfrm>
          <a:prstGeom prst="rect">
            <a:avLst/>
          </a:prstGeom>
          <a:solidFill>
            <a:srgbClr val="FFFFFF"/>
          </a:solidFill>
          <a:ln/>
          <a:effectLst>
            <a:outerShdw blurRad="50800" dist="25400" dir="8100000" algn="bl" rotWithShape="0">
              <a:srgbClr val="000000">
                <a:alpha val="7000"/>
              </a:srgbClr>
            </a:outerShdw>
          </a:effectLst>
        </p:spPr>
      </p:sp>
      <p:sp>
        <p:nvSpPr>
          <p:cNvPr id="23" name="Shape 21"/>
          <p:cNvSpPr/>
          <p:nvPr/>
        </p:nvSpPr>
        <p:spPr>
          <a:xfrm>
            <a:off x="438912" y="3776472"/>
            <a:ext cx="475488" cy="475488"/>
          </a:xfrm>
          <a:prstGeom prst="ellipse">
            <a:avLst/>
          </a:prstGeom>
          <a:solidFill>
            <a:srgbClr val="028090"/>
          </a:solidFill>
          <a:ln/>
        </p:spPr>
      </p:sp>
      <p:sp>
        <p:nvSpPr>
          <p:cNvPr id="24" name="Text 22"/>
          <p:cNvSpPr/>
          <p:nvPr/>
        </p:nvSpPr>
        <p:spPr>
          <a:xfrm>
            <a:off x="438912" y="377647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5" name="Text 23"/>
          <p:cNvSpPr/>
          <p:nvPr/>
        </p:nvSpPr>
        <p:spPr>
          <a:xfrm>
            <a:off x="1024128" y="3666744"/>
            <a:ext cx="338328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FHIR structuring at the gateway</a:t>
            </a:r>
            <a:endParaRPr lang="en-US" sz="1200" dirty="0"/>
          </a:p>
        </p:txBody>
      </p:sp>
      <p:sp>
        <p:nvSpPr>
          <p:cNvPr id="26" name="Text 24"/>
          <p:cNvSpPr/>
          <p:nvPr/>
        </p:nvSpPr>
        <p:spPr>
          <a:xfrm>
            <a:off x="1024128" y="3959352"/>
            <a:ext cx="3383280" cy="548640"/>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The gateway maps raw sensor values to FHIR R4 Observation resources — adding LOINC codes, UCUM units, ISO 8601 timestamps, and a reference to the Patient resource.</a:t>
            </a:r>
            <a:endParaRPr lang="en-US" sz="1000" dirty="0"/>
          </a:p>
        </p:txBody>
      </p:sp>
      <p:sp>
        <p:nvSpPr>
          <p:cNvPr id="27" name="Shape 25"/>
          <p:cNvSpPr/>
          <p:nvPr/>
        </p:nvSpPr>
        <p:spPr>
          <a:xfrm>
            <a:off x="4663440" y="1325880"/>
            <a:ext cx="4160520" cy="969264"/>
          </a:xfrm>
          <a:prstGeom prst="rect">
            <a:avLst/>
          </a:prstGeom>
          <a:solidFill>
            <a:srgbClr val="FFFFFF"/>
          </a:solidFill>
          <a:ln/>
          <a:effectLst>
            <a:outerShdw blurRad="50800" dist="25400" dir="8100000" algn="bl" rotWithShape="0">
              <a:srgbClr val="000000">
                <a:alpha val="7000"/>
              </a:srgbClr>
            </a:outerShdw>
          </a:effectLst>
        </p:spPr>
      </p:sp>
      <p:sp>
        <p:nvSpPr>
          <p:cNvPr id="28" name="Shape 26"/>
          <p:cNvSpPr/>
          <p:nvPr/>
        </p:nvSpPr>
        <p:spPr>
          <a:xfrm>
            <a:off x="4736592" y="1508760"/>
            <a:ext cx="475488" cy="475488"/>
          </a:xfrm>
          <a:prstGeom prst="ellipse">
            <a:avLst/>
          </a:prstGeom>
          <a:solidFill>
            <a:srgbClr val="0D1B2A"/>
          </a:solidFill>
          <a:ln/>
        </p:spPr>
      </p:sp>
      <p:sp>
        <p:nvSpPr>
          <p:cNvPr id="29" name="Text 27"/>
          <p:cNvSpPr/>
          <p:nvPr/>
        </p:nvSpPr>
        <p:spPr>
          <a:xfrm>
            <a:off x="4736592" y="1508760"/>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0" name="Text 28"/>
          <p:cNvSpPr/>
          <p:nvPr/>
        </p:nvSpPr>
        <p:spPr>
          <a:xfrm>
            <a:off x="5321808" y="1399032"/>
            <a:ext cx="338328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Doctor accesses live FHIR data</a:t>
            </a:r>
            <a:endParaRPr lang="en-US" sz="1200" dirty="0"/>
          </a:p>
        </p:txBody>
      </p:sp>
      <p:sp>
        <p:nvSpPr>
          <p:cNvPr id="31" name="Text 29"/>
          <p:cNvSpPr/>
          <p:nvPr/>
        </p:nvSpPr>
        <p:spPr>
          <a:xfrm>
            <a:off x="5321808" y="1691640"/>
            <a:ext cx="3383280" cy="548640"/>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The clinician opens the web app or their hospital EHR system. Both query the FHIR REST API and display live vitals, trend graphs, and the full alert history for each patient.</a:t>
            </a:r>
            <a:endParaRPr lang="en-US" sz="1000" dirty="0"/>
          </a:p>
        </p:txBody>
      </p:sp>
      <p:sp>
        <p:nvSpPr>
          <p:cNvPr id="32" name="Text 30"/>
          <p:cNvSpPr/>
          <p:nvPr/>
        </p:nvSpPr>
        <p:spPr>
          <a:xfrm>
            <a:off x="4828032" y="2295144"/>
            <a:ext cx="256032" cy="182880"/>
          </a:xfrm>
          <a:prstGeom prst="rect">
            <a:avLst/>
          </a:prstGeom>
          <a:noFill/>
          <a:ln/>
        </p:spPr>
        <p:txBody>
          <a:bodyPr wrap="square" lIns="0" tIns="0" rIns="0" bIns="0" rtlCol="0" anchor="ctr"/>
          <a:lstStyle/>
          <a:p>
            <a:pPr marL="0" indent="0" algn="ctr">
              <a:buNone/>
            </a:pPr>
            <a:r>
              <a:rPr lang="en-US" sz="1100" dirty="0">
                <a:solidFill>
                  <a:srgbClr val="6B7A8D"/>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4663440" y="2459736"/>
            <a:ext cx="4160520" cy="969264"/>
          </a:xfrm>
          <a:prstGeom prst="rect">
            <a:avLst/>
          </a:prstGeom>
          <a:solidFill>
            <a:srgbClr val="FFFFFF"/>
          </a:solidFill>
          <a:ln/>
          <a:effectLst>
            <a:outerShdw blurRad="50800" dist="25400" dir="8100000" algn="bl" rotWithShape="0">
              <a:srgbClr val="000000">
                <a:alpha val="7000"/>
              </a:srgbClr>
            </a:outerShdw>
          </a:effectLst>
        </p:spPr>
      </p:sp>
      <p:sp>
        <p:nvSpPr>
          <p:cNvPr id="34" name="Shape 32"/>
          <p:cNvSpPr/>
          <p:nvPr/>
        </p:nvSpPr>
        <p:spPr>
          <a:xfrm>
            <a:off x="4736592" y="2642616"/>
            <a:ext cx="475488" cy="475488"/>
          </a:xfrm>
          <a:prstGeom prst="ellipse">
            <a:avLst/>
          </a:prstGeom>
          <a:solidFill>
            <a:srgbClr val="E84040"/>
          </a:solidFill>
          <a:ln/>
        </p:spPr>
      </p:sp>
      <p:sp>
        <p:nvSpPr>
          <p:cNvPr id="35" name="Text 33"/>
          <p:cNvSpPr/>
          <p:nvPr/>
        </p:nvSpPr>
        <p:spPr>
          <a:xfrm>
            <a:off x="4736592" y="2642616"/>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6" name="Text 34"/>
          <p:cNvSpPr/>
          <p:nvPr/>
        </p:nvSpPr>
        <p:spPr>
          <a:xfrm>
            <a:off x="5321808" y="2532888"/>
            <a:ext cx="338328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Threshold crossed — alert generated</a:t>
            </a:r>
            <a:endParaRPr lang="en-US" sz="1200" dirty="0"/>
          </a:p>
        </p:txBody>
      </p:sp>
      <p:sp>
        <p:nvSpPr>
          <p:cNvPr id="37" name="Text 35"/>
          <p:cNvSpPr/>
          <p:nvPr/>
        </p:nvSpPr>
        <p:spPr>
          <a:xfrm>
            <a:off x="5321808" y="2825496"/>
            <a:ext cx="3383280" cy="548640"/>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When HR exceeds 100 BPM, temperature exceeds 38.5°C, or acceleration exceeds 2.0G, a FHIR Condition resource is created and a FHIR Subscription pushes an alert to the doctor's device in real time.</a:t>
            </a:r>
            <a:endParaRPr lang="en-US" sz="1000" dirty="0"/>
          </a:p>
        </p:txBody>
      </p:sp>
      <p:sp>
        <p:nvSpPr>
          <p:cNvPr id="38" name="Text 36"/>
          <p:cNvSpPr/>
          <p:nvPr/>
        </p:nvSpPr>
        <p:spPr>
          <a:xfrm>
            <a:off x="4828032" y="3429000"/>
            <a:ext cx="256032" cy="182880"/>
          </a:xfrm>
          <a:prstGeom prst="rect">
            <a:avLst/>
          </a:prstGeom>
          <a:noFill/>
          <a:ln/>
        </p:spPr>
        <p:txBody>
          <a:bodyPr wrap="square" lIns="0" tIns="0" rIns="0" bIns="0" rtlCol="0" anchor="ctr"/>
          <a:lstStyle/>
          <a:p>
            <a:pPr marL="0" indent="0" algn="ctr">
              <a:buNone/>
            </a:pPr>
            <a:r>
              <a:rPr lang="en-US" sz="1100" dirty="0">
                <a:solidFill>
                  <a:srgbClr val="6B7A8D"/>
                </a:solidFill>
                <a:latin typeface="Calibri" pitchFamily="34" charset="0"/>
                <a:ea typeface="Calibri" pitchFamily="34" charset="-122"/>
                <a:cs typeface="Calibri" pitchFamily="34" charset="-120"/>
              </a:rPr>
              <a:t>↓</a:t>
            </a:r>
            <a:endParaRPr lang="en-US" sz="1100" dirty="0"/>
          </a:p>
        </p:txBody>
      </p:sp>
      <p:sp>
        <p:nvSpPr>
          <p:cNvPr id="39" name="Shape 37"/>
          <p:cNvSpPr/>
          <p:nvPr/>
        </p:nvSpPr>
        <p:spPr>
          <a:xfrm>
            <a:off x="4663440" y="3593592"/>
            <a:ext cx="4160520" cy="969264"/>
          </a:xfrm>
          <a:prstGeom prst="rect">
            <a:avLst/>
          </a:prstGeom>
          <a:solidFill>
            <a:srgbClr val="FFFFFF"/>
          </a:solidFill>
          <a:ln/>
          <a:effectLst>
            <a:outerShdw blurRad="50800" dist="25400" dir="8100000" algn="bl" rotWithShape="0">
              <a:srgbClr val="000000">
                <a:alpha val="7000"/>
              </a:srgbClr>
            </a:outerShdw>
          </a:effectLst>
        </p:spPr>
      </p:sp>
      <p:sp>
        <p:nvSpPr>
          <p:cNvPr id="40" name="Shape 38"/>
          <p:cNvSpPr/>
          <p:nvPr/>
        </p:nvSpPr>
        <p:spPr>
          <a:xfrm>
            <a:off x="4736592" y="3776472"/>
            <a:ext cx="475488" cy="475488"/>
          </a:xfrm>
          <a:prstGeom prst="ellipse">
            <a:avLst/>
          </a:prstGeom>
          <a:solidFill>
            <a:srgbClr val="7C3AED"/>
          </a:solidFill>
          <a:ln/>
        </p:spPr>
      </p:sp>
      <p:sp>
        <p:nvSpPr>
          <p:cNvPr id="41" name="Text 39"/>
          <p:cNvSpPr/>
          <p:nvPr/>
        </p:nvSpPr>
        <p:spPr>
          <a:xfrm>
            <a:off x="4736592" y="3776472"/>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2" name="Text 40"/>
          <p:cNvSpPr/>
          <p:nvPr/>
        </p:nvSpPr>
        <p:spPr>
          <a:xfrm>
            <a:off x="5321808" y="3666744"/>
            <a:ext cx="338328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Doctor updates patient status</a:t>
            </a:r>
            <a:endParaRPr lang="en-US" sz="1200" dirty="0"/>
          </a:p>
        </p:txBody>
      </p:sp>
      <p:sp>
        <p:nvSpPr>
          <p:cNvPr id="43" name="Text 41"/>
          <p:cNvSpPr/>
          <p:nvPr/>
        </p:nvSpPr>
        <p:spPr>
          <a:xfrm>
            <a:off x="5321808" y="3959352"/>
            <a:ext cx="3383280" cy="548640"/>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The doctor taps the patient card, changes status to 'Under Observation' or 'Critical', and types a clinical note. The note is stored as a FHIR Condition and visible immediately on all connected systems.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Current PCB Sensors &amp; Planned Future Hardware</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Band01_Rev1 already carries three sensors whose FHIR mapping is defined and ready. Five additional sensors are planned for future PCB revisions to expand clinical coverage — each with a specific recommended module for procurement.</a:t>
            </a:r>
            <a:endParaRPr lang="en-US" sz="1200" dirty="0"/>
          </a:p>
        </p:txBody>
      </p:sp>
      <p:sp>
        <p:nvSpPr>
          <p:cNvPr id="10" name="Shape 8"/>
          <p:cNvSpPr/>
          <p:nvPr/>
        </p:nvSpPr>
        <p:spPr>
          <a:xfrm>
            <a:off x="365760" y="1325880"/>
            <a:ext cx="4160520" cy="320040"/>
          </a:xfrm>
          <a:prstGeom prst="rect">
            <a:avLst/>
          </a:prstGeom>
          <a:solidFill>
            <a:srgbClr val="028090"/>
          </a:solidFill>
          <a:ln/>
        </p:spPr>
      </p:sp>
      <p:sp>
        <p:nvSpPr>
          <p:cNvPr id="11" name="Text 9"/>
          <p:cNvSpPr/>
          <p:nvPr/>
        </p:nvSpPr>
        <p:spPr>
          <a:xfrm>
            <a:off x="365760" y="1325880"/>
            <a:ext cx="41605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Already on Band01_Rev1 PCB</a:t>
            </a:r>
            <a:endParaRPr lang="en-US" sz="1200" dirty="0"/>
          </a:p>
        </p:txBody>
      </p:sp>
      <p:sp>
        <p:nvSpPr>
          <p:cNvPr id="12" name="Shape 10"/>
          <p:cNvSpPr/>
          <p:nvPr/>
        </p:nvSpPr>
        <p:spPr>
          <a:xfrm>
            <a:off x="365760" y="1719072"/>
            <a:ext cx="4160520" cy="822960"/>
          </a:xfrm>
          <a:prstGeom prst="rect">
            <a:avLst/>
          </a:prstGeom>
          <a:solidFill>
            <a:srgbClr val="FFFFFF"/>
          </a:solidFill>
          <a:ln/>
          <a:effectLst>
            <a:outerShdw blurRad="50800" dist="25400" dir="8100000" algn="bl" rotWithShape="0">
              <a:srgbClr val="000000">
                <a:alpha val="7000"/>
              </a:srgbClr>
            </a:outerShdw>
          </a:effectLst>
        </p:spPr>
      </p:sp>
      <p:sp>
        <p:nvSpPr>
          <p:cNvPr id="13" name="Shape 11"/>
          <p:cNvSpPr/>
          <p:nvPr/>
        </p:nvSpPr>
        <p:spPr>
          <a:xfrm>
            <a:off x="365760" y="1719072"/>
            <a:ext cx="54864" cy="822960"/>
          </a:xfrm>
          <a:prstGeom prst="rect">
            <a:avLst/>
          </a:prstGeom>
          <a:solidFill>
            <a:srgbClr val="028090"/>
          </a:solidFill>
          <a:ln/>
        </p:spPr>
      </p:sp>
      <p:sp>
        <p:nvSpPr>
          <p:cNvPr id="14" name="Text 12"/>
          <p:cNvSpPr/>
          <p:nvPr/>
        </p:nvSpPr>
        <p:spPr>
          <a:xfrm>
            <a:off x="493776" y="1764792"/>
            <a:ext cx="137160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MAX30102</a:t>
            </a:r>
            <a:endParaRPr lang="en-US" sz="1300" dirty="0"/>
          </a:p>
        </p:txBody>
      </p:sp>
      <p:sp>
        <p:nvSpPr>
          <p:cNvPr id="15" name="Text 13"/>
          <p:cNvSpPr/>
          <p:nvPr/>
        </p:nvSpPr>
        <p:spPr>
          <a:xfrm>
            <a:off x="493776" y="1993392"/>
            <a:ext cx="1371600" cy="182880"/>
          </a:xfrm>
          <a:prstGeom prst="rect">
            <a:avLst/>
          </a:prstGeom>
          <a:noFill/>
          <a:ln/>
        </p:spPr>
        <p:txBody>
          <a:bodyPr wrap="square" lIns="0" tIns="0" rIns="0" bIns="0" rtlCol="0" anchor="ctr"/>
          <a:lstStyle/>
          <a:p>
            <a:pPr marL="0" indent="0">
              <a:buNone/>
            </a:pPr>
            <a:r>
              <a:rPr lang="en-US" sz="1000" i="1" dirty="0">
                <a:solidFill>
                  <a:srgbClr val="028090"/>
                </a:solidFill>
                <a:latin typeface="Calibri" pitchFamily="34" charset="0"/>
                <a:ea typeface="Calibri" pitchFamily="34" charset="-122"/>
                <a:cs typeface="Calibri" pitchFamily="34" charset="-120"/>
              </a:rPr>
              <a:t>Heart Rate &amp; SpO2</a:t>
            </a:r>
            <a:endParaRPr lang="en-US" sz="1000" dirty="0"/>
          </a:p>
        </p:txBody>
      </p:sp>
      <p:sp>
        <p:nvSpPr>
          <p:cNvPr id="16" name="Text 14"/>
          <p:cNvSpPr/>
          <p:nvPr/>
        </p:nvSpPr>
        <p:spPr>
          <a:xfrm>
            <a:off x="1920240" y="1764792"/>
            <a:ext cx="2514600" cy="749808"/>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Optical sensor using 660nm red and 940nm IR LEDs. Detects blood flow through the wrist to calculate HR (LOINC 8867-4) and blood oxygen saturation (LOINC 2708-6). Interface: I2C at address 0x57.</a:t>
            </a:r>
            <a:endParaRPr lang="en-US" sz="1000" dirty="0"/>
          </a:p>
        </p:txBody>
      </p:sp>
      <p:pic>
        <p:nvPicPr>
          <p:cNvPr id="17" name="Image 0" descr="preencoded.png"/>
          <p:cNvPicPr>
            <a:picLocks noChangeAspect="1"/>
          </p:cNvPicPr>
          <p:nvPr/>
        </p:nvPicPr>
        <p:blipFill>
          <a:blip r:embed="rId3"/>
          <a:stretch>
            <a:fillRect/>
          </a:stretch>
        </p:blipFill>
        <p:spPr>
          <a:xfrm>
            <a:off x="4178808" y="1993392"/>
            <a:ext cx="274320" cy="274320"/>
          </a:xfrm>
          <a:prstGeom prst="rect">
            <a:avLst/>
          </a:prstGeom>
        </p:spPr>
      </p:pic>
      <p:sp>
        <p:nvSpPr>
          <p:cNvPr id="18" name="Shape 15"/>
          <p:cNvSpPr/>
          <p:nvPr/>
        </p:nvSpPr>
        <p:spPr>
          <a:xfrm>
            <a:off x="365760" y="2688336"/>
            <a:ext cx="4160520" cy="822960"/>
          </a:xfrm>
          <a:prstGeom prst="rect">
            <a:avLst/>
          </a:prstGeom>
          <a:solidFill>
            <a:srgbClr val="FFFFFF"/>
          </a:solidFill>
          <a:ln/>
          <a:effectLst>
            <a:outerShdw blurRad="50800" dist="25400" dir="8100000" algn="bl" rotWithShape="0">
              <a:srgbClr val="000000">
                <a:alpha val="7000"/>
              </a:srgbClr>
            </a:outerShdw>
          </a:effectLst>
        </p:spPr>
      </p:sp>
      <p:sp>
        <p:nvSpPr>
          <p:cNvPr id="19" name="Shape 16"/>
          <p:cNvSpPr/>
          <p:nvPr/>
        </p:nvSpPr>
        <p:spPr>
          <a:xfrm>
            <a:off x="365760" y="2688336"/>
            <a:ext cx="54864" cy="822960"/>
          </a:xfrm>
          <a:prstGeom prst="rect">
            <a:avLst/>
          </a:prstGeom>
          <a:solidFill>
            <a:srgbClr val="028090"/>
          </a:solidFill>
          <a:ln/>
        </p:spPr>
      </p:sp>
      <p:sp>
        <p:nvSpPr>
          <p:cNvPr id="20" name="Text 17"/>
          <p:cNvSpPr/>
          <p:nvPr/>
        </p:nvSpPr>
        <p:spPr>
          <a:xfrm>
            <a:off x="493776" y="2734056"/>
            <a:ext cx="137160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MPU-6050</a:t>
            </a:r>
            <a:endParaRPr lang="en-US" sz="1300" dirty="0"/>
          </a:p>
        </p:txBody>
      </p:sp>
      <p:sp>
        <p:nvSpPr>
          <p:cNvPr id="21" name="Text 18"/>
          <p:cNvSpPr/>
          <p:nvPr/>
        </p:nvSpPr>
        <p:spPr>
          <a:xfrm>
            <a:off x="493776" y="2962656"/>
            <a:ext cx="1371600" cy="182880"/>
          </a:xfrm>
          <a:prstGeom prst="rect">
            <a:avLst/>
          </a:prstGeom>
          <a:noFill/>
          <a:ln/>
        </p:spPr>
        <p:txBody>
          <a:bodyPr wrap="square" lIns="0" tIns="0" rIns="0" bIns="0" rtlCol="0" anchor="ctr"/>
          <a:lstStyle/>
          <a:p>
            <a:pPr marL="0" indent="0">
              <a:buNone/>
            </a:pPr>
            <a:r>
              <a:rPr lang="en-US" sz="1000" i="1" dirty="0">
                <a:solidFill>
                  <a:srgbClr val="028090"/>
                </a:solidFill>
                <a:latin typeface="Calibri" pitchFamily="34" charset="0"/>
                <a:ea typeface="Calibri" pitchFamily="34" charset="-122"/>
                <a:cs typeface="Calibri" pitchFamily="34" charset="-120"/>
              </a:rPr>
              <a:t>Accelerometer &amp; Gyroscope</a:t>
            </a:r>
            <a:endParaRPr lang="en-US" sz="1000" dirty="0"/>
          </a:p>
        </p:txBody>
      </p:sp>
      <p:sp>
        <p:nvSpPr>
          <p:cNvPr id="22" name="Text 19"/>
          <p:cNvSpPr/>
          <p:nvPr/>
        </p:nvSpPr>
        <p:spPr>
          <a:xfrm>
            <a:off x="1920240" y="2734056"/>
            <a:ext cx="2514600" cy="749808"/>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6-axis IMU with ±16g accelerometer and ±2000°/s gyroscope. Provides raw motion data for step counting (LOINC 55423-8), fall detection, and activity classification. Interface: I2C at 0x68.</a:t>
            </a:r>
            <a:endParaRPr lang="en-US" sz="1000" dirty="0"/>
          </a:p>
        </p:txBody>
      </p:sp>
      <p:pic>
        <p:nvPicPr>
          <p:cNvPr id="23" name="Image 1" descr="preencoded.png"/>
          <p:cNvPicPr>
            <a:picLocks noChangeAspect="1"/>
          </p:cNvPicPr>
          <p:nvPr/>
        </p:nvPicPr>
        <p:blipFill>
          <a:blip r:embed="rId3"/>
          <a:stretch>
            <a:fillRect/>
          </a:stretch>
        </p:blipFill>
        <p:spPr>
          <a:xfrm>
            <a:off x="4178808" y="2962656"/>
            <a:ext cx="274320" cy="274320"/>
          </a:xfrm>
          <a:prstGeom prst="rect">
            <a:avLst/>
          </a:prstGeom>
        </p:spPr>
      </p:pic>
      <p:sp>
        <p:nvSpPr>
          <p:cNvPr id="24" name="Shape 20"/>
          <p:cNvSpPr/>
          <p:nvPr/>
        </p:nvSpPr>
        <p:spPr>
          <a:xfrm>
            <a:off x="365760" y="3657600"/>
            <a:ext cx="4160520" cy="822960"/>
          </a:xfrm>
          <a:prstGeom prst="rect">
            <a:avLst/>
          </a:prstGeom>
          <a:solidFill>
            <a:srgbClr val="FFFFFF"/>
          </a:solidFill>
          <a:ln/>
          <a:effectLst>
            <a:outerShdw blurRad="50800" dist="25400" dir="8100000" algn="bl" rotWithShape="0">
              <a:srgbClr val="000000">
                <a:alpha val="7000"/>
              </a:srgbClr>
            </a:outerShdw>
          </a:effectLst>
        </p:spPr>
      </p:sp>
      <p:sp>
        <p:nvSpPr>
          <p:cNvPr id="25" name="Shape 21"/>
          <p:cNvSpPr/>
          <p:nvPr/>
        </p:nvSpPr>
        <p:spPr>
          <a:xfrm>
            <a:off x="365760" y="3657600"/>
            <a:ext cx="54864" cy="822960"/>
          </a:xfrm>
          <a:prstGeom prst="rect">
            <a:avLst/>
          </a:prstGeom>
          <a:solidFill>
            <a:srgbClr val="028090"/>
          </a:solidFill>
          <a:ln/>
        </p:spPr>
      </p:sp>
      <p:sp>
        <p:nvSpPr>
          <p:cNvPr id="26" name="Text 22"/>
          <p:cNvSpPr/>
          <p:nvPr/>
        </p:nvSpPr>
        <p:spPr>
          <a:xfrm>
            <a:off x="493776" y="3703320"/>
            <a:ext cx="1371600" cy="237744"/>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MLX90632</a:t>
            </a:r>
            <a:endParaRPr lang="en-US" sz="1300" dirty="0"/>
          </a:p>
        </p:txBody>
      </p:sp>
      <p:sp>
        <p:nvSpPr>
          <p:cNvPr id="27" name="Text 23"/>
          <p:cNvSpPr/>
          <p:nvPr/>
        </p:nvSpPr>
        <p:spPr>
          <a:xfrm>
            <a:off x="493776" y="3931920"/>
            <a:ext cx="1371600" cy="182880"/>
          </a:xfrm>
          <a:prstGeom prst="rect">
            <a:avLst/>
          </a:prstGeom>
          <a:noFill/>
          <a:ln/>
        </p:spPr>
        <p:txBody>
          <a:bodyPr wrap="square" lIns="0" tIns="0" rIns="0" bIns="0" rtlCol="0" anchor="ctr"/>
          <a:lstStyle/>
          <a:p>
            <a:pPr marL="0" indent="0">
              <a:buNone/>
            </a:pPr>
            <a:r>
              <a:rPr lang="en-US" sz="1000" i="1" dirty="0">
                <a:solidFill>
                  <a:srgbClr val="028090"/>
                </a:solidFill>
                <a:latin typeface="Calibri" pitchFamily="34" charset="0"/>
                <a:ea typeface="Calibri" pitchFamily="34" charset="-122"/>
                <a:cs typeface="Calibri" pitchFamily="34" charset="-120"/>
              </a:rPr>
              <a:t>Infrared Temperature</a:t>
            </a:r>
            <a:endParaRPr lang="en-US" sz="1000" dirty="0"/>
          </a:p>
        </p:txBody>
      </p:sp>
      <p:sp>
        <p:nvSpPr>
          <p:cNvPr id="28" name="Text 24"/>
          <p:cNvSpPr/>
          <p:nvPr/>
        </p:nvSpPr>
        <p:spPr>
          <a:xfrm>
            <a:off x="1920240" y="3703320"/>
            <a:ext cx="2514600" cy="749808"/>
          </a:xfrm>
          <a:prstGeom prst="rect">
            <a:avLst/>
          </a:prstGeom>
          <a:noFill/>
          <a:ln/>
        </p:spPr>
        <p:txBody>
          <a:bodyPr wrap="square" lIns="0" tIns="0" rIns="0" bIns="0" rtlCol="0" anchor="t"/>
          <a:lstStyle/>
          <a:p>
            <a:pPr marL="0" indent="0">
              <a:buNone/>
            </a:pPr>
            <a:r>
              <a:rPr lang="en-US" sz="1000" dirty="0">
                <a:solidFill>
                  <a:srgbClr val="6B7A8D"/>
                </a:solidFill>
                <a:latin typeface="Calibri" pitchFamily="34" charset="0"/>
                <a:ea typeface="Calibri" pitchFamily="34" charset="-122"/>
                <a:cs typeface="Calibri" pitchFamily="34" charset="-120"/>
              </a:rPr>
              <a:t>Non-contact IR thermometer measuring skin surface temperature to ±0.2°C accuracy. Calculates core body temperature via built-in DSP algorithm. FHIR: LOINC 8310-5. Interface: I2C at 0x3A.</a:t>
            </a:r>
            <a:endParaRPr lang="en-US" sz="1000" dirty="0"/>
          </a:p>
        </p:txBody>
      </p:sp>
      <p:pic>
        <p:nvPicPr>
          <p:cNvPr id="29" name="Image 2" descr="preencoded.png"/>
          <p:cNvPicPr>
            <a:picLocks noChangeAspect="1"/>
          </p:cNvPicPr>
          <p:nvPr/>
        </p:nvPicPr>
        <p:blipFill>
          <a:blip r:embed="rId3"/>
          <a:stretch>
            <a:fillRect/>
          </a:stretch>
        </p:blipFill>
        <p:spPr>
          <a:xfrm>
            <a:off x="4178808" y="3931920"/>
            <a:ext cx="274320" cy="274320"/>
          </a:xfrm>
          <a:prstGeom prst="rect">
            <a:avLst/>
          </a:prstGeom>
        </p:spPr>
      </p:pic>
      <p:sp>
        <p:nvSpPr>
          <p:cNvPr id="30" name="Shape 25"/>
          <p:cNvSpPr/>
          <p:nvPr/>
        </p:nvSpPr>
        <p:spPr>
          <a:xfrm>
            <a:off x="4663440" y="1325880"/>
            <a:ext cx="4114800" cy="320040"/>
          </a:xfrm>
          <a:prstGeom prst="rect">
            <a:avLst/>
          </a:prstGeom>
          <a:solidFill>
            <a:srgbClr val="0D1B2A"/>
          </a:solidFill>
          <a:ln/>
        </p:spPr>
      </p:sp>
      <p:sp>
        <p:nvSpPr>
          <p:cNvPr id="31" name="Text 26"/>
          <p:cNvSpPr/>
          <p:nvPr/>
        </p:nvSpPr>
        <p:spPr>
          <a:xfrm>
            <a:off x="4663440" y="1325880"/>
            <a:ext cx="411480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Planned Future Hardware</a:t>
            </a:r>
            <a:endParaRPr lang="en-US" sz="1200" dirty="0"/>
          </a:p>
        </p:txBody>
      </p:sp>
      <p:sp>
        <p:nvSpPr>
          <p:cNvPr id="32" name="Shape 27"/>
          <p:cNvSpPr/>
          <p:nvPr/>
        </p:nvSpPr>
        <p:spPr>
          <a:xfrm>
            <a:off x="4663440" y="1719072"/>
            <a:ext cx="4114800" cy="548640"/>
          </a:xfrm>
          <a:prstGeom prst="rect">
            <a:avLst/>
          </a:prstGeom>
          <a:solidFill>
            <a:srgbClr val="FFFFFF"/>
          </a:solidFill>
          <a:ln/>
          <a:effectLst>
            <a:outerShdw blurRad="38100" dist="12700" dir="8100000" algn="bl" rotWithShape="0">
              <a:srgbClr val="000000">
                <a:alpha val="7000"/>
              </a:srgbClr>
            </a:outerShdw>
          </a:effectLst>
        </p:spPr>
      </p:sp>
      <p:sp>
        <p:nvSpPr>
          <p:cNvPr id="33" name="Shape 28"/>
          <p:cNvSpPr/>
          <p:nvPr/>
        </p:nvSpPr>
        <p:spPr>
          <a:xfrm>
            <a:off x="4663440" y="1719072"/>
            <a:ext cx="54864" cy="548640"/>
          </a:xfrm>
          <a:prstGeom prst="rect">
            <a:avLst/>
          </a:prstGeom>
          <a:solidFill>
            <a:srgbClr val="E84040"/>
          </a:solidFill>
          <a:ln/>
        </p:spPr>
      </p:sp>
      <p:sp>
        <p:nvSpPr>
          <p:cNvPr id="34" name="Text 29"/>
          <p:cNvSpPr/>
          <p:nvPr/>
        </p:nvSpPr>
        <p:spPr>
          <a:xfrm>
            <a:off x="4773168" y="1746504"/>
            <a:ext cx="1188720" cy="219456"/>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AD8232</a:t>
            </a:r>
            <a:endParaRPr lang="en-US" sz="1200" dirty="0"/>
          </a:p>
        </p:txBody>
      </p:sp>
      <p:sp>
        <p:nvSpPr>
          <p:cNvPr id="35" name="Text 30"/>
          <p:cNvSpPr/>
          <p:nvPr/>
        </p:nvSpPr>
        <p:spPr>
          <a:xfrm>
            <a:off x="4773168" y="1993392"/>
            <a:ext cx="1188720" cy="201168"/>
          </a:xfrm>
          <a:prstGeom prst="rect">
            <a:avLst/>
          </a:prstGeom>
          <a:noFill/>
          <a:ln/>
        </p:spPr>
        <p:txBody>
          <a:bodyPr wrap="square" lIns="0" tIns="0" rIns="0" bIns="0" rtlCol="0" anchor="ctr"/>
          <a:lstStyle/>
          <a:p>
            <a:pPr marL="0" indent="0">
              <a:buNone/>
            </a:pPr>
            <a:r>
              <a:rPr lang="en-US" sz="1000" i="1" dirty="0">
                <a:solidFill>
                  <a:srgbClr val="E84040"/>
                </a:solidFill>
                <a:latin typeface="Calibri" pitchFamily="34" charset="0"/>
                <a:ea typeface="Calibri" pitchFamily="34" charset="-122"/>
                <a:cs typeface="Calibri" pitchFamily="34" charset="-120"/>
              </a:rPr>
              <a:t>ECG</a:t>
            </a:r>
            <a:endParaRPr lang="en-US" sz="1000" dirty="0"/>
          </a:p>
        </p:txBody>
      </p:sp>
      <p:sp>
        <p:nvSpPr>
          <p:cNvPr id="36" name="Text 31"/>
          <p:cNvSpPr/>
          <p:nvPr/>
        </p:nvSpPr>
        <p:spPr>
          <a:xfrm>
            <a:off x="6035040" y="1755648"/>
            <a:ext cx="2651760" cy="475488"/>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SparkFun DEV-12650. Single-lead ECG front-end. Detects arrhythmia and atrial fibrillation. LOINC 11524-6. Needs 2–3 skin electrodes.</a:t>
            </a:r>
            <a:endParaRPr lang="en-US" sz="900" dirty="0"/>
          </a:p>
        </p:txBody>
      </p:sp>
      <p:pic>
        <p:nvPicPr>
          <p:cNvPr id="37" name="Image 3" descr="preencoded.png"/>
          <p:cNvPicPr>
            <a:picLocks noChangeAspect="1"/>
          </p:cNvPicPr>
          <p:nvPr/>
        </p:nvPicPr>
        <p:blipFill>
          <a:blip r:embed="rId4"/>
          <a:stretch>
            <a:fillRect/>
          </a:stretch>
        </p:blipFill>
        <p:spPr>
          <a:xfrm>
            <a:off x="8458200" y="1874520"/>
            <a:ext cx="237744" cy="237744"/>
          </a:xfrm>
          <a:prstGeom prst="rect">
            <a:avLst/>
          </a:prstGeom>
        </p:spPr>
      </p:pic>
      <p:sp>
        <p:nvSpPr>
          <p:cNvPr id="38" name="Shape 32"/>
          <p:cNvSpPr/>
          <p:nvPr/>
        </p:nvSpPr>
        <p:spPr>
          <a:xfrm>
            <a:off x="4663440" y="2340864"/>
            <a:ext cx="4114800" cy="548640"/>
          </a:xfrm>
          <a:prstGeom prst="rect">
            <a:avLst/>
          </a:prstGeom>
          <a:solidFill>
            <a:srgbClr val="FFFFFF"/>
          </a:solidFill>
          <a:ln/>
          <a:effectLst>
            <a:outerShdw blurRad="38100" dist="12700" dir="8100000" algn="bl" rotWithShape="0">
              <a:srgbClr val="000000">
                <a:alpha val="7000"/>
              </a:srgbClr>
            </a:outerShdw>
          </a:effectLst>
        </p:spPr>
      </p:sp>
      <p:sp>
        <p:nvSpPr>
          <p:cNvPr id="39" name="Shape 33"/>
          <p:cNvSpPr/>
          <p:nvPr/>
        </p:nvSpPr>
        <p:spPr>
          <a:xfrm>
            <a:off x="4663440" y="2340864"/>
            <a:ext cx="54864" cy="548640"/>
          </a:xfrm>
          <a:prstGeom prst="rect">
            <a:avLst/>
          </a:prstGeom>
          <a:solidFill>
            <a:srgbClr val="7C3AED"/>
          </a:solidFill>
          <a:ln/>
        </p:spPr>
      </p:sp>
      <p:sp>
        <p:nvSpPr>
          <p:cNvPr id="40" name="Text 34"/>
          <p:cNvSpPr/>
          <p:nvPr/>
        </p:nvSpPr>
        <p:spPr>
          <a:xfrm>
            <a:off x="4773168" y="2368296"/>
            <a:ext cx="1188720" cy="219456"/>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Grove GSR</a:t>
            </a:r>
            <a:endParaRPr lang="en-US" sz="1200" dirty="0"/>
          </a:p>
        </p:txBody>
      </p:sp>
      <p:sp>
        <p:nvSpPr>
          <p:cNvPr id="41" name="Text 35"/>
          <p:cNvSpPr/>
          <p:nvPr/>
        </p:nvSpPr>
        <p:spPr>
          <a:xfrm>
            <a:off x="4773168" y="2615184"/>
            <a:ext cx="1188720" cy="201168"/>
          </a:xfrm>
          <a:prstGeom prst="rect">
            <a:avLst/>
          </a:prstGeom>
          <a:noFill/>
          <a:ln/>
        </p:spPr>
        <p:txBody>
          <a:bodyPr wrap="square" lIns="0" tIns="0" rIns="0" bIns="0" rtlCol="0" anchor="ctr"/>
          <a:lstStyle/>
          <a:p>
            <a:pPr marL="0" indent="0">
              <a:buNone/>
            </a:pPr>
            <a:r>
              <a:rPr lang="en-US" sz="1000" i="1" dirty="0">
                <a:solidFill>
                  <a:srgbClr val="7C3AED"/>
                </a:solidFill>
                <a:latin typeface="Calibri" pitchFamily="34" charset="0"/>
                <a:ea typeface="Calibri" pitchFamily="34" charset="-122"/>
                <a:cs typeface="Calibri" pitchFamily="34" charset="-120"/>
              </a:rPr>
              <a:t>Stress / EDA</a:t>
            </a:r>
            <a:endParaRPr lang="en-US" sz="1000" dirty="0"/>
          </a:p>
        </p:txBody>
      </p:sp>
      <p:sp>
        <p:nvSpPr>
          <p:cNvPr id="42" name="Text 36"/>
          <p:cNvSpPr/>
          <p:nvPr/>
        </p:nvSpPr>
        <p:spPr>
          <a:xfrm>
            <a:off x="6035040" y="2377440"/>
            <a:ext cx="2651760" cy="475488"/>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Seeed Studio SKU 101020052. Measures skin conductance for stress monitoring. LOINC 74767-6. Analog ADC interface.</a:t>
            </a:r>
            <a:endParaRPr lang="en-US" sz="900" dirty="0"/>
          </a:p>
        </p:txBody>
      </p:sp>
      <p:pic>
        <p:nvPicPr>
          <p:cNvPr id="43" name="Image 4" descr="preencoded.png"/>
          <p:cNvPicPr>
            <a:picLocks noChangeAspect="1"/>
          </p:cNvPicPr>
          <p:nvPr/>
        </p:nvPicPr>
        <p:blipFill>
          <a:blip r:embed="rId4"/>
          <a:stretch>
            <a:fillRect/>
          </a:stretch>
        </p:blipFill>
        <p:spPr>
          <a:xfrm>
            <a:off x="8458200" y="2496312"/>
            <a:ext cx="237744" cy="237744"/>
          </a:xfrm>
          <a:prstGeom prst="rect">
            <a:avLst/>
          </a:prstGeom>
        </p:spPr>
      </p:pic>
      <p:sp>
        <p:nvSpPr>
          <p:cNvPr id="44" name="Shape 37"/>
          <p:cNvSpPr/>
          <p:nvPr/>
        </p:nvSpPr>
        <p:spPr>
          <a:xfrm>
            <a:off x="4663440" y="2962656"/>
            <a:ext cx="4114800" cy="548640"/>
          </a:xfrm>
          <a:prstGeom prst="rect">
            <a:avLst/>
          </a:prstGeom>
          <a:solidFill>
            <a:srgbClr val="FFFFFF"/>
          </a:solidFill>
          <a:ln/>
          <a:effectLst>
            <a:outerShdw blurRad="38100" dist="12700" dir="8100000" algn="bl" rotWithShape="0">
              <a:srgbClr val="000000">
                <a:alpha val="7000"/>
              </a:srgbClr>
            </a:outerShdw>
          </a:effectLst>
        </p:spPr>
      </p:sp>
      <p:sp>
        <p:nvSpPr>
          <p:cNvPr id="45" name="Shape 38"/>
          <p:cNvSpPr/>
          <p:nvPr/>
        </p:nvSpPr>
        <p:spPr>
          <a:xfrm>
            <a:off x="4663440" y="2962656"/>
            <a:ext cx="54864" cy="548640"/>
          </a:xfrm>
          <a:prstGeom prst="rect">
            <a:avLst/>
          </a:prstGeom>
          <a:solidFill>
            <a:srgbClr val="E87A1A"/>
          </a:solidFill>
          <a:ln/>
        </p:spPr>
      </p:sp>
      <p:sp>
        <p:nvSpPr>
          <p:cNvPr id="46" name="Text 39"/>
          <p:cNvSpPr/>
          <p:nvPr/>
        </p:nvSpPr>
        <p:spPr>
          <a:xfrm>
            <a:off x="4773168" y="2990088"/>
            <a:ext cx="1188720" cy="219456"/>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ProtoCentral BP2</a:t>
            </a:r>
            <a:endParaRPr lang="en-US" sz="1200" dirty="0"/>
          </a:p>
        </p:txBody>
      </p:sp>
      <p:sp>
        <p:nvSpPr>
          <p:cNvPr id="47" name="Text 40"/>
          <p:cNvSpPr/>
          <p:nvPr/>
        </p:nvSpPr>
        <p:spPr>
          <a:xfrm>
            <a:off x="4773168" y="3236976"/>
            <a:ext cx="1188720" cy="201168"/>
          </a:xfrm>
          <a:prstGeom prst="rect">
            <a:avLst/>
          </a:prstGeom>
          <a:noFill/>
          <a:ln/>
        </p:spPr>
        <p:txBody>
          <a:bodyPr wrap="square" lIns="0" tIns="0" rIns="0" bIns="0" rtlCol="0" anchor="ctr"/>
          <a:lstStyle/>
          <a:p>
            <a:pPr marL="0" indent="0">
              <a:buNone/>
            </a:pPr>
            <a:r>
              <a:rPr lang="en-US" sz="1000" i="1" dirty="0">
                <a:solidFill>
                  <a:srgbClr val="E87A1A"/>
                </a:solidFill>
                <a:latin typeface="Calibri" pitchFamily="34" charset="0"/>
                <a:ea typeface="Calibri" pitchFamily="34" charset="-122"/>
                <a:cs typeface="Calibri" pitchFamily="34" charset="-120"/>
              </a:rPr>
              <a:t>Blood Pressure</a:t>
            </a:r>
            <a:endParaRPr lang="en-US" sz="1000" dirty="0"/>
          </a:p>
        </p:txBody>
      </p:sp>
      <p:sp>
        <p:nvSpPr>
          <p:cNvPr id="48" name="Text 41"/>
          <p:cNvSpPr/>
          <p:nvPr/>
        </p:nvSpPr>
        <p:spPr>
          <a:xfrm>
            <a:off x="6035040" y="2999232"/>
            <a:ext cx="2651760" cy="475488"/>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PPG-based wrist BP estimation. Systolic/Diastolic pressure. LOINC 55284-4. mm[Hg] units. High clinical demand.</a:t>
            </a:r>
            <a:endParaRPr lang="en-US" sz="900" dirty="0"/>
          </a:p>
        </p:txBody>
      </p:sp>
      <p:pic>
        <p:nvPicPr>
          <p:cNvPr id="49" name="Image 5" descr="preencoded.png"/>
          <p:cNvPicPr>
            <a:picLocks noChangeAspect="1"/>
          </p:cNvPicPr>
          <p:nvPr/>
        </p:nvPicPr>
        <p:blipFill>
          <a:blip r:embed="rId4"/>
          <a:stretch>
            <a:fillRect/>
          </a:stretch>
        </p:blipFill>
        <p:spPr>
          <a:xfrm>
            <a:off x="8458200" y="3118104"/>
            <a:ext cx="237744" cy="237744"/>
          </a:xfrm>
          <a:prstGeom prst="rect">
            <a:avLst/>
          </a:prstGeom>
        </p:spPr>
      </p:pic>
      <p:sp>
        <p:nvSpPr>
          <p:cNvPr id="50" name="Shape 42"/>
          <p:cNvSpPr/>
          <p:nvPr/>
        </p:nvSpPr>
        <p:spPr>
          <a:xfrm>
            <a:off x="4663440" y="3584448"/>
            <a:ext cx="4114800" cy="548640"/>
          </a:xfrm>
          <a:prstGeom prst="rect">
            <a:avLst/>
          </a:prstGeom>
          <a:solidFill>
            <a:srgbClr val="FFFFFF"/>
          </a:solidFill>
          <a:ln/>
          <a:effectLst>
            <a:outerShdw blurRad="38100" dist="12700" dir="8100000" algn="bl" rotWithShape="0">
              <a:srgbClr val="000000">
                <a:alpha val="7000"/>
              </a:srgbClr>
            </a:outerShdw>
          </a:effectLst>
        </p:spPr>
      </p:sp>
      <p:sp>
        <p:nvSpPr>
          <p:cNvPr id="51" name="Shape 43"/>
          <p:cNvSpPr/>
          <p:nvPr/>
        </p:nvSpPr>
        <p:spPr>
          <a:xfrm>
            <a:off x="4663440" y="3584448"/>
            <a:ext cx="54864" cy="548640"/>
          </a:xfrm>
          <a:prstGeom prst="rect">
            <a:avLst/>
          </a:prstGeom>
          <a:solidFill>
            <a:srgbClr val="028090"/>
          </a:solidFill>
          <a:ln/>
        </p:spPr>
      </p:sp>
      <p:sp>
        <p:nvSpPr>
          <p:cNvPr id="52" name="Text 44"/>
          <p:cNvSpPr/>
          <p:nvPr/>
        </p:nvSpPr>
        <p:spPr>
          <a:xfrm>
            <a:off x="4773168" y="3611880"/>
            <a:ext cx="1188720" cy="219456"/>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TI AFE4490</a:t>
            </a:r>
            <a:endParaRPr lang="en-US" sz="1200" dirty="0"/>
          </a:p>
        </p:txBody>
      </p:sp>
      <p:sp>
        <p:nvSpPr>
          <p:cNvPr id="53" name="Text 45"/>
          <p:cNvSpPr/>
          <p:nvPr/>
        </p:nvSpPr>
        <p:spPr>
          <a:xfrm>
            <a:off x="4773168" y="3858768"/>
            <a:ext cx="1188720" cy="201168"/>
          </a:xfrm>
          <a:prstGeom prst="rect">
            <a:avLst/>
          </a:prstGeom>
          <a:noFill/>
          <a:ln/>
        </p:spPr>
        <p:txBody>
          <a:bodyPr wrap="square" lIns="0" tIns="0" rIns="0" bIns="0" rtlCol="0" anchor="ctr"/>
          <a:lstStyle/>
          <a:p>
            <a:pPr marL="0" indent="0">
              <a:buNone/>
            </a:pPr>
            <a:r>
              <a:rPr lang="en-US" sz="1000" i="1" dirty="0">
                <a:solidFill>
                  <a:srgbClr val="028090"/>
                </a:solidFill>
                <a:latin typeface="Calibri" pitchFamily="34" charset="0"/>
                <a:ea typeface="Calibri" pitchFamily="34" charset="-122"/>
                <a:cs typeface="Calibri" pitchFamily="34" charset="-120"/>
              </a:rPr>
              <a:t>Blood Glucose</a:t>
            </a:r>
            <a:endParaRPr lang="en-US" sz="1000" dirty="0"/>
          </a:p>
        </p:txBody>
      </p:sp>
      <p:sp>
        <p:nvSpPr>
          <p:cNvPr id="54" name="Text 46"/>
          <p:cNvSpPr/>
          <p:nvPr/>
        </p:nvSpPr>
        <p:spPr>
          <a:xfrm>
            <a:off x="6035040" y="3621024"/>
            <a:ext cx="2651760" cy="475488"/>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Near-infrared optical front-end for non-invasive glucose monitoring. LOINC 15074-8. mmol/L. Emerging technology.</a:t>
            </a:r>
            <a:endParaRPr lang="en-US" sz="900" dirty="0"/>
          </a:p>
        </p:txBody>
      </p:sp>
      <p:pic>
        <p:nvPicPr>
          <p:cNvPr id="55" name="Image 6" descr="preencoded.png"/>
          <p:cNvPicPr>
            <a:picLocks noChangeAspect="1"/>
          </p:cNvPicPr>
          <p:nvPr/>
        </p:nvPicPr>
        <p:blipFill>
          <a:blip r:embed="rId4"/>
          <a:stretch>
            <a:fillRect/>
          </a:stretch>
        </p:blipFill>
        <p:spPr>
          <a:xfrm>
            <a:off x="8458200" y="3739896"/>
            <a:ext cx="237744" cy="237744"/>
          </a:xfrm>
          <a:prstGeom prst="rect">
            <a:avLst/>
          </a:prstGeom>
        </p:spPr>
      </p:pic>
      <p:sp>
        <p:nvSpPr>
          <p:cNvPr id="56" name="Shape 47"/>
          <p:cNvSpPr/>
          <p:nvPr/>
        </p:nvSpPr>
        <p:spPr>
          <a:xfrm>
            <a:off x="4663440" y="4206240"/>
            <a:ext cx="4114800" cy="548640"/>
          </a:xfrm>
          <a:prstGeom prst="rect">
            <a:avLst/>
          </a:prstGeom>
          <a:solidFill>
            <a:srgbClr val="FFFFFF"/>
          </a:solidFill>
          <a:ln/>
          <a:effectLst>
            <a:outerShdw blurRad="38100" dist="12700" dir="8100000" algn="bl" rotWithShape="0">
              <a:srgbClr val="000000">
                <a:alpha val="7000"/>
              </a:srgbClr>
            </a:outerShdw>
          </a:effectLst>
        </p:spPr>
      </p:sp>
      <p:sp>
        <p:nvSpPr>
          <p:cNvPr id="57" name="Shape 48"/>
          <p:cNvSpPr/>
          <p:nvPr/>
        </p:nvSpPr>
        <p:spPr>
          <a:xfrm>
            <a:off x="4663440" y="4206240"/>
            <a:ext cx="54864" cy="548640"/>
          </a:xfrm>
          <a:prstGeom prst="rect">
            <a:avLst/>
          </a:prstGeom>
          <a:solidFill>
            <a:srgbClr val="0D1B2A"/>
          </a:solidFill>
          <a:ln/>
        </p:spPr>
      </p:sp>
      <p:sp>
        <p:nvSpPr>
          <p:cNvPr id="58" name="Text 49"/>
          <p:cNvSpPr/>
          <p:nvPr/>
        </p:nvSpPr>
        <p:spPr>
          <a:xfrm>
            <a:off x="4773168" y="4233672"/>
            <a:ext cx="1188720" cy="219456"/>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ICM-42688-P</a:t>
            </a:r>
            <a:endParaRPr lang="en-US" sz="1200" dirty="0"/>
          </a:p>
        </p:txBody>
      </p:sp>
      <p:sp>
        <p:nvSpPr>
          <p:cNvPr id="59" name="Text 50"/>
          <p:cNvSpPr/>
          <p:nvPr/>
        </p:nvSpPr>
        <p:spPr>
          <a:xfrm>
            <a:off x="4773168" y="4480560"/>
            <a:ext cx="1188720" cy="201168"/>
          </a:xfrm>
          <a:prstGeom prst="rect">
            <a:avLst/>
          </a:prstGeom>
          <a:noFill/>
          <a:ln/>
        </p:spPr>
        <p:txBody>
          <a:bodyPr wrap="square" lIns="0" tIns="0" rIns="0" bIns="0" rtlCol="0" anchor="ctr"/>
          <a:lstStyle/>
          <a:p>
            <a:pPr marL="0" indent="0">
              <a:buNone/>
            </a:pPr>
            <a:r>
              <a:rPr lang="en-US" sz="1000" i="1" dirty="0">
                <a:solidFill>
                  <a:srgbClr val="0D1B2A"/>
                </a:solidFill>
                <a:latin typeface="Calibri" pitchFamily="34" charset="0"/>
                <a:ea typeface="Calibri" pitchFamily="34" charset="-122"/>
                <a:cs typeface="Calibri" pitchFamily="34" charset="-120"/>
              </a:rPr>
              <a:t>Respiratory Rate</a:t>
            </a:r>
            <a:endParaRPr lang="en-US" sz="1000" dirty="0"/>
          </a:p>
        </p:txBody>
      </p:sp>
      <p:sp>
        <p:nvSpPr>
          <p:cNvPr id="60" name="Text 51"/>
          <p:cNvSpPr/>
          <p:nvPr/>
        </p:nvSpPr>
        <p:spPr>
          <a:xfrm>
            <a:off x="6035040" y="4242816"/>
            <a:ext cx="2651760" cy="475488"/>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TDK InvenSense high-precision IMU. Breathing rate derived from motion. LOINC 9279-1. /min. Can also be derived from MAX30102 PPG signal.</a:t>
            </a:r>
            <a:endParaRPr lang="en-US" sz="900" dirty="0"/>
          </a:p>
        </p:txBody>
      </p:sp>
      <p:pic>
        <p:nvPicPr>
          <p:cNvPr id="61" name="Image 7" descr="preencoded.png"/>
          <p:cNvPicPr>
            <a:picLocks noChangeAspect="1"/>
          </p:cNvPicPr>
          <p:nvPr/>
        </p:nvPicPr>
        <p:blipFill>
          <a:blip r:embed="rId4"/>
          <a:stretch>
            <a:fillRect/>
          </a:stretch>
        </p:blipFill>
        <p:spPr>
          <a:xfrm>
            <a:off x="8458200" y="4361688"/>
            <a:ext cx="237744" cy="2377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Five-Phase FHIR Implementation Roadmap</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FHIR integration is built incrementally — each phase delivers real clinical value while setting up the next. Phase 1 is already underway. The roadmap is designed so the professor and project team can clearly see what comes next and why.</a:t>
            </a:r>
            <a:endParaRPr lang="en-US" sz="1200" dirty="0"/>
          </a:p>
        </p:txBody>
      </p:sp>
      <p:sp>
        <p:nvSpPr>
          <p:cNvPr id="10" name="Shape 8"/>
          <p:cNvSpPr/>
          <p:nvPr/>
        </p:nvSpPr>
        <p:spPr>
          <a:xfrm>
            <a:off x="365760" y="1325880"/>
            <a:ext cx="1508760" cy="3264408"/>
          </a:xfrm>
          <a:prstGeom prst="rect">
            <a:avLst/>
          </a:prstGeom>
          <a:solidFill>
            <a:srgbClr val="FFFFFF"/>
          </a:solidFill>
          <a:ln/>
          <a:effectLst>
            <a:outerShdw blurRad="63500" dist="25400" dir="8100000" algn="bl" rotWithShape="0">
              <a:srgbClr val="000000">
                <a:alpha val="8000"/>
              </a:srgbClr>
            </a:outerShdw>
          </a:effectLst>
        </p:spPr>
      </p:sp>
      <p:sp>
        <p:nvSpPr>
          <p:cNvPr id="11" name="Shape 9"/>
          <p:cNvSpPr/>
          <p:nvPr/>
        </p:nvSpPr>
        <p:spPr>
          <a:xfrm>
            <a:off x="365760" y="1325880"/>
            <a:ext cx="1508760" cy="457200"/>
          </a:xfrm>
          <a:prstGeom prst="rect">
            <a:avLst/>
          </a:prstGeom>
          <a:solidFill>
            <a:srgbClr val="028090"/>
          </a:solidFill>
          <a:ln/>
        </p:spPr>
      </p:sp>
      <p:sp>
        <p:nvSpPr>
          <p:cNvPr id="12" name="Text 10"/>
          <p:cNvSpPr/>
          <p:nvPr/>
        </p:nvSpPr>
        <p:spPr>
          <a:xfrm>
            <a:off x="365760" y="1325880"/>
            <a:ext cx="1508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1</a:t>
            </a:r>
            <a:endParaRPr lang="en-US" sz="1400" dirty="0"/>
          </a:p>
        </p:txBody>
      </p:sp>
      <p:sp>
        <p:nvSpPr>
          <p:cNvPr id="13" name="Text 11"/>
          <p:cNvSpPr/>
          <p:nvPr/>
        </p:nvSpPr>
        <p:spPr>
          <a:xfrm>
            <a:off x="438912" y="1837944"/>
            <a:ext cx="1362456" cy="420624"/>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Foundation</a:t>
            </a:r>
            <a:endParaRPr lang="en-US" sz="1200" dirty="0"/>
          </a:p>
        </p:txBody>
      </p:sp>
      <p:sp>
        <p:nvSpPr>
          <p:cNvPr id="14" name="Shape 12"/>
          <p:cNvSpPr/>
          <p:nvPr/>
        </p:nvSpPr>
        <p:spPr>
          <a:xfrm>
            <a:off x="457200" y="2368296"/>
            <a:ext cx="146304" cy="146304"/>
          </a:xfrm>
          <a:prstGeom prst="ellipse">
            <a:avLst/>
          </a:prstGeom>
          <a:solidFill>
            <a:srgbClr val="028090"/>
          </a:solidFill>
          <a:ln/>
        </p:spPr>
      </p:sp>
      <p:sp>
        <p:nvSpPr>
          <p:cNvPr id="15" name="Text 13"/>
          <p:cNvSpPr/>
          <p:nvPr/>
        </p:nvSpPr>
        <p:spPr>
          <a:xfrm>
            <a:off x="640080" y="2313432"/>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FHIR Patient + Observation resources with LOINC coding</a:t>
            </a:r>
            <a:endParaRPr lang="en-US" sz="900" dirty="0"/>
          </a:p>
        </p:txBody>
      </p:sp>
      <p:sp>
        <p:nvSpPr>
          <p:cNvPr id="16" name="Shape 14"/>
          <p:cNvSpPr/>
          <p:nvPr/>
        </p:nvSpPr>
        <p:spPr>
          <a:xfrm>
            <a:off x="457200" y="2898648"/>
            <a:ext cx="146304" cy="146304"/>
          </a:xfrm>
          <a:prstGeom prst="ellipse">
            <a:avLst/>
          </a:prstGeom>
          <a:solidFill>
            <a:srgbClr val="028090"/>
          </a:solidFill>
          <a:ln/>
        </p:spPr>
      </p:sp>
      <p:sp>
        <p:nvSpPr>
          <p:cNvPr id="17" name="Text 15"/>
          <p:cNvSpPr/>
          <p:nvPr/>
        </p:nvSpPr>
        <p:spPr>
          <a:xfrm>
            <a:off x="640080" y="2843784"/>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Flask REST API exposing /api/fhir/ endpoints</a:t>
            </a:r>
            <a:endParaRPr lang="en-US" sz="900" dirty="0"/>
          </a:p>
        </p:txBody>
      </p:sp>
      <p:sp>
        <p:nvSpPr>
          <p:cNvPr id="18" name="Shape 16"/>
          <p:cNvSpPr/>
          <p:nvPr/>
        </p:nvSpPr>
        <p:spPr>
          <a:xfrm>
            <a:off x="457200" y="3429000"/>
            <a:ext cx="146304" cy="146304"/>
          </a:xfrm>
          <a:prstGeom prst="ellipse">
            <a:avLst/>
          </a:prstGeom>
          <a:solidFill>
            <a:srgbClr val="028090"/>
          </a:solidFill>
          <a:ln/>
        </p:spPr>
      </p:sp>
      <p:sp>
        <p:nvSpPr>
          <p:cNvPr id="19" name="Text 17"/>
          <p:cNvSpPr/>
          <p:nvPr/>
        </p:nvSpPr>
        <p:spPr>
          <a:xfrm>
            <a:off x="640080" y="3374136"/>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Phone web app showing live vitals + FHIR tab</a:t>
            </a:r>
            <a:endParaRPr lang="en-US" sz="900" dirty="0"/>
          </a:p>
        </p:txBody>
      </p:sp>
      <p:sp>
        <p:nvSpPr>
          <p:cNvPr id="20" name="Shape 18"/>
          <p:cNvSpPr/>
          <p:nvPr/>
        </p:nvSpPr>
        <p:spPr>
          <a:xfrm>
            <a:off x="457200" y="3959352"/>
            <a:ext cx="146304" cy="146304"/>
          </a:xfrm>
          <a:prstGeom prst="ellipse">
            <a:avLst/>
          </a:prstGeom>
          <a:solidFill>
            <a:srgbClr val="028090"/>
          </a:solidFill>
          <a:ln/>
        </p:spPr>
      </p:sp>
      <p:sp>
        <p:nvSpPr>
          <p:cNvPr id="21" name="Text 19"/>
          <p:cNvSpPr/>
          <p:nvPr/>
        </p:nvSpPr>
        <p:spPr>
          <a:xfrm>
            <a:off x="640080" y="3904488"/>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Simulated sensor data as placeholder</a:t>
            </a:r>
            <a:endParaRPr lang="en-US" sz="900" dirty="0"/>
          </a:p>
        </p:txBody>
      </p:sp>
      <p:sp>
        <p:nvSpPr>
          <p:cNvPr id="22" name="Shape 20"/>
          <p:cNvSpPr/>
          <p:nvPr/>
        </p:nvSpPr>
        <p:spPr>
          <a:xfrm>
            <a:off x="438912" y="4370832"/>
            <a:ext cx="1362456" cy="201168"/>
          </a:xfrm>
          <a:prstGeom prst="roundRect">
            <a:avLst>
              <a:gd name="adj" fmla="val 22727"/>
            </a:avLst>
          </a:prstGeom>
          <a:solidFill>
            <a:srgbClr val="028090"/>
          </a:solidFill>
          <a:ln/>
        </p:spPr>
      </p:sp>
      <p:sp>
        <p:nvSpPr>
          <p:cNvPr id="23" name="Text 21"/>
          <p:cNvSpPr/>
          <p:nvPr/>
        </p:nvSpPr>
        <p:spPr>
          <a:xfrm>
            <a:off x="438912" y="4370832"/>
            <a:ext cx="1362456"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Current</a:t>
            </a:r>
            <a:endParaRPr lang="en-US" sz="900" dirty="0"/>
          </a:p>
        </p:txBody>
      </p:sp>
      <p:sp>
        <p:nvSpPr>
          <p:cNvPr id="24" name="Text 22"/>
          <p:cNvSpPr/>
          <p:nvPr/>
        </p:nvSpPr>
        <p:spPr>
          <a:xfrm>
            <a:off x="1874520" y="2926080"/>
            <a:ext cx="164592" cy="347472"/>
          </a:xfrm>
          <a:prstGeom prst="rect">
            <a:avLst/>
          </a:prstGeom>
          <a:noFill/>
          <a:ln/>
        </p:spPr>
        <p:txBody>
          <a:bodyPr wrap="square" lIns="0" tIns="0" rIns="0" bIns="0" rtlCol="0" anchor="ctr"/>
          <a:lstStyle/>
          <a:p>
            <a:pPr marL="0" indent="0" algn="ctr">
              <a:buNone/>
            </a:pPr>
            <a:r>
              <a:rPr lang="en-US" sz="1400" dirty="0">
                <a:solidFill>
                  <a:srgbClr val="E8EDF3"/>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2057400" y="1325880"/>
            <a:ext cx="1508760" cy="3264408"/>
          </a:xfrm>
          <a:prstGeom prst="rect">
            <a:avLst/>
          </a:prstGeom>
          <a:solidFill>
            <a:srgbClr val="FFFFFF"/>
          </a:solidFill>
          <a:ln/>
          <a:effectLst>
            <a:outerShdw blurRad="63500" dist="25400" dir="8100000" algn="bl" rotWithShape="0">
              <a:srgbClr val="000000">
                <a:alpha val="8000"/>
              </a:srgbClr>
            </a:outerShdw>
          </a:effectLst>
        </p:spPr>
      </p:sp>
      <p:sp>
        <p:nvSpPr>
          <p:cNvPr id="26" name="Shape 24"/>
          <p:cNvSpPr/>
          <p:nvPr/>
        </p:nvSpPr>
        <p:spPr>
          <a:xfrm>
            <a:off x="2057400" y="1325880"/>
            <a:ext cx="1508760" cy="457200"/>
          </a:xfrm>
          <a:prstGeom prst="rect">
            <a:avLst/>
          </a:prstGeom>
          <a:solidFill>
            <a:srgbClr val="E87A1A"/>
          </a:solidFill>
          <a:ln/>
        </p:spPr>
      </p:sp>
      <p:sp>
        <p:nvSpPr>
          <p:cNvPr id="27" name="Text 25"/>
          <p:cNvSpPr/>
          <p:nvPr/>
        </p:nvSpPr>
        <p:spPr>
          <a:xfrm>
            <a:off x="2057400" y="1325880"/>
            <a:ext cx="1508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2</a:t>
            </a:r>
            <a:endParaRPr lang="en-US" sz="1400" dirty="0"/>
          </a:p>
        </p:txBody>
      </p:sp>
      <p:sp>
        <p:nvSpPr>
          <p:cNvPr id="28" name="Text 26"/>
          <p:cNvSpPr/>
          <p:nvPr/>
        </p:nvSpPr>
        <p:spPr>
          <a:xfrm>
            <a:off x="2130552" y="1837944"/>
            <a:ext cx="1362456" cy="420624"/>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Real Sensor Data</a:t>
            </a:r>
            <a:endParaRPr lang="en-US" sz="1200" dirty="0"/>
          </a:p>
        </p:txBody>
      </p:sp>
      <p:sp>
        <p:nvSpPr>
          <p:cNvPr id="29" name="Shape 27"/>
          <p:cNvSpPr/>
          <p:nvPr/>
        </p:nvSpPr>
        <p:spPr>
          <a:xfrm>
            <a:off x="2148840" y="2368296"/>
            <a:ext cx="146304" cy="146304"/>
          </a:xfrm>
          <a:prstGeom prst="ellipse">
            <a:avLst/>
          </a:prstGeom>
          <a:solidFill>
            <a:srgbClr val="E87A1A"/>
          </a:solidFill>
          <a:ln/>
        </p:spPr>
      </p:sp>
      <p:sp>
        <p:nvSpPr>
          <p:cNvPr id="30" name="Text 28"/>
          <p:cNvSpPr/>
          <p:nvPr/>
        </p:nvSpPr>
        <p:spPr>
          <a:xfrm>
            <a:off x="2331720" y="2313432"/>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Activate commented-out sensor reads in i2c_sensors.c</a:t>
            </a:r>
            <a:endParaRPr lang="en-US" sz="900" dirty="0"/>
          </a:p>
        </p:txBody>
      </p:sp>
      <p:sp>
        <p:nvSpPr>
          <p:cNvPr id="31" name="Shape 29"/>
          <p:cNvSpPr/>
          <p:nvPr/>
        </p:nvSpPr>
        <p:spPr>
          <a:xfrm>
            <a:off x="2148840" y="2898648"/>
            <a:ext cx="146304" cy="146304"/>
          </a:xfrm>
          <a:prstGeom prst="ellipse">
            <a:avLst/>
          </a:prstGeom>
          <a:solidFill>
            <a:srgbClr val="E87A1A"/>
          </a:solidFill>
          <a:ln/>
        </p:spPr>
      </p:sp>
      <p:sp>
        <p:nvSpPr>
          <p:cNvPr id="32" name="Text 30"/>
          <p:cNvSpPr/>
          <p:nvPr/>
        </p:nvSpPr>
        <p:spPr>
          <a:xfrm>
            <a:off x="2331720" y="2843784"/>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Replace 0x7788 placeholder with real MAX30102/MPU-6050 values</a:t>
            </a:r>
            <a:endParaRPr lang="en-US" sz="900" dirty="0"/>
          </a:p>
        </p:txBody>
      </p:sp>
      <p:sp>
        <p:nvSpPr>
          <p:cNvPr id="33" name="Shape 31"/>
          <p:cNvSpPr/>
          <p:nvPr/>
        </p:nvSpPr>
        <p:spPr>
          <a:xfrm>
            <a:off x="2148840" y="3429000"/>
            <a:ext cx="146304" cy="146304"/>
          </a:xfrm>
          <a:prstGeom prst="ellipse">
            <a:avLst/>
          </a:prstGeom>
          <a:solidFill>
            <a:srgbClr val="E87A1A"/>
          </a:solidFill>
          <a:ln/>
        </p:spPr>
      </p:sp>
      <p:sp>
        <p:nvSpPr>
          <p:cNvPr id="34" name="Text 32"/>
          <p:cNvSpPr/>
          <p:nvPr/>
        </p:nvSpPr>
        <p:spPr>
          <a:xfrm>
            <a:off x="2331720" y="3374136"/>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Real HR, SpO2, temperature, acceleration via BLE</a:t>
            </a:r>
            <a:endParaRPr lang="en-US" sz="900" dirty="0"/>
          </a:p>
        </p:txBody>
      </p:sp>
      <p:sp>
        <p:nvSpPr>
          <p:cNvPr id="35" name="Shape 33"/>
          <p:cNvSpPr/>
          <p:nvPr/>
        </p:nvSpPr>
        <p:spPr>
          <a:xfrm>
            <a:off x="2148840" y="3959352"/>
            <a:ext cx="146304" cy="146304"/>
          </a:xfrm>
          <a:prstGeom prst="ellipse">
            <a:avLst/>
          </a:prstGeom>
          <a:solidFill>
            <a:srgbClr val="E87A1A"/>
          </a:solidFill>
          <a:ln/>
        </p:spPr>
      </p:sp>
      <p:sp>
        <p:nvSpPr>
          <p:cNvPr id="36" name="Text 34"/>
          <p:cNvSpPr/>
          <p:nvPr/>
        </p:nvSpPr>
        <p:spPr>
          <a:xfrm>
            <a:off x="2331720" y="3904488"/>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Calibration and validation of sensor outputs</a:t>
            </a:r>
            <a:endParaRPr lang="en-US" sz="900" dirty="0"/>
          </a:p>
        </p:txBody>
      </p:sp>
      <p:sp>
        <p:nvSpPr>
          <p:cNvPr id="37" name="Shape 35"/>
          <p:cNvSpPr/>
          <p:nvPr/>
        </p:nvSpPr>
        <p:spPr>
          <a:xfrm>
            <a:off x="2130552" y="4370832"/>
            <a:ext cx="1362456" cy="201168"/>
          </a:xfrm>
          <a:prstGeom prst="roundRect">
            <a:avLst>
              <a:gd name="adj" fmla="val 22727"/>
            </a:avLst>
          </a:prstGeom>
          <a:solidFill>
            <a:srgbClr val="E87A1A">
              <a:alpha val="35000"/>
            </a:srgbClr>
          </a:solidFill>
          <a:ln/>
        </p:spPr>
      </p:sp>
      <p:sp>
        <p:nvSpPr>
          <p:cNvPr id="38" name="Text 36"/>
          <p:cNvSpPr/>
          <p:nvPr/>
        </p:nvSpPr>
        <p:spPr>
          <a:xfrm>
            <a:off x="2130552" y="4370832"/>
            <a:ext cx="1362456" cy="201168"/>
          </a:xfrm>
          <a:prstGeom prst="rect">
            <a:avLst/>
          </a:prstGeom>
          <a:noFill/>
          <a:ln/>
        </p:spPr>
        <p:txBody>
          <a:bodyPr wrap="square" lIns="0" tIns="0" rIns="0" bIns="0" rtlCol="0" anchor="ctr"/>
          <a:lstStyle/>
          <a:p>
            <a:pPr marL="0" indent="0" algn="ctr">
              <a:buNone/>
            </a:pPr>
            <a:r>
              <a:rPr lang="en-US" sz="900" b="1" dirty="0">
                <a:solidFill>
                  <a:srgbClr val="E87A1A"/>
                </a:solidFill>
                <a:latin typeface="Calibri" pitchFamily="34" charset="0"/>
                <a:ea typeface="Calibri" pitchFamily="34" charset="-122"/>
                <a:cs typeface="Calibri" pitchFamily="34" charset="-120"/>
              </a:rPr>
              <a:t>Next</a:t>
            </a:r>
            <a:endParaRPr lang="en-US" sz="900" dirty="0"/>
          </a:p>
        </p:txBody>
      </p:sp>
      <p:sp>
        <p:nvSpPr>
          <p:cNvPr id="39" name="Text 37"/>
          <p:cNvSpPr/>
          <p:nvPr/>
        </p:nvSpPr>
        <p:spPr>
          <a:xfrm>
            <a:off x="3566160" y="2926080"/>
            <a:ext cx="164592" cy="347472"/>
          </a:xfrm>
          <a:prstGeom prst="rect">
            <a:avLst/>
          </a:prstGeom>
          <a:noFill/>
          <a:ln/>
        </p:spPr>
        <p:txBody>
          <a:bodyPr wrap="square" lIns="0" tIns="0" rIns="0" bIns="0" rtlCol="0" anchor="ctr"/>
          <a:lstStyle/>
          <a:p>
            <a:pPr marL="0" indent="0" algn="ctr">
              <a:buNone/>
            </a:pPr>
            <a:r>
              <a:rPr lang="en-US" sz="1400" dirty="0">
                <a:solidFill>
                  <a:srgbClr val="E8EDF3"/>
                </a:solidFill>
                <a:latin typeface="Calibri" pitchFamily="34" charset="0"/>
                <a:ea typeface="Calibri" pitchFamily="34" charset="-122"/>
                <a:cs typeface="Calibri" pitchFamily="34" charset="-120"/>
              </a:rPr>
              <a:t>→</a:t>
            </a:r>
            <a:endParaRPr lang="en-US" sz="1400" dirty="0"/>
          </a:p>
        </p:txBody>
      </p:sp>
      <p:sp>
        <p:nvSpPr>
          <p:cNvPr id="40" name="Shape 38"/>
          <p:cNvSpPr/>
          <p:nvPr/>
        </p:nvSpPr>
        <p:spPr>
          <a:xfrm>
            <a:off x="3749040" y="1325880"/>
            <a:ext cx="1508760" cy="3264408"/>
          </a:xfrm>
          <a:prstGeom prst="rect">
            <a:avLst/>
          </a:prstGeom>
          <a:solidFill>
            <a:srgbClr val="FFFFFF"/>
          </a:solidFill>
          <a:ln/>
          <a:effectLst>
            <a:outerShdw blurRad="63500" dist="25400" dir="8100000" algn="bl" rotWithShape="0">
              <a:srgbClr val="000000">
                <a:alpha val="8000"/>
              </a:srgbClr>
            </a:outerShdw>
          </a:effectLst>
        </p:spPr>
      </p:sp>
      <p:sp>
        <p:nvSpPr>
          <p:cNvPr id="41" name="Shape 39"/>
          <p:cNvSpPr/>
          <p:nvPr/>
        </p:nvSpPr>
        <p:spPr>
          <a:xfrm>
            <a:off x="3749040" y="1325880"/>
            <a:ext cx="1508760" cy="457200"/>
          </a:xfrm>
          <a:prstGeom prst="rect">
            <a:avLst/>
          </a:prstGeom>
          <a:solidFill>
            <a:srgbClr val="7C3AED"/>
          </a:solidFill>
          <a:ln/>
        </p:spPr>
      </p:sp>
      <p:sp>
        <p:nvSpPr>
          <p:cNvPr id="42" name="Text 40"/>
          <p:cNvSpPr/>
          <p:nvPr/>
        </p:nvSpPr>
        <p:spPr>
          <a:xfrm>
            <a:off x="3749040" y="1325880"/>
            <a:ext cx="1508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3</a:t>
            </a:r>
            <a:endParaRPr lang="en-US" sz="1400" dirty="0"/>
          </a:p>
        </p:txBody>
      </p:sp>
      <p:sp>
        <p:nvSpPr>
          <p:cNvPr id="43" name="Text 41"/>
          <p:cNvSpPr/>
          <p:nvPr/>
        </p:nvSpPr>
        <p:spPr>
          <a:xfrm>
            <a:off x="3822192" y="1837944"/>
            <a:ext cx="1362456" cy="420624"/>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Clinical Workflow</a:t>
            </a:r>
            <a:endParaRPr lang="en-US" sz="1200" dirty="0"/>
          </a:p>
        </p:txBody>
      </p:sp>
      <p:sp>
        <p:nvSpPr>
          <p:cNvPr id="44" name="Shape 42"/>
          <p:cNvSpPr/>
          <p:nvPr/>
        </p:nvSpPr>
        <p:spPr>
          <a:xfrm>
            <a:off x="3840480" y="2368296"/>
            <a:ext cx="146304" cy="146304"/>
          </a:xfrm>
          <a:prstGeom prst="ellipse">
            <a:avLst/>
          </a:prstGeom>
          <a:solidFill>
            <a:srgbClr val="7C3AED"/>
          </a:solidFill>
          <a:ln/>
        </p:spPr>
      </p:sp>
      <p:sp>
        <p:nvSpPr>
          <p:cNvPr id="45" name="Text 43"/>
          <p:cNvSpPr/>
          <p:nvPr/>
        </p:nvSpPr>
        <p:spPr>
          <a:xfrm>
            <a:off x="4023360" y="2313432"/>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FHIR Condition, CarePlan, Practitioner resources</a:t>
            </a:r>
            <a:endParaRPr lang="en-US" sz="900" dirty="0"/>
          </a:p>
        </p:txBody>
      </p:sp>
      <p:sp>
        <p:nvSpPr>
          <p:cNvPr id="46" name="Shape 44"/>
          <p:cNvSpPr/>
          <p:nvPr/>
        </p:nvSpPr>
        <p:spPr>
          <a:xfrm>
            <a:off x="3840480" y="2898648"/>
            <a:ext cx="146304" cy="146304"/>
          </a:xfrm>
          <a:prstGeom prst="ellipse">
            <a:avLst/>
          </a:prstGeom>
          <a:solidFill>
            <a:srgbClr val="7C3AED"/>
          </a:solidFill>
          <a:ln/>
        </p:spPr>
      </p:sp>
      <p:sp>
        <p:nvSpPr>
          <p:cNvPr id="47" name="Text 45"/>
          <p:cNvSpPr/>
          <p:nvPr/>
        </p:nvSpPr>
        <p:spPr>
          <a:xfrm>
            <a:off x="4023360" y="2843784"/>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Full doctor dashboard with FHIR backend</a:t>
            </a:r>
            <a:endParaRPr lang="en-US" sz="900" dirty="0"/>
          </a:p>
        </p:txBody>
      </p:sp>
      <p:sp>
        <p:nvSpPr>
          <p:cNvPr id="48" name="Shape 46"/>
          <p:cNvSpPr/>
          <p:nvPr/>
        </p:nvSpPr>
        <p:spPr>
          <a:xfrm>
            <a:off x="3840480" y="3429000"/>
            <a:ext cx="146304" cy="146304"/>
          </a:xfrm>
          <a:prstGeom prst="ellipse">
            <a:avLst/>
          </a:prstGeom>
          <a:solidFill>
            <a:srgbClr val="7C3AED"/>
          </a:solidFill>
          <a:ln/>
        </p:spPr>
      </p:sp>
      <p:sp>
        <p:nvSpPr>
          <p:cNvPr id="49" name="Text 47"/>
          <p:cNvSpPr/>
          <p:nvPr/>
        </p:nvSpPr>
        <p:spPr>
          <a:xfrm>
            <a:off x="4023360" y="3374136"/>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FHIR Subscription — real-time alert push to doctor</a:t>
            </a:r>
            <a:endParaRPr lang="en-US" sz="900" dirty="0"/>
          </a:p>
        </p:txBody>
      </p:sp>
      <p:sp>
        <p:nvSpPr>
          <p:cNvPr id="50" name="Shape 48"/>
          <p:cNvSpPr/>
          <p:nvPr/>
        </p:nvSpPr>
        <p:spPr>
          <a:xfrm>
            <a:off x="3840480" y="3959352"/>
            <a:ext cx="146304" cy="146304"/>
          </a:xfrm>
          <a:prstGeom prst="ellipse">
            <a:avLst/>
          </a:prstGeom>
          <a:solidFill>
            <a:srgbClr val="7C3AED"/>
          </a:solidFill>
          <a:ln/>
        </p:spPr>
      </p:sp>
      <p:sp>
        <p:nvSpPr>
          <p:cNvPr id="51" name="Text 49"/>
          <p:cNvSpPr/>
          <p:nvPr/>
        </p:nvSpPr>
        <p:spPr>
          <a:xfrm>
            <a:off x="4023360" y="3904488"/>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SMART on FHIR OAuth 2.0 authentication</a:t>
            </a:r>
            <a:endParaRPr lang="en-US" sz="900" dirty="0"/>
          </a:p>
        </p:txBody>
      </p:sp>
      <p:sp>
        <p:nvSpPr>
          <p:cNvPr id="52" name="Shape 50"/>
          <p:cNvSpPr/>
          <p:nvPr/>
        </p:nvSpPr>
        <p:spPr>
          <a:xfrm>
            <a:off x="3822192" y="4370832"/>
            <a:ext cx="1362456" cy="201168"/>
          </a:xfrm>
          <a:prstGeom prst="roundRect">
            <a:avLst>
              <a:gd name="adj" fmla="val 22727"/>
            </a:avLst>
          </a:prstGeom>
          <a:solidFill>
            <a:srgbClr val="7C3AED">
              <a:alpha val="35000"/>
            </a:srgbClr>
          </a:solidFill>
          <a:ln/>
        </p:spPr>
      </p:sp>
      <p:sp>
        <p:nvSpPr>
          <p:cNvPr id="53" name="Text 51"/>
          <p:cNvSpPr/>
          <p:nvPr/>
        </p:nvSpPr>
        <p:spPr>
          <a:xfrm>
            <a:off x="3822192" y="4370832"/>
            <a:ext cx="1362456" cy="201168"/>
          </a:xfrm>
          <a:prstGeom prst="rect">
            <a:avLst/>
          </a:prstGeom>
          <a:noFill/>
          <a:ln/>
        </p:spPr>
        <p:txBody>
          <a:bodyPr wrap="square" lIns="0" tIns="0" rIns="0" bIns="0" rtlCol="0" anchor="ctr"/>
          <a:lstStyle/>
          <a:p>
            <a:pPr marL="0" indent="0" algn="ctr">
              <a:buNone/>
            </a:pPr>
            <a:r>
              <a:rPr lang="en-US" sz="900" b="1" dirty="0">
                <a:solidFill>
                  <a:srgbClr val="7C3AED"/>
                </a:solidFill>
                <a:latin typeface="Calibri" pitchFamily="34" charset="0"/>
                <a:ea typeface="Calibri" pitchFamily="34" charset="-122"/>
                <a:cs typeface="Calibri" pitchFamily="34" charset="-120"/>
              </a:rPr>
              <a:t>Phase 3</a:t>
            </a:r>
            <a:endParaRPr lang="en-US" sz="900" dirty="0"/>
          </a:p>
        </p:txBody>
      </p:sp>
      <p:sp>
        <p:nvSpPr>
          <p:cNvPr id="54" name="Text 52"/>
          <p:cNvSpPr/>
          <p:nvPr/>
        </p:nvSpPr>
        <p:spPr>
          <a:xfrm>
            <a:off x="5257800" y="2926080"/>
            <a:ext cx="164592" cy="347472"/>
          </a:xfrm>
          <a:prstGeom prst="rect">
            <a:avLst/>
          </a:prstGeom>
          <a:noFill/>
          <a:ln/>
        </p:spPr>
        <p:txBody>
          <a:bodyPr wrap="square" lIns="0" tIns="0" rIns="0" bIns="0" rtlCol="0" anchor="ctr"/>
          <a:lstStyle/>
          <a:p>
            <a:pPr marL="0" indent="0" algn="ctr">
              <a:buNone/>
            </a:pPr>
            <a:r>
              <a:rPr lang="en-US" sz="1400" dirty="0">
                <a:solidFill>
                  <a:srgbClr val="E8EDF3"/>
                </a:solidFill>
                <a:latin typeface="Calibri" pitchFamily="34" charset="0"/>
                <a:ea typeface="Calibri" pitchFamily="34" charset="-122"/>
                <a:cs typeface="Calibri" pitchFamily="34" charset="-120"/>
              </a:rPr>
              <a:t>→</a:t>
            </a:r>
            <a:endParaRPr lang="en-US" sz="1400" dirty="0"/>
          </a:p>
        </p:txBody>
      </p:sp>
      <p:sp>
        <p:nvSpPr>
          <p:cNvPr id="55" name="Shape 53"/>
          <p:cNvSpPr/>
          <p:nvPr/>
        </p:nvSpPr>
        <p:spPr>
          <a:xfrm>
            <a:off x="5440680" y="1325880"/>
            <a:ext cx="1508760" cy="3264408"/>
          </a:xfrm>
          <a:prstGeom prst="rect">
            <a:avLst/>
          </a:prstGeom>
          <a:solidFill>
            <a:srgbClr val="FFFFFF"/>
          </a:solidFill>
          <a:ln/>
          <a:effectLst>
            <a:outerShdw blurRad="63500" dist="25400" dir="8100000" algn="bl" rotWithShape="0">
              <a:srgbClr val="000000">
                <a:alpha val="8000"/>
              </a:srgbClr>
            </a:outerShdw>
          </a:effectLst>
        </p:spPr>
      </p:sp>
      <p:sp>
        <p:nvSpPr>
          <p:cNvPr id="56" name="Shape 54"/>
          <p:cNvSpPr/>
          <p:nvPr/>
        </p:nvSpPr>
        <p:spPr>
          <a:xfrm>
            <a:off x="5440680" y="1325880"/>
            <a:ext cx="1508760" cy="457200"/>
          </a:xfrm>
          <a:prstGeom prst="rect">
            <a:avLst/>
          </a:prstGeom>
          <a:solidFill>
            <a:srgbClr val="0D1B2A"/>
          </a:solidFill>
          <a:ln/>
        </p:spPr>
      </p:sp>
      <p:sp>
        <p:nvSpPr>
          <p:cNvPr id="57" name="Text 55"/>
          <p:cNvSpPr/>
          <p:nvPr/>
        </p:nvSpPr>
        <p:spPr>
          <a:xfrm>
            <a:off x="5440680" y="1325880"/>
            <a:ext cx="1508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4</a:t>
            </a:r>
            <a:endParaRPr lang="en-US" sz="1400" dirty="0"/>
          </a:p>
        </p:txBody>
      </p:sp>
      <p:sp>
        <p:nvSpPr>
          <p:cNvPr id="58" name="Text 56"/>
          <p:cNvSpPr/>
          <p:nvPr/>
        </p:nvSpPr>
        <p:spPr>
          <a:xfrm>
            <a:off x="5513832" y="1837944"/>
            <a:ext cx="1362456" cy="420624"/>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EHR Integration</a:t>
            </a:r>
            <a:endParaRPr lang="en-US" sz="1200" dirty="0"/>
          </a:p>
        </p:txBody>
      </p:sp>
      <p:sp>
        <p:nvSpPr>
          <p:cNvPr id="59" name="Shape 57"/>
          <p:cNvSpPr/>
          <p:nvPr/>
        </p:nvSpPr>
        <p:spPr>
          <a:xfrm>
            <a:off x="5532120" y="2368296"/>
            <a:ext cx="146304" cy="146304"/>
          </a:xfrm>
          <a:prstGeom prst="ellipse">
            <a:avLst/>
          </a:prstGeom>
          <a:solidFill>
            <a:srgbClr val="0D1B2A"/>
          </a:solidFill>
          <a:ln/>
        </p:spPr>
      </p:sp>
      <p:sp>
        <p:nvSpPr>
          <p:cNvPr id="60" name="Text 58"/>
          <p:cNvSpPr/>
          <p:nvPr/>
        </p:nvSpPr>
        <p:spPr>
          <a:xfrm>
            <a:off x="5715000" y="2313432"/>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Deploy HAPI FHIR open-source server</a:t>
            </a:r>
            <a:endParaRPr lang="en-US" sz="900" dirty="0"/>
          </a:p>
        </p:txBody>
      </p:sp>
      <p:sp>
        <p:nvSpPr>
          <p:cNvPr id="61" name="Shape 59"/>
          <p:cNvSpPr/>
          <p:nvPr/>
        </p:nvSpPr>
        <p:spPr>
          <a:xfrm>
            <a:off x="5532120" y="2898648"/>
            <a:ext cx="146304" cy="146304"/>
          </a:xfrm>
          <a:prstGeom prst="ellipse">
            <a:avLst/>
          </a:prstGeom>
          <a:solidFill>
            <a:srgbClr val="0D1B2A"/>
          </a:solidFill>
          <a:ln/>
        </p:spPr>
      </p:sp>
      <p:sp>
        <p:nvSpPr>
          <p:cNvPr id="62" name="Text 60"/>
          <p:cNvSpPr/>
          <p:nvPr/>
        </p:nvSpPr>
        <p:spPr>
          <a:xfrm>
            <a:off x="5715000" y="2843784"/>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Validate against official HL7 FHIR validator</a:t>
            </a:r>
            <a:endParaRPr lang="en-US" sz="900" dirty="0"/>
          </a:p>
        </p:txBody>
      </p:sp>
      <p:sp>
        <p:nvSpPr>
          <p:cNvPr id="63" name="Shape 61"/>
          <p:cNvSpPr/>
          <p:nvPr/>
        </p:nvSpPr>
        <p:spPr>
          <a:xfrm>
            <a:off x="5532120" y="3429000"/>
            <a:ext cx="146304" cy="146304"/>
          </a:xfrm>
          <a:prstGeom prst="ellipse">
            <a:avLst/>
          </a:prstGeom>
          <a:solidFill>
            <a:srgbClr val="0D1B2A"/>
          </a:solidFill>
          <a:ln/>
        </p:spPr>
      </p:sp>
      <p:sp>
        <p:nvSpPr>
          <p:cNvPr id="64" name="Text 62"/>
          <p:cNvSpPr/>
          <p:nvPr/>
        </p:nvSpPr>
        <p:spPr>
          <a:xfrm>
            <a:off x="5715000" y="3374136"/>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Connect to hospital EHR test environment (Epic/Cerner)</a:t>
            </a:r>
            <a:endParaRPr lang="en-US" sz="900" dirty="0"/>
          </a:p>
        </p:txBody>
      </p:sp>
      <p:sp>
        <p:nvSpPr>
          <p:cNvPr id="65" name="Shape 63"/>
          <p:cNvSpPr/>
          <p:nvPr/>
        </p:nvSpPr>
        <p:spPr>
          <a:xfrm>
            <a:off x="5532120" y="3959352"/>
            <a:ext cx="146304" cy="146304"/>
          </a:xfrm>
          <a:prstGeom prst="ellipse">
            <a:avLst/>
          </a:prstGeom>
          <a:solidFill>
            <a:srgbClr val="0D1B2A"/>
          </a:solidFill>
          <a:ln/>
        </p:spPr>
      </p:sp>
      <p:sp>
        <p:nvSpPr>
          <p:cNvPr id="66" name="Text 64"/>
          <p:cNvSpPr/>
          <p:nvPr/>
        </p:nvSpPr>
        <p:spPr>
          <a:xfrm>
            <a:off x="5715000" y="3904488"/>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FHIR AuditEvent logging for GDPR compliance</a:t>
            </a:r>
            <a:endParaRPr lang="en-US" sz="900" dirty="0"/>
          </a:p>
        </p:txBody>
      </p:sp>
      <p:sp>
        <p:nvSpPr>
          <p:cNvPr id="67" name="Shape 65"/>
          <p:cNvSpPr/>
          <p:nvPr/>
        </p:nvSpPr>
        <p:spPr>
          <a:xfrm>
            <a:off x="5513832" y="4370832"/>
            <a:ext cx="1362456" cy="201168"/>
          </a:xfrm>
          <a:prstGeom prst="roundRect">
            <a:avLst>
              <a:gd name="adj" fmla="val 22727"/>
            </a:avLst>
          </a:prstGeom>
          <a:solidFill>
            <a:srgbClr val="0D1B2A">
              <a:alpha val="35000"/>
            </a:srgbClr>
          </a:solidFill>
          <a:ln/>
        </p:spPr>
      </p:sp>
      <p:sp>
        <p:nvSpPr>
          <p:cNvPr id="68" name="Text 66"/>
          <p:cNvSpPr/>
          <p:nvPr/>
        </p:nvSpPr>
        <p:spPr>
          <a:xfrm>
            <a:off x="5513832" y="4370832"/>
            <a:ext cx="1362456" cy="201168"/>
          </a:xfrm>
          <a:prstGeom prst="rect">
            <a:avLst/>
          </a:prstGeom>
          <a:noFill/>
          <a:ln/>
        </p:spPr>
        <p:txBody>
          <a:bodyPr wrap="square" lIns="0" tIns="0" rIns="0" bIns="0" rtlCol="0" anchor="ctr"/>
          <a:lstStyle/>
          <a:p>
            <a:pPr marL="0" indent="0" algn="ctr">
              <a:buNone/>
            </a:pPr>
            <a:r>
              <a:rPr lang="en-US" sz="900" b="1" dirty="0">
                <a:solidFill>
                  <a:srgbClr val="0D1B2A"/>
                </a:solidFill>
                <a:latin typeface="Calibri" pitchFamily="34" charset="0"/>
                <a:ea typeface="Calibri" pitchFamily="34" charset="-122"/>
                <a:cs typeface="Calibri" pitchFamily="34" charset="-120"/>
              </a:rPr>
              <a:t>Phase 4</a:t>
            </a:r>
            <a:endParaRPr lang="en-US" sz="900" dirty="0"/>
          </a:p>
        </p:txBody>
      </p:sp>
      <p:sp>
        <p:nvSpPr>
          <p:cNvPr id="69" name="Text 67"/>
          <p:cNvSpPr/>
          <p:nvPr/>
        </p:nvSpPr>
        <p:spPr>
          <a:xfrm>
            <a:off x="6949440" y="2926080"/>
            <a:ext cx="164592" cy="347472"/>
          </a:xfrm>
          <a:prstGeom prst="rect">
            <a:avLst/>
          </a:prstGeom>
          <a:noFill/>
          <a:ln/>
        </p:spPr>
        <p:txBody>
          <a:bodyPr wrap="square" lIns="0" tIns="0" rIns="0" bIns="0" rtlCol="0" anchor="ctr"/>
          <a:lstStyle/>
          <a:p>
            <a:pPr marL="0" indent="0" algn="ctr">
              <a:buNone/>
            </a:pPr>
            <a:r>
              <a:rPr lang="en-US" sz="1400" dirty="0">
                <a:solidFill>
                  <a:srgbClr val="E8EDF3"/>
                </a:solidFill>
                <a:latin typeface="Calibri" pitchFamily="34" charset="0"/>
                <a:ea typeface="Calibri" pitchFamily="34" charset="-122"/>
                <a:cs typeface="Calibri" pitchFamily="34" charset="-120"/>
              </a:rPr>
              <a:t>→</a:t>
            </a:r>
            <a:endParaRPr lang="en-US" sz="1400" dirty="0"/>
          </a:p>
        </p:txBody>
      </p:sp>
      <p:sp>
        <p:nvSpPr>
          <p:cNvPr id="70" name="Shape 68"/>
          <p:cNvSpPr/>
          <p:nvPr/>
        </p:nvSpPr>
        <p:spPr>
          <a:xfrm>
            <a:off x="7132320" y="1325880"/>
            <a:ext cx="1508760" cy="3264408"/>
          </a:xfrm>
          <a:prstGeom prst="rect">
            <a:avLst/>
          </a:prstGeom>
          <a:solidFill>
            <a:srgbClr val="FFFFFF"/>
          </a:solidFill>
          <a:ln/>
          <a:effectLst>
            <a:outerShdw blurRad="63500" dist="25400" dir="8100000" algn="bl" rotWithShape="0">
              <a:srgbClr val="000000">
                <a:alpha val="8000"/>
              </a:srgbClr>
            </a:outerShdw>
          </a:effectLst>
        </p:spPr>
      </p:sp>
      <p:sp>
        <p:nvSpPr>
          <p:cNvPr id="71" name="Shape 69"/>
          <p:cNvSpPr/>
          <p:nvPr/>
        </p:nvSpPr>
        <p:spPr>
          <a:xfrm>
            <a:off x="7132320" y="1325880"/>
            <a:ext cx="1508760" cy="457200"/>
          </a:xfrm>
          <a:prstGeom prst="rect">
            <a:avLst/>
          </a:prstGeom>
          <a:solidFill>
            <a:srgbClr val="E84040"/>
          </a:solidFill>
          <a:ln/>
        </p:spPr>
      </p:sp>
      <p:sp>
        <p:nvSpPr>
          <p:cNvPr id="72" name="Text 70"/>
          <p:cNvSpPr/>
          <p:nvPr/>
        </p:nvSpPr>
        <p:spPr>
          <a:xfrm>
            <a:off x="7132320" y="1325880"/>
            <a:ext cx="1508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5</a:t>
            </a:r>
            <a:endParaRPr lang="en-US" sz="1400" dirty="0"/>
          </a:p>
        </p:txBody>
      </p:sp>
      <p:sp>
        <p:nvSpPr>
          <p:cNvPr id="73" name="Text 71"/>
          <p:cNvSpPr/>
          <p:nvPr/>
        </p:nvSpPr>
        <p:spPr>
          <a:xfrm>
            <a:off x="7205472" y="1837944"/>
            <a:ext cx="1362456" cy="420624"/>
          </a:xfrm>
          <a:prstGeom prst="rect">
            <a:avLst/>
          </a:prstGeom>
          <a:noFill/>
          <a:ln/>
        </p:spPr>
        <p:txBody>
          <a:bodyPr wrap="square" rtlCol="0" anchor="ctr"/>
          <a:lstStyle/>
          <a:p>
            <a:pPr marL="0" indent="0" algn="ctr">
              <a:buNone/>
            </a:pPr>
            <a:r>
              <a:rPr lang="en-US" sz="1200" b="1" dirty="0">
                <a:solidFill>
                  <a:srgbClr val="0D1B2A"/>
                </a:solidFill>
                <a:latin typeface="Calibri" pitchFamily="34" charset="0"/>
                <a:ea typeface="Calibri" pitchFamily="34" charset="-122"/>
                <a:cs typeface="Calibri" pitchFamily="34" charset="-120"/>
              </a:rPr>
              <a:t>Certification</a:t>
            </a:r>
            <a:endParaRPr lang="en-US" sz="1200" dirty="0"/>
          </a:p>
        </p:txBody>
      </p:sp>
      <p:sp>
        <p:nvSpPr>
          <p:cNvPr id="74" name="Shape 72"/>
          <p:cNvSpPr/>
          <p:nvPr/>
        </p:nvSpPr>
        <p:spPr>
          <a:xfrm>
            <a:off x="7223760" y="2368296"/>
            <a:ext cx="146304" cy="146304"/>
          </a:xfrm>
          <a:prstGeom prst="ellipse">
            <a:avLst/>
          </a:prstGeom>
          <a:solidFill>
            <a:srgbClr val="E84040"/>
          </a:solidFill>
          <a:ln/>
        </p:spPr>
      </p:sp>
      <p:sp>
        <p:nvSpPr>
          <p:cNvPr id="75" name="Text 73"/>
          <p:cNvSpPr/>
          <p:nvPr/>
        </p:nvSpPr>
        <p:spPr>
          <a:xfrm>
            <a:off x="7406640" y="2313432"/>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EU MDR 2017/745 device classification review</a:t>
            </a:r>
            <a:endParaRPr lang="en-US" sz="900" dirty="0"/>
          </a:p>
        </p:txBody>
      </p:sp>
      <p:sp>
        <p:nvSpPr>
          <p:cNvPr id="76" name="Shape 74"/>
          <p:cNvSpPr/>
          <p:nvPr/>
        </p:nvSpPr>
        <p:spPr>
          <a:xfrm>
            <a:off x="7223760" y="2898648"/>
            <a:ext cx="146304" cy="146304"/>
          </a:xfrm>
          <a:prstGeom prst="ellipse">
            <a:avLst/>
          </a:prstGeom>
          <a:solidFill>
            <a:srgbClr val="E84040"/>
          </a:solidFill>
          <a:ln/>
        </p:spPr>
      </p:sp>
      <p:sp>
        <p:nvSpPr>
          <p:cNvPr id="77" name="Text 75"/>
          <p:cNvSpPr/>
          <p:nvPr/>
        </p:nvSpPr>
        <p:spPr>
          <a:xfrm>
            <a:off x="7406640" y="2843784"/>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GDPR data protection impact assessment</a:t>
            </a:r>
            <a:endParaRPr lang="en-US" sz="900" dirty="0"/>
          </a:p>
        </p:txBody>
      </p:sp>
      <p:sp>
        <p:nvSpPr>
          <p:cNvPr id="78" name="Shape 76"/>
          <p:cNvSpPr/>
          <p:nvPr/>
        </p:nvSpPr>
        <p:spPr>
          <a:xfrm>
            <a:off x="7223760" y="3429000"/>
            <a:ext cx="146304" cy="146304"/>
          </a:xfrm>
          <a:prstGeom prst="ellipse">
            <a:avLst/>
          </a:prstGeom>
          <a:solidFill>
            <a:srgbClr val="E84040"/>
          </a:solidFill>
          <a:ln/>
        </p:spPr>
      </p:sp>
      <p:sp>
        <p:nvSpPr>
          <p:cNvPr id="79" name="Text 77"/>
          <p:cNvSpPr/>
          <p:nvPr/>
        </p:nvSpPr>
        <p:spPr>
          <a:xfrm>
            <a:off x="7406640" y="3374136"/>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ISO 13485 quality management evaluation</a:t>
            </a:r>
            <a:endParaRPr lang="en-US" sz="900" dirty="0"/>
          </a:p>
        </p:txBody>
      </p:sp>
      <p:sp>
        <p:nvSpPr>
          <p:cNvPr id="80" name="Shape 78"/>
          <p:cNvSpPr/>
          <p:nvPr/>
        </p:nvSpPr>
        <p:spPr>
          <a:xfrm>
            <a:off x="7223760" y="3959352"/>
            <a:ext cx="146304" cy="146304"/>
          </a:xfrm>
          <a:prstGeom prst="ellipse">
            <a:avLst/>
          </a:prstGeom>
          <a:solidFill>
            <a:srgbClr val="E84040"/>
          </a:solidFill>
          <a:ln/>
        </p:spPr>
      </p:sp>
      <p:sp>
        <p:nvSpPr>
          <p:cNvPr id="81" name="Text 79"/>
          <p:cNvSpPr/>
          <p:nvPr/>
        </p:nvSpPr>
        <p:spPr>
          <a:xfrm>
            <a:off x="7406640" y="3904488"/>
            <a:ext cx="1152144" cy="566928"/>
          </a:xfrm>
          <a:prstGeom prst="rect">
            <a:avLst/>
          </a:prstGeom>
          <a:noFill/>
          <a:ln/>
        </p:spPr>
        <p:txBody>
          <a:bodyPr wrap="square" rtlCol="0" anchor="t"/>
          <a:lstStyle/>
          <a:p>
            <a:pPr marL="0" indent="0">
              <a:buNone/>
            </a:pPr>
            <a:r>
              <a:rPr lang="en-US" sz="900" dirty="0">
                <a:solidFill>
                  <a:srgbClr val="6B7A8D"/>
                </a:solidFill>
                <a:latin typeface="Calibri" pitchFamily="34" charset="0"/>
                <a:ea typeface="Calibri" pitchFamily="34" charset="-122"/>
                <a:cs typeface="Calibri" pitchFamily="34" charset="-120"/>
              </a:rPr>
              <a:t>HL7 FHIR conformance testing and certification</a:t>
            </a:r>
            <a:endParaRPr lang="en-US" sz="900" dirty="0"/>
          </a:p>
        </p:txBody>
      </p:sp>
      <p:sp>
        <p:nvSpPr>
          <p:cNvPr id="82" name="Shape 80"/>
          <p:cNvSpPr/>
          <p:nvPr/>
        </p:nvSpPr>
        <p:spPr>
          <a:xfrm>
            <a:off x="7205472" y="4370832"/>
            <a:ext cx="1362456" cy="201168"/>
          </a:xfrm>
          <a:prstGeom prst="roundRect">
            <a:avLst>
              <a:gd name="adj" fmla="val 22727"/>
            </a:avLst>
          </a:prstGeom>
          <a:solidFill>
            <a:srgbClr val="E84040">
              <a:alpha val="35000"/>
            </a:srgbClr>
          </a:solidFill>
          <a:ln/>
        </p:spPr>
      </p:sp>
      <p:sp>
        <p:nvSpPr>
          <p:cNvPr id="83" name="Text 81"/>
          <p:cNvSpPr/>
          <p:nvPr/>
        </p:nvSpPr>
        <p:spPr>
          <a:xfrm>
            <a:off x="7205472" y="4370832"/>
            <a:ext cx="1362456" cy="201168"/>
          </a:xfrm>
          <a:prstGeom prst="rect">
            <a:avLst/>
          </a:prstGeom>
          <a:noFill/>
          <a:ln/>
        </p:spPr>
        <p:txBody>
          <a:bodyPr wrap="square" lIns="0" tIns="0" rIns="0" bIns="0" rtlCol="0" anchor="ctr"/>
          <a:lstStyle/>
          <a:p>
            <a:pPr marL="0" indent="0" algn="ctr">
              <a:buNone/>
            </a:pPr>
            <a:r>
              <a:rPr lang="en-US" sz="900" b="1" dirty="0">
                <a:solidFill>
                  <a:srgbClr val="E84040"/>
                </a:solidFill>
                <a:latin typeface="Calibri" pitchFamily="34" charset="0"/>
                <a:ea typeface="Calibri" pitchFamily="34" charset="-122"/>
                <a:cs typeface="Calibri" pitchFamily="34" charset="-120"/>
              </a:rPr>
              <a:t>Phase 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Data Privacy, GDPR Compliance &amp; SMART on FHIR Authentication</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Health data is the most sensitive category of personal data under GDPR. The Smartband V001 FHIR implementation must address privacy from the ground up — not as an afterthought. SMART on FHIR provides the industry-standard authentication layer.</a:t>
            </a:r>
            <a:endParaRPr lang="en-US" sz="1200" dirty="0"/>
          </a:p>
        </p:txBody>
      </p:sp>
      <p:sp>
        <p:nvSpPr>
          <p:cNvPr id="10" name="Text 8"/>
          <p:cNvSpPr/>
          <p:nvPr/>
        </p:nvSpPr>
        <p:spPr>
          <a:xfrm>
            <a:off x="365760" y="1353312"/>
            <a:ext cx="4160520" cy="27432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GDPR &amp; Regulatory Compliance</a:t>
            </a:r>
            <a:endParaRPr lang="en-US" sz="1400" dirty="0"/>
          </a:p>
        </p:txBody>
      </p:sp>
      <p:sp>
        <p:nvSpPr>
          <p:cNvPr id="11" name="Shape 9"/>
          <p:cNvSpPr/>
          <p:nvPr/>
        </p:nvSpPr>
        <p:spPr>
          <a:xfrm>
            <a:off x="365760" y="1700784"/>
            <a:ext cx="4160520" cy="420624"/>
          </a:xfrm>
          <a:prstGeom prst="rect">
            <a:avLst/>
          </a:prstGeom>
          <a:solidFill>
            <a:srgbClr val="F0F4F8"/>
          </a:solidFill>
          <a:ln/>
        </p:spPr>
      </p:sp>
      <p:sp>
        <p:nvSpPr>
          <p:cNvPr id="12" name="Shape 10"/>
          <p:cNvSpPr/>
          <p:nvPr/>
        </p:nvSpPr>
        <p:spPr>
          <a:xfrm>
            <a:off x="365760" y="1700784"/>
            <a:ext cx="54864" cy="420624"/>
          </a:xfrm>
          <a:prstGeom prst="rect">
            <a:avLst/>
          </a:prstGeom>
          <a:solidFill>
            <a:srgbClr val="028090"/>
          </a:solidFill>
          <a:ln/>
        </p:spPr>
      </p:sp>
      <p:sp>
        <p:nvSpPr>
          <p:cNvPr id="13" name="Text 11"/>
          <p:cNvSpPr/>
          <p:nvPr/>
        </p:nvSpPr>
        <p:spPr>
          <a:xfrm>
            <a:off x="502920" y="1719072"/>
            <a:ext cx="1645920" cy="18288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Encryption in transit</a:t>
            </a:r>
            <a:endParaRPr lang="en-US" sz="1100" dirty="0"/>
          </a:p>
        </p:txBody>
      </p:sp>
      <p:sp>
        <p:nvSpPr>
          <p:cNvPr id="14" name="Text 12"/>
          <p:cNvSpPr/>
          <p:nvPr/>
        </p:nvSpPr>
        <p:spPr>
          <a:xfrm>
            <a:off x="502920" y="1920240"/>
            <a:ext cx="3895344" cy="182880"/>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All FHIR API calls use HTTPS/TLS. Data in transit is never readable even if intercepted on the network. Mandatory under GDPR Article 32.</a:t>
            </a:r>
            <a:endParaRPr lang="en-US" sz="900" dirty="0"/>
          </a:p>
        </p:txBody>
      </p:sp>
      <p:sp>
        <p:nvSpPr>
          <p:cNvPr id="15" name="Shape 13"/>
          <p:cNvSpPr/>
          <p:nvPr/>
        </p:nvSpPr>
        <p:spPr>
          <a:xfrm>
            <a:off x="365760" y="2194560"/>
            <a:ext cx="4160520" cy="420624"/>
          </a:xfrm>
          <a:prstGeom prst="rect">
            <a:avLst/>
          </a:prstGeom>
          <a:solidFill>
            <a:srgbClr val="FFFFFF"/>
          </a:solidFill>
          <a:ln/>
        </p:spPr>
      </p:sp>
      <p:sp>
        <p:nvSpPr>
          <p:cNvPr id="16" name="Shape 14"/>
          <p:cNvSpPr/>
          <p:nvPr/>
        </p:nvSpPr>
        <p:spPr>
          <a:xfrm>
            <a:off x="365760" y="2194560"/>
            <a:ext cx="54864" cy="420624"/>
          </a:xfrm>
          <a:prstGeom prst="rect">
            <a:avLst/>
          </a:prstGeom>
          <a:solidFill>
            <a:srgbClr val="0D1B2A"/>
          </a:solidFill>
          <a:ln/>
        </p:spPr>
      </p:sp>
      <p:sp>
        <p:nvSpPr>
          <p:cNvPr id="17" name="Text 15"/>
          <p:cNvSpPr/>
          <p:nvPr/>
        </p:nvSpPr>
        <p:spPr>
          <a:xfrm>
            <a:off x="502920" y="2212848"/>
            <a:ext cx="1645920" cy="18288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Encryption at rest</a:t>
            </a:r>
            <a:endParaRPr lang="en-US" sz="1100" dirty="0"/>
          </a:p>
        </p:txBody>
      </p:sp>
      <p:sp>
        <p:nvSpPr>
          <p:cNvPr id="18" name="Text 16"/>
          <p:cNvSpPr/>
          <p:nvPr/>
        </p:nvSpPr>
        <p:spPr>
          <a:xfrm>
            <a:off x="502920" y="2414016"/>
            <a:ext cx="3895344" cy="182880"/>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All patient data stored on the server is encrypted. The database itself is inaccessible without the decryption key. Required by GDPR Article 32.</a:t>
            </a:r>
            <a:endParaRPr lang="en-US" sz="900" dirty="0"/>
          </a:p>
        </p:txBody>
      </p:sp>
      <p:sp>
        <p:nvSpPr>
          <p:cNvPr id="19" name="Shape 17"/>
          <p:cNvSpPr/>
          <p:nvPr/>
        </p:nvSpPr>
        <p:spPr>
          <a:xfrm>
            <a:off x="365760" y="2688336"/>
            <a:ext cx="4160520" cy="420624"/>
          </a:xfrm>
          <a:prstGeom prst="rect">
            <a:avLst/>
          </a:prstGeom>
          <a:solidFill>
            <a:srgbClr val="F0F4F8"/>
          </a:solidFill>
          <a:ln/>
        </p:spPr>
      </p:sp>
      <p:sp>
        <p:nvSpPr>
          <p:cNvPr id="20" name="Shape 18"/>
          <p:cNvSpPr/>
          <p:nvPr/>
        </p:nvSpPr>
        <p:spPr>
          <a:xfrm>
            <a:off x="365760" y="2688336"/>
            <a:ext cx="54864" cy="420624"/>
          </a:xfrm>
          <a:prstGeom prst="rect">
            <a:avLst/>
          </a:prstGeom>
          <a:solidFill>
            <a:srgbClr val="028090"/>
          </a:solidFill>
          <a:ln/>
        </p:spPr>
      </p:sp>
      <p:sp>
        <p:nvSpPr>
          <p:cNvPr id="21" name="Text 19"/>
          <p:cNvSpPr/>
          <p:nvPr/>
        </p:nvSpPr>
        <p:spPr>
          <a:xfrm>
            <a:off x="502920" y="2706624"/>
            <a:ext cx="1645920" cy="18288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Patient consent (Art. 7)</a:t>
            </a:r>
            <a:endParaRPr lang="en-US" sz="1100" dirty="0"/>
          </a:p>
        </p:txBody>
      </p:sp>
      <p:sp>
        <p:nvSpPr>
          <p:cNvPr id="22" name="Text 20"/>
          <p:cNvSpPr/>
          <p:nvPr/>
        </p:nvSpPr>
        <p:spPr>
          <a:xfrm>
            <a:off x="502920" y="2907792"/>
            <a:ext cx="3895344" cy="182880"/>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Every patient must give explicit consent before data collection begins. Consent is stored as a FHIR Consent resource and can be withdrawn at any time.</a:t>
            </a:r>
            <a:endParaRPr lang="en-US" sz="900" dirty="0"/>
          </a:p>
        </p:txBody>
      </p:sp>
      <p:sp>
        <p:nvSpPr>
          <p:cNvPr id="23" name="Shape 21"/>
          <p:cNvSpPr/>
          <p:nvPr/>
        </p:nvSpPr>
        <p:spPr>
          <a:xfrm>
            <a:off x="365760" y="3182112"/>
            <a:ext cx="4160520" cy="420624"/>
          </a:xfrm>
          <a:prstGeom prst="rect">
            <a:avLst/>
          </a:prstGeom>
          <a:solidFill>
            <a:srgbClr val="FFFFFF"/>
          </a:solidFill>
          <a:ln/>
        </p:spPr>
      </p:sp>
      <p:sp>
        <p:nvSpPr>
          <p:cNvPr id="24" name="Shape 22"/>
          <p:cNvSpPr/>
          <p:nvPr/>
        </p:nvSpPr>
        <p:spPr>
          <a:xfrm>
            <a:off x="365760" y="3182112"/>
            <a:ext cx="54864" cy="420624"/>
          </a:xfrm>
          <a:prstGeom prst="rect">
            <a:avLst/>
          </a:prstGeom>
          <a:solidFill>
            <a:srgbClr val="E84040"/>
          </a:solidFill>
          <a:ln/>
        </p:spPr>
      </p:sp>
      <p:sp>
        <p:nvSpPr>
          <p:cNvPr id="25" name="Text 23"/>
          <p:cNvSpPr/>
          <p:nvPr/>
        </p:nvSpPr>
        <p:spPr>
          <a:xfrm>
            <a:off x="502920" y="3200400"/>
            <a:ext cx="1645920" cy="18288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Right to erasure (Art. 17)</a:t>
            </a:r>
            <a:endParaRPr lang="en-US" sz="1100" dirty="0"/>
          </a:p>
        </p:txBody>
      </p:sp>
      <p:sp>
        <p:nvSpPr>
          <p:cNvPr id="26" name="Text 24"/>
          <p:cNvSpPr/>
          <p:nvPr/>
        </p:nvSpPr>
        <p:spPr>
          <a:xfrm>
            <a:off x="502920" y="3401568"/>
            <a:ext cx="3895344" cy="182880"/>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Patients can request deletion of all their health data. The FHIR DELETE operation removes all Observations, Conditions, and Patient resources permanently.</a:t>
            </a:r>
            <a:endParaRPr lang="en-US" sz="900" dirty="0"/>
          </a:p>
        </p:txBody>
      </p:sp>
      <p:sp>
        <p:nvSpPr>
          <p:cNvPr id="27" name="Shape 25"/>
          <p:cNvSpPr/>
          <p:nvPr/>
        </p:nvSpPr>
        <p:spPr>
          <a:xfrm>
            <a:off x="365760" y="3675888"/>
            <a:ext cx="4160520" cy="420624"/>
          </a:xfrm>
          <a:prstGeom prst="rect">
            <a:avLst/>
          </a:prstGeom>
          <a:solidFill>
            <a:srgbClr val="F0F4F8"/>
          </a:solidFill>
          <a:ln/>
        </p:spPr>
      </p:sp>
      <p:sp>
        <p:nvSpPr>
          <p:cNvPr id="28" name="Shape 26"/>
          <p:cNvSpPr/>
          <p:nvPr/>
        </p:nvSpPr>
        <p:spPr>
          <a:xfrm>
            <a:off x="365760" y="3675888"/>
            <a:ext cx="54864" cy="420624"/>
          </a:xfrm>
          <a:prstGeom prst="rect">
            <a:avLst/>
          </a:prstGeom>
          <a:solidFill>
            <a:srgbClr val="7C3AED"/>
          </a:solidFill>
          <a:ln/>
        </p:spPr>
      </p:sp>
      <p:sp>
        <p:nvSpPr>
          <p:cNvPr id="29" name="Text 27"/>
          <p:cNvSpPr/>
          <p:nvPr/>
        </p:nvSpPr>
        <p:spPr>
          <a:xfrm>
            <a:off x="502920" y="3694176"/>
            <a:ext cx="1645920" cy="18288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Audit logging</a:t>
            </a:r>
            <a:endParaRPr lang="en-US" sz="1100" dirty="0"/>
          </a:p>
        </p:txBody>
      </p:sp>
      <p:sp>
        <p:nvSpPr>
          <p:cNvPr id="30" name="Text 28"/>
          <p:cNvSpPr/>
          <p:nvPr/>
        </p:nvSpPr>
        <p:spPr>
          <a:xfrm>
            <a:off x="502920" y="3895344"/>
            <a:ext cx="3895344" cy="182880"/>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Every access and modification is logged as a FHIR AuditEvent resource. This creates a tamper-proof compliance trail required by ISO 27001 and HIPAA.</a:t>
            </a:r>
            <a:endParaRPr lang="en-US" sz="900" dirty="0"/>
          </a:p>
        </p:txBody>
      </p:sp>
      <p:sp>
        <p:nvSpPr>
          <p:cNvPr id="31" name="Shape 29"/>
          <p:cNvSpPr/>
          <p:nvPr/>
        </p:nvSpPr>
        <p:spPr>
          <a:xfrm>
            <a:off x="365760" y="4169664"/>
            <a:ext cx="4160520" cy="420624"/>
          </a:xfrm>
          <a:prstGeom prst="rect">
            <a:avLst/>
          </a:prstGeom>
          <a:solidFill>
            <a:srgbClr val="FFFFFF"/>
          </a:solidFill>
          <a:ln/>
        </p:spPr>
      </p:sp>
      <p:sp>
        <p:nvSpPr>
          <p:cNvPr id="32" name="Shape 30"/>
          <p:cNvSpPr/>
          <p:nvPr/>
        </p:nvSpPr>
        <p:spPr>
          <a:xfrm>
            <a:off x="365760" y="4169664"/>
            <a:ext cx="54864" cy="420624"/>
          </a:xfrm>
          <a:prstGeom prst="rect">
            <a:avLst/>
          </a:prstGeom>
          <a:solidFill>
            <a:srgbClr val="E87A1A"/>
          </a:solidFill>
          <a:ln/>
        </p:spPr>
      </p:sp>
      <p:sp>
        <p:nvSpPr>
          <p:cNvPr id="33" name="Text 31"/>
          <p:cNvSpPr/>
          <p:nvPr/>
        </p:nvSpPr>
        <p:spPr>
          <a:xfrm>
            <a:off x="502920" y="4187952"/>
            <a:ext cx="1645920" cy="18288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EU MDR 2017/745</a:t>
            </a:r>
            <a:endParaRPr lang="en-US" sz="1100" dirty="0"/>
          </a:p>
        </p:txBody>
      </p:sp>
      <p:sp>
        <p:nvSpPr>
          <p:cNvPr id="34" name="Text 32"/>
          <p:cNvSpPr/>
          <p:nvPr/>
        </p:nvSpPr>
        <p:spPr>
          <a:xfrm>
            <a:off x="502920" y="4389120"/>
            <a:ext cx="3895344" cy="182880"/>
          </a:xfrm>
          <a:prstGeom prst="rect">
            <a:avLst/>
          </a:prstGeom>
          <a:noFill/>
          <a:ln/>
        </p:spPr>
        <p:txBody>
          <a:bodyPr wrap="square" lIns="0" tIns="0" rIns="0" bIns="0" rtlCol="0" anchor="ctr"/>
          <a:lstStyle/>
          <a:p>
            <a:pPr marL="0" indent="0">
              <a:buNone/>
            </a:pPr>
            <a:r>
              <a:rPr lang="en-US" sz="900" dirty="0">
                <a:solidFill>
                  <a:srgbClr val="6B7A8D"/>
                </a:solidFill>
                <a:latin typeface="Calibri" pitchFamily="34" charset="0"/>
                <a:ea typeface="Calibri" pitchFamily="34" charset="-122"/>
                <a:cs typeface="Calibri" pitchFamily="34" charset="-120"/>
              </a:rPr>
              <a:t>The device must be classified under the EU Medical Device Regulation. FHIR compliance is increasingly considered during conformity assessment.</a:t>
            </a:r>
            <a:endParaRPr lang="en-US" sz="900" dirty="0"/>
          </a:p>
        </p:txBody>
      </p:sp>
      <p:sp>
        <p:nvSpPr>
          <p:cNvPr id="35" name="Text 33"/>
          <p:cNvSpPr/>
          <p:nvPr/>
        </p:nvSpPr>
        <p:spPr>
          <a:xfrm>
            <a:off x="4663440" y="1353312"/>
            <a:ext cx="4114800" cy="27432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SMART on FHIR — OAuth 2.0 Auth Layer</a:t>
            </a:r>
            <a:endParaRPr lang="en-US" sz="1400" dirty="0"/>
          </a:p>
        </p:txBody>
      </p:sp>
      <p:sp>
        <p:nvSpPr>
          <p:cNvPr id="36" name="Text 34"/>
          <p:cNvSpPr/>
          <p:nvPr/>
        </p:nvSpPr>
        <p:spPr>
          <a:xfrm>
            <a:off x="4663440" y="1682496"/>
            <a:ext cx="4114800" cy="658368"/>
          </a:xfrm>
          <a:prstGeom prst="rect">
            <a:avLst/>
          </a:prstGeom>
          <a:noFill/>
          <a:ln/>
        </p:spPr>
        <p:txBody>
          <a:bodyPr wrap="square" rtlCol="0" anchor="t"/>
          <a:lstStyle/>
          <a:p>
            <a:pPr marL="0" indent="0">
              <a:buNone/>
            </a:pPr>
            <a:r>
              <a:rPr lang="en-US" sz="1100" dirty="0">
                <a:solidFill>
                  <a:srgbClr val="6B7A8D"/>
                </a:solidFill>
                <a:latin typeface="Calibri" pitchFamily="34" charset="0"/>
                <a:ea typeface="Calibri" pitchFamily="34" charset="-122"/>
                <a:cs typeface="Calibri" pitchFamily="34" charset="-120"/>
              </a:rPr>
              <a:t>SMART on FHIR is the authorization framework built on top of FHIR. It uses OAuth 2.0 tokens to control who can access which patient data. Without valid credentials, the FHIR API returns a 401 Unauthorized error — no data is exposed.</a:t>
            </a:r>
            <a:endParaRPr lang="en-US" sz="1100" dirty="0"/>
          </a:p>
        </p:txBody>
      </p:sp>
      <p:sp>
        <p:nvSpPr>
          <p:cNvPr id="37" name="Shape 35"/>
          <p:cNvSpPr/>
          <p:nvPr/>
        </p:nvSpPr>
        <p:spPr>
          <a:xfrm>
            <a:off x="4663440" y="2468880"/>
            <a:ext cx="402336" cy="402336"/>
          </a:xfrm>
          <a:prstGeom prst="ellipse">
            <a:avLst/>
          </a:prstGeom>
          <a:solidFill>
            <a:srgbClr val="028090"/>
          </a:solidFill>
          <a:ln/>
        </p:spPr>
      </p:sp>
      <p:pic>
        <p:nvPicPr>
          <p:cNvPr id="38" name="Image 0" descr="preencoded.png"/>
          <p:cNvPicPr>
            <a:picLocks noChangeAspect="1"/>
          </p:cNvPicPr>
          <p:nvPr/>
        </p:nvPicPr>
        <p:blipFill>
          <a:blip r:embed="rId3"/>
          <a:stretch>
            <a:fillRect/>
          </a:stretch>
        </p:blipFill>
        <p:spPr>
          <a:xfrm>
            <a:off x="4709160" y="2496312"/>
            <a:ext cx="310896" cy="310896"/>
          </a:xfrm>
          <a:prstGeom prst="rect">
            <a:avLst/>
          </a:prstGeom>
        </p:spPr>
      </p:pic>
      <p:sp>
        <p:nvSpPr>
          <p:cNvPr id="39" name="Text 36"/>
          <p:cNvSpPr/>
          <p:nvPr/>
        </p:nvSpPr>
        <p:spPr>
          <a:xfrm>
            <a:off x="5157216" y="2441448"/>
            <a:ext cx="3493008" cy="219456"/>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Doctor login</a:t>
            </a:r>
            <a:endParaRPr lang="en-US" sz="1200" dirty="0"/>
          </a:p>
        </p:txBody>
      </p:sp>
      <p:sp>
        <p:nvSpPr>
          <p:cNvPr id="40" name="Text 37"/>
          <p:cNvSpPr/>
          <p:nvPr/>
        </p:nvSpPr>
        <p:spPr>
          <a:xfrm>
            <a:off x="5157216" y="2679192"/>
            <a:ext cx="3493008" cy="29260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Receives a scoped token — can only see their assigned patients. Cannot access other doctors' patient lists.</a:t>
            </a:r>
            <a:endParaRPr lang="en-US" sz="1000" dirty="0"/>
          </a:p>
        </p:txBody>
      </p:sp>
      <p:sp>
        <p:nvSpPr>
          <p:cNvPr id="41" name="Shape 38"/>
          <p:cNvSpPr/>
          <p:nvPr/>
        </p:nvSpPr>
        <p:spPr>
          <a:xfrm>
            <a:off x="4663440" y="3072384"/>
            <a:ext cx="402336" cy="402336"/>
          </a:xfrm>
          <a:prstGeom prst="ellipse">
            <a:avLst/>
          </a:prstGeom>
          <a:solidFill>
            <a:srgbClr val="E84040"/>
          </a:solidFill>
          <a:ln/>
        </p:spPr>
      </p:sp>
      <p:pic>
        <p:nvPicPr>
          <p:cNvPr id="42" name="Image 1" descr="preencoded.png"/>
          <p:cNvPicPr>
            <a:picLocks noChangeAspect="1"/>
          </p:cNvPicPr>
          <p:nvPr/>
        </p:nvPicPr>
        <p:blipFill>
          <a:blip r:embed="rId4"/>
          <a:stretch>
            <a:fillRect/>
          </a:stretch>
        </p:blipFill>
        <p:spPr>
          <a:xfrm>
            <a:off x="4709160" y="3099816"/>
            <a:ext cx="310896" cy="310896"/>
          </a:xfrm>
          <a:prstGeom prst="rect">
            <a:avLst/>
          </a:prstGeom>
        </p:spPr>
      </p:pic>
      <p:sp>
        <p:nvSpPr>
          <p:cNvPr id="43" name="Text 39"/>
          <p:cNvSpPr/>
          <p:nvPr/>
        </p:nvSpPr>
        <p:spPr>
          <a:xfrm>
            <a:off x="5157216" y="3044952"/>
            <a:ext cx="3493008" cy="219456"/>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Patient login</a:t>
            </a:r>
            <a:endParaRPr lang="en-US" sz="1200" dirty="0"/>
          </a:p>
        </p:txBody>
      </p:sp>
      <p:sp>
        <p:nvSpPr>
          <p:cNvPr id="44" name="Text 40"/>
          <p:cNvSpPr/>
          <p:nvPr/>
        </p:nvSpPr>
        <p:spPr>
          <a:xfrm>
            <a:off x="5157216" y="3282696"/>
            <a:ext cx="3493008" cy="29260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Receives a narrower token — read-only access to their own observations and care plan. Cannot modify records.</a:t>
            </a:r>
            <a:endParaRPr lang="en-US" sz="1000" dirty="0"/>
          </a:p>
        </p:txBody>
      </p:sp>
      <p:sp>
        <p:nvSpPr>
          <p:cNvPr id="45" name="Shape 41"/>
          <p:cNvSpPr/>
          <p:nvPr/>
        </p:nvSpPr>
        <p:spPr>
          <a:xfrm>
            <a:off x="4663440" y="3675888"/>
            <a:ext cx="402336" cy="402336"/>
          </a:xfrm>
          <a:prstGeom prst="ellipse">
            <a:avLst/>
          </a:prstGeom>
          <a:solidFill>
            <a:srgbClr val="7C3AED"/>
          </a:solidFill>
          <a:ln/>
        </p:spPr>
      </p:sp>
      <p:pic>
        <p:nvPicPr>
          <p:cNvPr id="46" name="Image 2" descr="preencoded.png"/>
          <p:cNvPicPr>
            <a:picLocks noChangeAspect="1"/>
          </p:cNvPicPr>
          <p:nvPr/>
        </p:nvPicPr>
        <p:blipFill>
          <a:blip r:embed="rId5"/>
          <a:stretch>
            <a:fillRect/>
          </a:stretch>
        </p:blipFill>
        <p:spPr>
          <a:xfrm>
            <a:off x="4709160" y="3703320"/>
            <a:ext cx="310896" cy="310896"/>
          </a:xfrm>
          <a:prstGeom prst="rect">
            <a:avLst/>
          </a:prstGeom>
        </p:spPr>
      </p:pic>
      <p:sp>
        <p:nvSpPr>
          <p:cNvPr id="47" name="Text 42"/>
          <p:cNvSpPr/>
          <p:nvPr/>
        </p:nvSpPr>
        <p:spPr>
          <a:xfrm>
            <a:off x="5157216" y="3648456"/>
            <a:ext cx="3493008" cy="219456"/>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Research app</a:t>
            </a:r>
            <a:endParaRPr lang="en-US" sz="1200" dirty="0"/>
          </a:p>
        </p:txBody>
      </p:sp>
      <p:sp>
        <p:nvSpPr>
          <p:cNvPr id="48" name="Text 43"/>
          <p:cNvSpPr/>
          <p:nvPr/>
        </p:nvSpPr>
        <p:spPr>
          <a:xfrm>
            <a:off x="5157216" y="3886200"/>
            <a:ext cx="3493008" cy="29260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Requests anonymized, aggregated data only. Individual patient identifiers are never included in the response.</a:t>
            </a:r>
            <a:endParaRPr lang="en-US" sz="1000" dirty="0"/>
          </a:p>
        </p:txBody>
      </p:sp>
      <p:sp>
        <p:nvSpPr>
          <p:cNvPr id="49" name="Shape 44"/>
          <p:cNvSpPr/>
          <p:nvPr/>
        </p:nvSpPr>
        <p:spPr>
          <a:xfrm>
            <a:off x="4663440" y="4279392"/>
            <a:ext cx="402336" cy="402336"/>
          </a:xfrm>
          <a:prstGeom prst="ellipse">
            <a:avLst/>
          </a:prstGeom>
          <a:solidFill>
            <a:srgbClr val="0D1B2A"/>
          </a:solidFill>
          <a:ln/>
        </p:spPr>
      </p:sp>
      <p:pic>
        <p:nvPicPr>
          <p:cNvPr id="50" name="Image 3" descr="preencoded.png"/>
          <p:cNvPicPr>
            <a:picLocks noChangeAspect="1"/>
          </p:cNvPicPr>
          <p:nvPr/>
        </p:nvPicPr>
        <p:blipFill>
          <a:blip r:embed="rId6"/>
          <a:stretch>
            <a:fillRect/>
          </a:stretch>
        </p:blipFill>
        <p:spPr>
          <a:xfrm>
            <a:off x="4709160" y="4306824"/>
            <a:ext cx="310896" cy="310896"/>
          </a:xfrm>
          <a:prstGeom prst="rect">
            <a:avLst/>
          </a:prstGeom>
        </p:spPr>
      </p:pic>
      <p:sp>
        <p:nvSpPr>
          <p:cNvPr id="51" name="Text 45"/>
          <p:cNvSpPr/>
          <p:nvPr/>
        </p:nvSpPr>
        <p:spPr>
          <a:xfrm>
            <a:off x="5157216" y="4251960"/>
            <a:ext cx="3493008" cy="219456"/>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Token security</a:t>
            </a:r>
            <a:endParaRPr lang="en-US" sz="1200" dirty="0"/>
          </a:p>
        </p:txBody>
      </p:sp>
      <p:sp>
        <p:nvSpPr>
          <p:cNvPr id="52" name="Text 46"/>
          <p:cNvSpPr/>
          <p:nvPr/>
        </p:nvSpPr>
        <p:spPr>
          <a:xfrm>
            <a:off x="5157216" y="4489704"/>
            <a:ext cx="3493008" cy="292608"/>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All endpoints require a valid OAuth 2.0 bearer token in the HTTP header. Tokens expire after a configurable period.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FHIR Server Options — Moving Beyond the Prototype</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The current Flask implementation is a prototype. For production deployment — or even a serious academic demonstration — a dedicated FHIR server is required. The recommended option for this project is HAPI FHIR due to its open-source nature and full R4 compliance.</a:t>
            </a:r>
            <a:endParaRPr lang="en-US" sz="1200" dirty="0"/>
          </a:p>
        </p:txBody>
      </p:sp>
      <p:sp>
        <p:nvSpPr>
          <p:cNvPr id="10" name="Text 8"/>
          <p:cNvSpPr/>
          <p:nvPr/>
        </p:nvSpPr>
        <p:spPr>
          <a:xfrm>
            <a:off x="365760" y="1335024"/>
            <a:ext cx="8412480" cy="256032"/>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Why a dedicated FHIR server?</a:t>
            </a:r>
            <a:endParaRPr lang="en-US" sz="1300" dirty="0"/>
          </a:p>
        </p:txBody>
      </p:sp>
      <p:sp>
        <p:nvSpPr>
          <p:cNvPr id="11" name="Text 9"/>
          <p:cNvSpPr/>
          <p:nvPr/>
        </p:nvSpPr>
        <p:spPr>
          <a:xfrm>
            <a:off x="365760" y="1627632"/>
            <a:ext cx="8412480" cy="502920"/>
          </a:xfrm>
          <a:prstGeom prst="rect">
            <a:avLst/>
          </a:prstGeom>
          <a:noFill/>
          <a:ln/>
        </p:spPr>
        <p:txBody>
          <a:bodyPr wrap="square" rtlCol="0" anchor="ctr"/>
          <a:lstStyle/>
          <a:p>
            <a:pPr marL="0" indent="0">
              <a:buNone/>
            </a:pPr>
            <a:r>
              <a:rPr lang="en-US" sz="1100" dirty="0">
                <a:solidFill>
                  <a:srgbClr val="6B7A8D"/>
                </a:solidFill>
                <a:latin typeface="Calibri" pitchFamily="34" charset="0"/>
                <a:ea typeface="Calibri" pitchFamily="34" charset="-122"/>
                <a:cs typeface="Calibri" pitchFamily="34" charset="-120"/>
              </a:rPr>
              <a:t>The Flask server is a custom implementation — it produces FHIR-shaped JSON but does not perform full FHIR validation, does not support FHIR search parameters, and does not implement the FHIR capability statement. A proper FHIR server handles all of this automatically and passes the official HL7 conformance tests.</a:t>
            </a:r>
            <a:endParaRPr lang="en-US" sz="1100" dirty="0"/>
          </a:p>
        </p:txBody>
      </p:sp>
      <p:sp>
        <p:nvSpPr>
          <p:cNvPr id="12" name="Shape 10"/>
          <p:cNvSpPr/>
          <p:nvPr/>
        </p:nvSpPr>
        <p:spPr>
          <a:xfrm>
            <a:off x="365760" y="2212848"/>
            <a:ext cx="8412480" cy="438912"/>
          </a:xfrm>
          <a:prstGeom prst="rect">
            <a:avLst/>
          </a:prstGeom>
          <a:solidFill>
            <a:srgbClr val="EBF5FF"/>
          </a:solidFill>
          <a:ln/>
          <a:effectLst>
            <a:outerShdw blurRad="38100" dist="12700" dir="8100000" algn="bl" rotWithShape="0">
              <a:srgbClr val="000000">
                <a:alpha val="6000"/>
              </a:srgbClr>
            </a:outerShdw>
          </a:effectLst>
        </p:spPr>
      </p:sp>
      <p:sp>
        <p:nvSpPr>
          <p:cNvPr id="13" name="Shape 11"/>
          <p:cNvSpPr/>
          <p:nvPr/>
        </p:nvSpPr>
        <p:spPr>
          <a:xfrm>
            <a:off x="365760" y="2212848"/>
            <a:ext cx="54864" cy="438912"/>
          </a:xfrm>
          <a:prstGeom prst="rect">
            <a:avLst/>
          </a:prstGeom>
          <a:solidFill>
            <a:srgbClr val="028090"/>
          </a:solidFill>
          <a:ln/>
        </p:spPr>
      </p:sp>
      <p:sp>
        <p:nvSpPr>
          <p:cNvPr id="14" name="Text 12"/>
          <p:cNvSpPr/>
          <p:nvPr/>
        </p:nvSpPr>
        <p:spPr>
          <a:xfrm>
            <a:off x="512064" y="2240280"/>
            <a:ext cx="1737360" cy="20116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HAPI FHIR</a:t>
            </a:r>
            <a:endParaRPr lang="en-US" sz="1200" dirty="0"/>
          </a:p>
        </p:txBody>
      </p:sp>
      <p:sp>
        <p:nvSpPr>
          <p:cNvPr id="15" name="Text 13"/>
          <p:cNvSpPr/>
          <p:nvPr/>
        </p:nvSpPr>
        <p:spPr>
          <a:xfrm>
            <a:off x="512064" y="2459736"/>
            <a:ext cx="1737360" cy="164592"/>
          </a:xfrm>
          <a:prstGeom prst="rect">
            <a:avLst/>
          </a:prstGeom>
          <a:noFill/>
          <a:ln/>
        </p:spPr>
        <p:txBody>
          <a:bodyPr wrap="square" lIns="0" tIns="0" rIns="0" bIns="0"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Open source Java  ·  Free</a:t>
            </a:r>
            <a:endParaRPr lang="en-US" sz="900" dirty="0"/>
          </a:p>
        </p:txBody>
      </p:sp>
      <p:sp>
        <p:nvSpPr>
          <p:cNvPr id="16" name="Text 14"/>
          <p:cNvSpPr/>
          <p:nvPr/>
        </p:nvSpPr>
        <p:spPr>
          <a:xfrm>
            <a:off x="2377440" y="2267712"/>
            <a:ext cx="6126480" cy="347472"/>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The most widely used open-source FHIR server. Runs locally on a Pi or cloud VM. Full R4 compliance, built-in FHIR validator, and REST API. Recommended for this project.</a:t>
            </a:r>
            <a:endParaRPr lang="en-US" sz="1000" dirty="0"/>
          </a:p>
        </p:txBody>
      </p:sp>
      <p:sp>
        <p:nvSpPr>
          <p:cNvPr id="17" name="Shape 15"/>
          <p:cNvSpPr/>
          <p:nvPr/>
        </p:nvSpPr>
        <p:spPr>
          <a:xfrm>
            <a:off x="8138160" y="2304288"/>
            <a:ext cx="566928" cy="219456"/>
          </a:xfrm>
          <a:prstGeom prst="roundRect">
            <a:avLst>
              <a:gd name="adj" fmla="val 20833"/>
            </a:avLst>
          </a:prstGeom>
          <a:solidFill>
            <a:srgbClr val="028090"/>
          </a:solidFill>
          <a:ln/>
        </p:spPr>
      </p:sp>
      <p:sp>
        <p:nvSpPr>
          <p:cNvPr id="18" name="Text 16"/>
          <p:cNvSpPr/>
          <p:nvPr/>
        </p:nvSpPr>
        <p:spPr>
          <a:xfrm>
            <a:off x="8138160" y="2304288"/>
            <a:ext cx="566928"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Pick</a:t>
            </a:r>
            <a:endParaRPr lang="en-US" sz="900" dirty="0"/>
          </a:p>
        </p:txBody>
      </p:sp>
      <p:sp>
        <p:nvSpPr>
          <p:cNvPr id="19" name="Shape 17"/>
          <p:cNvSpPr/>
          <p:nvPr/>
        </p:nvSpPr>
        <p:spPr>
          <a:xfrm>
            <a:off x="365760" y="2715768"/>
            <a:ext cx="8412480" cy="438912"/>
          </a:xfrm>
          <a:prstGeom prst="rect">
            <a:avLst/>
          </a:prstGeom>
          <a:solidFill>
            <a:srgbClr val="FFFFFF"/>
          </a:solidFill>
          <a:ln/>
          <a:effectLst>
            <a:outerShdw blurRad="38100" dist="12700" dir="8100000" algn="bl" rotWithShape="0">
              <a:srgbClr val="000000">
                <a:alpha val="6000"/>
              </a:srgbClr>
            </a:outerShdw>
          </a:effectLst>
        </p:spPr>
      </p:sp>
      <p:sp>
        <p:nvSpPr>
          <p:cNvPr id="20" name="Shape 18"/>
          <p:cNvSpPr/>
          <p:nvPr/>
        </p:nvSpPr>
        <p:spPr>
          <a:xfrm>
            <a:off x="365760" y="2715768"/>
            <a:ext cx="54864" cy="438912"/>
          </a:xfrm>
          <a:prstGeom prst="rect">
            <a:avLst/>
          </a:prstGeom>
          <a:solidFill>
            <a:srgbClr val="0D1B2A"/>
          </a:solidFill>
          <a:ln/>
        </p:spPr>
      </p:sp>
      <p:sp>
        <p:nvSpPr>
          <p:cNvPr id="21" name="Text 19"/>
          <p:cNvSpPr/>
          <p:nvPr/>
        </p:nvSpPr>
        <p:spPr>
          <a:xfrm>
            <a:off x="512064" y="2743200"/>
            <a:ext cx="1737360" cy="20116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Azure Health Data</a:t>
            </a:r>
            <a:endParaRPr lang="en-US" sz="1200" dirty="0"/>
          </a:p>
        </p:txBody>
      </p:sp>
      <p:sp>
        <p:nvSpPr>
          <p:cNvPr id="22" name="Text 20"/>
          <p:cNvSpPr/>
          <p:nvPr/>
        </p:nvSpPr>
        <p:spPr>
          <a:xfrm>
            <a:off x="512064" y="2962656"/>
            <a:ext cx="1737360" cy="164592"/>
          </a:xfrm>
          <a:prstGeom prst="rect">
            <a:avLst/>
          </a:prstGeom>
          <a:noFill/>
          <a:ln/>
        </p:spPr>
        <p:txBody>
          <a:bodyPr wrap="square" lIns="0" tIns="0" rIns="0" bIns="0"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Cloud FHIR service  ·  Pay per use</a:t>
            </a:r>
            <a:endParaRPr lang="en-US" sz="900" dirty="0"/>
          </a:p>
        </p:txBody>
      </p:sp>
      <p:sp>
        <p:nvSpPr>
          <p:cNvPr id="23" name="Text 21"/>
          <p:cNvSpPr/>
          <p:nvPr/>
        </p:nvSpPr>
        <p:spPr>
          <a:xfrm>
            <a:off x="2377440" y="2770632"/>
            <a:ext cx="6126480" cy="347472"/>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Microsoft Azure's managed FHIR service. No server maintenance required. Integrates with Azure Logic Apps for automated workflows. Suitable for production cloud deployment.</a:t>
            </a:r>
            <a:endParaRPr lang="en-US" sz="1000" dirty="0"/>
          </a:p>
        </p:txBody>
      </p:sp>
      <p:sp>
        <p:nvSpPr>
          <p:cNvPr id="24" name="Shape 22"/>
          <p:cNvSpPr/>
          <p:nvPr/>
        </p:nvSpPr>
        <p:spPr>
          <a:xfrm>
            <a:off x="365760" y="3218688"/>
            <a:ext cx="8412480" cy="438912"/>
          </a:xfrm>
          <a:prstGeom prst="rect">
            <a:avLst/>
          </a:prstGeom>
          <a:solidFill>
            <a:srgbClr val="FFFFFF"/>
          </a:solidFill>
          <a:ln/>
          <a:effectLst>
            <a:outerShdw blurRad="38100" dist="12700" dir="8100000" algn="bl" rotWithShape="0">
              <a:srgbClr val="000000">
                <a:alpha val="6000"/>
              </a:srgbClr>
            </a:outerShdw>
          </a:effectLst>
        </p:spPr>
      </p:sp>
      <p:sp>
        <p:nvSpPr>
          <p:cNvPr id="25" name="Shape 23"/>
          <p:cNvSpPr/>
          <p:nvPr/>
        </p:nvSpPr>
        <p:spPr>
          <a:xfrm>
            <a:off x="365760" y="3218688"/>
            <a:ext cx="54864" cy="438912"/>
          </a:xfrm>
          <a:prstGeom prst="rect">
            <a:avLst/>
          </a:prstGeom>
          <a:solidFill>
            <a:srgbClr val="E87A1A"/>
          </a:solidFill>
          <a:ln/>
        </p:spPr>
      </p:sp>
      <p:sp>
        <p:nvSpPr>
          <p:cNvPr id="26" name="Text 24"/>
          <p:cNvSpPr/>
          <p:nvPr/>
        </p:nvSpPr>
        <p:spPr>
          <a:xfrm>
            <a:off x="512064" y="3246120"/>
            <a:ext cx="1737360" cy="20116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AWS HealthLake</a:t>
            </a:r>
            <a:endParaRPr lang="en-US" sz="1200" dirty="0"/>
          </a:p>
        </p:txBody>
      </p:sp>
      <p:sp>
        <p:nvSpPr>
          <p:cNvPr id="27" name="Text 25"/>
          <p:cNvSpPr/>
          <p:nvPr/>
        </p:nvSpPr>
        <p:spPr>
          <a:xfrm>
            <a:off x="512064" y="3465576"/>
            <a:ext cx="1737360" cy="164592"/>
          </a:xfrm>
          <a:prstGeom prst="rect">
            <a:avLst/>
          </a:prstGeom>
          <a:noFill/>
          <a:ln/>
        </p:spPr>
        <p:txBody>
          <a:bodyPr wrap="square" lIns="0" tIns="0" rIns="0" bIns="0"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Cloud FHIR service  ·  Pay per use</a:t>
            </a:r>
            <a:endParaRPr lang="en-US" sz="900" dirty="0"/>
          </a:p>
        </p:txBody>
      </p:sp>
      <p:sp>
        <p:nvSpPr>
          <p:cNvPr id="28" name="Text 26"/>
          <p:cNvSpPr/>
          <p:nvPr/>
        </p:nvSpPr>
        <p:spPr>
          <a:xfrm>
            <a:off x="2377440" y="3273552"/>
            <a:ext cx="6126480" cy="347472"/>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Amazon's FHIR-native health data lake. Includes built-in ML capabilities for predictive analytics. Best for large-scale research data aggregation across many devices.</a:t>
            </a:r>
            <a:endParaRPr lang="en-US" sz="1000" dirty="0"/>
          </a:p>
        </p:txBody>
      </p:sp>
      <p:sp>
        <p:nvSpPr>
          <p:cNvPr id="29" name="Shape 27"/>
          <p:cNvSpPr/>
          <p:nvPr/>
        </p:nvSpPr>
        <p:spPr>
          <a:xfrm>
            <a:off x="365760" y="3721608"/>
            <a:ext cx="8412480" cy="438912"/>
          </a:xfrm>
          <a:prstGeom prst="rect">
            <a:avLst/>
          </a:prstGeom>
          <a:solidFill>
            <a:srgbClr val="FFFFFF"/>
          </a:solidFill>
          <a:ln/>
          <a:effectLst>
            <a:outerShdw blurRad="38100" dist="12700" dir="8100000" algn="bl" rotWithShape="0">
              <a:srgbClr val="000000">
                <a:alpha val="6000"/>
              </a:srgbClr>
            </a:outerShdw>
          </a:effectLst>
        </p:spPr>
      </p:sp>
      <p:sp>
        <p:nvSpPr>
          <p:cNvPr id="30" name="Shape 28"/>
          <p:cNvSpPr/>
          <p:nvPr/>
        </p:nvSpPr>
        <p:spPr>
          <a:xfrm>
            <a:off x="365760" y="3721608"/>
            <a:ext cx="54864" cy="438912"/>
          </a:xfrm>
          <a:prstGeom prst="rect">
            <a:avLst/>
          </a:prstGeom>
          <a:solidFill>
            <a:srgbClr val="E84040"/>
          </a:solidFill>
          <a:ln/>
        </p:spPr>
      </p:sp>
      <p:sp>
        <p:nvSpPr>
          <p:cNvPr id="31" name="Text 29"/>
          <p:cNvSpPr/>
          <p:nvPr/>
        </p:nvSpPr>
        <p:spPr>
          <a:xfrm>
            <a:off x="512064" y="3749040"/>
            <a:ext cx="1737360" cy="20116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Google Cloud FHIR</a:t>
            </a:r>
            <a:endParaRPr lang="en-US" sz="1200" dirty="0"/>
          </a:p>
        </p:txBody>
      </p:sp>
      <p:sp>
        <p:nvSpPr>
          <p:cNvPr id="32" name="Text 30"/>
          <p:cNvSpPr/>
          <p:nvPr/>
        </p:nvSpPr>
        <p:spPr>
          <a:xfrm>
            <a:off x="512064" y="3968496"/>
            <a:ext cx="1737360" cy="164592"/>
          </a:xfrm>
          <a:prstGeom prst="rect">
            <a:avLst/>
          </a:prstGeom>
          <a:noFill/>
          <a:ln/>
        </p:spPr>
        <p:txBody>
          <a:bodyPr wrap="square" lIns="0" tIns="0" rIns="0" bIns="0"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Cloud FHIR service  ·  Pay per use</a:t>
            </a:r>
            <a:endParaRPr lang="en-US" sz="900" dirty="0"/>
          </a:p>
        </p:txBody>
      </p:sp>
      <p:sp>
        <p:nvSpPr>
          <p:cNvPr id="33" name="Text 31"/>
          <p:cNvSpPr/>
          <p:nvPr/>
        </p:nvSpPr>
        <p:spPr>
          <a:xfrm>
            <a:off x="2377440" y="3776472"/>
            <a:ext cx="6126480" cy="347472"/>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Google Cloud Healthcare API with FHIR R4 support. Integrates with BigQuery for advanced analytics. Best for research institutions already using Google Cloud infrastructure.</a:t>
            </a:r>
            <a:endParaRPr lang="en-US" sz="1000" dirty="0"/>
          </a:p>
        </p:txBody>
      </p:sp>
      <p:sp>
        <p:nvSpPr>
          <p:cNvPr id="34" name="Shape 32"/>
          <p:cNvSpPr/>
          <p:nvPr/>
        </p:nvSpPr>
        <p:spPr>
          <a:xfrm>
            <a:off x="365760" y="4224528"/>
            <a:ext cx="8412480" cy="438912"/>
          </a:xfrm>
          <a:prstGeom prst="rect">
            <a:avLst/>
          </a:prstGeom>
          <a:solidFill>
            <a:srgbClr val="FFFFFF"/>
          </a:solidFill>
          <a:ln/>
          <a:effectLst>
            <a:outerShdw blurRad="38100" dist="12700" dir="8100000" algn="bl" rotWithShape="0">
              <a:srgbClr val="000000">
                <a:alpha val="6000"/>
              </a:srgbClr>
            </a:outerShdw>
          </a:effectLst>
        </p:spPr>
      </p:sp>
      <p:sp>
        <p:nvSpPr>
          <p:cNvPr id="35" name="Shape 33"/>
          <p:cNvSpPr/>
          <p:nvPr/>
        </p:nvSpPr>
        <p:spPr>
          <a:xfrm>
            <a:off x="365760" y="4224528"/>
            <a:ext cx="54864" cy="438912"/>
          </a:xfrm>
          <a:prstGeom prst="rect">
            <a:avLst/>
          </a:prstGeom>
          <a:solidFill>
            <a:srgbClr val="7C3AED"/>
          </a:solidFill>
          <a:ln/>
        </p:spPr>
      </p:sp>
      <p:sp>
        <p:nvSpPr>
          <p:cNvPr id="36" name="Text 34"/>
          <p:cNvSpPr/>
          <p:nvPr/>
        </p:nvSpPr>
        <p:spPr>
          <a:xfrm>
            <a:off x="512064" y="4251960"/>
            <a:ext cx="1737360" cy="20116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OpenMRS FHIR</a:t>
            </a:r>
            <a:endParaRPr lang="en-US" sz="1200" dirty="0"/>
          </a:p>
        </p:txBody>
      </p:sp>
      <p:sp>
        <p:nvSpPr>
          <p:cNvPr id="37" name="Text 35"/>
          <p:cNvSpPr/>
          <p:nvPr/>
        </p:nvSpPr>
        <p:spPr>
          <a:xfrm>
            <a:off x="512064" y="4471416"/>
            <a:ext cx="1737360" cy="164592"/>
          </a:xfrm>
          <a:prstGeom prst="rect">
            <a:avLst/>
          </a:prstGeom>
          <a:noFill/>
          <a:ln/>
        </p:spPr>
        <p:txBody>
          <a:bodyPr wrap="square" lIns="0" tIns="0" rIns="0" bIns="0" rtlCol="0" anchor="ctr"/>
          <a:lstStyle/>
          <a:p>
            <a:pPr marL="0" indent="0">
              <a:buNone/>
            </a:pPr>
            <a:r>
              <a:rPr lang="en-US" sz="900" i="1" dirty="0">
                <a:solidFill>
                  <a:srgbClr val="6B7A8D"/>
                </a:solidFill>
                <a:latin typeface="Calibri" pitchFamily="34" charset="0"/>
                <a:ea typeface="Calibri" pitchFamily="34" charset="-122"/>
                <a:cs typeface="Calibri" pitchFamily="34" charset="-120"/>
              </a:rPr>
              <a:t>Open source  ·  Free</a:t>
            </a:r>
            <a:endParaRPr lang="en-US" sz="900" dirty="0"/>
          </a:p>
        </p:txBody>
      </p:sp>
      <p:sp>
        <p:nvSpPr>
          <p:cNvPr id="38" name="Text 36"/>
          <p:cNvSpPr/>
          <p:nvPr/>
        </p:nvSpPr>
        <p:spPr>
          <a:xfrm>
            <a:off x="2377440" y="4279392"/>
            <a:ext cx="6126480" cy="347472"/>
          </a:xfrm>
          <a:prstGeom prst="rect">
            <a:avLst/>
          </a:prstGeom>
          <a:noFill/>
          <a:ln/>
        </p:spPr>
        <p:txBody>
          <a:bodyPr wrap="square" lIns="0" tIns="0" rIns="0" bIns="0" rtlCol="0" anchor="ctr"/>
          <a:lstStyle/>
          <a:p>
            <a:pPr marL="0" indent="0">
              <a:buNone/>
            </a:pPr>
            <a:r>
              <a:rPr lang="en-US" sz="1000" dirty="0">
                <a:solidFill>
                  <a:srgbClr val="6B7A8D"/>
                </a:solidFill>
                <a:latin typeface="Calibri" pitchFamily="34" charset="0"/>
                <a:ea typeface="Calibri" pitchFamily="34" charset="-122"/>
                <a:cs typeface="Calibri" pitchFamily="34" charset="-120"/>
              </a:rPr>
              <a:t>Open-source EHR with built-in FHIR module. Ideal for connecting Smartband data directly into a running EHR instance for academic demonstration purposes at HSHL.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Next Steps &amp; Recommendations — Action Plan</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These seven actions, taken in order, will transform the Smartband V001 from a prototype demonstration into a clinically meaningful, FHIR-compliant health monitoring device.</a:t>
            </a:r>
            <a:endParaRPr lang="en-US" sz="1200" dirty="0"/>
          </a:p>
        </p:txBody>
      </p:sp>
      <p:sp>
        <p:nvSpPr>
          <p:cNvPr id="10" name="Shape 8"/>
          <p:cNvSpPr/>
          <p:nvPr/>
        </p:nvSpPr>
        <p:spPr>
          <a:xfrm>
            <a:off x="365760" y="822960"/>
            <a:ext cx="4160520" cy="822960"/>
          </a:xfrm>
          <a:prstGeom prst="rect">
            <a:avLst/>
          </a:prstGeom>
          <a:solidFill>
            <a:srgbClr val="FFFFFF"/>
          </a:solidFill>
          <a:ln/>
          <a:effectLst>
            <a:outerShdw blurRad="50800" dist="25400" dir="8100000" algn="bl" rotWithShape="0">
              <a:srgbClr val="000000">
                <a:alpha val="7000"/>
              </a:srgbClr>
            </a:outerShdw>
          </a:effectLst>
        </p:spPr>
      </p:sp>
      <p:sp>
        <p:nvSpPr>
          <p:cNvPr id="11" name="Shape 9"/>
          <p:cNvSpPr/>
          <p:nvPr/>
        </p:nvSpPr>
        <p:spPr>
          <a:xfrm>
            <a:off x="438912" y="987552"/>
            <a:ext cx="457200" cy="457200"/>
          </a:xfrm>
          <a:prstGeom prst="ellipse">
            <a:avLst/>
          </a:prstGeom>
          <a:solidFill>
            <a:srgbClr val="028090"/>
          </a:solidFill>
          <a:ln/>
        </p:spPr>
      </p:sp>
      <p:sp>
        <p:nvSpPr>
          <p:cNvPr id="12" name="Text 10"/>
          <p:cNvSpPr/>
          <p:nvPr/>
        </p:nvSpPr>
        <p:spPr>
          <a:xfrm>
            <a:off x="438912" y="987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1"/>
          <p:cNvSpPr/>
          <p:nvPr/>
        </p:nvSpPr>
        <p:spPr>
          <a:xfrm>
            <a:off x="1005840" y="877824"/>
            <a:ext cx="34290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Activate firmware sensor reads</a:t>
            </a:r>
            <a:endParaRPr lang="en-US" sz="1200" dirty="0"/>
          </a:p>
        </p:txBody>
      </p:sp>
      <p:sp>
        <p:nvSpPr>
          <p:cNvPr id="14" name="Text 12"/>
          <p:cNvSpPr/>
          <p:nvPr/>
        </p:nvSpPr>
        <p:spPr>
          <a:xfrm>
            <a:off x="1005840" y="1170432"/>
            <a:ext cx="3429000" cy="438912"/>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Uncomment the sensor reading calls in i2c_sensors.c on the CC2640R2F firmware. Replace the 0x7788 placeholder value with real MAX30102, MPU-6050, and MLX90632 readings transmitted via BLE GATT.</a:t>
            </a:r>
            <a:endParaRPr lang="en-US" sz="900" dirty="0"/>
          </a:p>
        </p:txBody>
      </p:sp>
      <p:sp>
        <p:nvSpPr>
          <p:cNvPr id="15" name="Shape 13"/>
          <p:cNvSpPr/>
          <p:nvPr/>
        </p:nvSpPr>
        <p:spPr>
          <a:xfrm>
            <a:off x="365760" y="1810512"/>
            <a:ext cx="4160520" cy="822960"/>
          </a:xfrm>
          <a:prstGeom prst="rect">
            <a:avLst/>
          </a:prstGeom>
          <a:solidFill>
            <a:srgbClr val="FFFFFF"/>
          </a:solidFill>
          <a:ln/>
          <a:effectLst>
            <a:outerShdw blurRad="50800" dist="25400" dir="8100000" algn="bl" rotWithShape="0">
              <a:srgbClr val="000000">
                <a:alpha val="7000"/>
              </a:srgbClr>
            </a:outerShdw>
          </a:effectLst>
        </p:spPr>
      </p:sp>
      <p:sp>
        <p:nvSpPr>
          <p:cNvPr id="16" name="Shape 14"/>
          <p:cNvSpPr/>
          <p:nvPr/>
        </p:nvSpPr>
        <p:spPr>
          <a:xfrm>
            <a:off x="438912" y="1975104"/>
            <a:ext cx="457200" cy="457200"/>
          </a:xfrm>
          <a:prstGeom prst="ellipse">
            <a:avLst/>
          </a:prstGeom>
          <a:solidFill>
            <a:srgbClr val="0D1B2A"/>
          </a:solidFill>
          <a:ln/>
        </p:spPr>
      </p:sp>
      <p:sp>
        <p:nvSpPr>
          <p:cNvPr id="17" name="Text 15"/>
          <p:cNvSpPr/>
          <p:nvPr/>
        </p:nvSpPr>
        <p:spPr>
          <a:xfrm>
            <a:off x="438912" y="197510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6"/>
          <p:cNvSpPr/>
          <p:nvPr/>
        </p:nvSpPr>
        <p:spPr>
          <a:xfrm>
            <a:off x="1005840" y="1865376"/>
            <a:ext cx="34290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Procure future sensors</a:t>
            </a:r>
            <a:endParaRPr lang="en-US" sz="1200" dirty="0"/>
          </a:p>
        </p:txBody>
      </p:sp>
      <p:sp>
        <p:nvSpPr>
          <p:cNvPr id="19" name="Text 17"/>
          <p:cNvSpPr/>
          <p:nvPr/>
        </p:nvSpPr>
        <p:spPr>
          <a:xfrm>
            <a:off x="1005840" y="2157984"/>
            <a:ext cx="3429000" cy="438912"/>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Order: AD8232 ECG module (SparkFun DEV-12650), Grove GSR Sensor v1.2 (Seeed SKU 101020052), ProtoCentral BP2 blood pressure module. These three expand clinical coverage the most at lowest cost.</a:t>
            </a:r>
            <a:endParaRPr lang="en-US" sz="900" dirty="0"/>
          </a:p>
        </p:txBody>
      </p:sp>
      <p:sp>
        <p:nvSpPr>
          <p:cNvPr id="20" name="Shape 18"/>
          <p:cNvSpPr/>
          <p:nvPr/>
        </p:nvSpPr>
        <p:spPr>
          <a:xfrm>
            <a:off x="365760" y="2798064"/>
            <a:ext cx="4160520" cy="822960"/>
          </a:xfrm>
          <a:prstGeom prst="rect">
            <a:avLst/>
          </a:prstGeom>
          <a:solidFill>
            <a:srgbClr val="FFFFFF"/>
          </a:solidFill>
          <a:ln/>
          <a:effectLst>
            <a:outerShdw blurRad="50800" dist="25400" dir="8100000" algn="bl" rotWithShape="0">
              <a:srgbClr val="000000">
                <a:alpha val="7000"/>
              </a:srgbClr>
            </a:outerShdw>
          </a:effectLst>
        </p:spPr>
      </p:sp>
      <p:sp>
        <p:nvSpPr>
          <p:cNvPr id="21" name="Shape 19"/>
          <p:cNvSpPr/>
          <p:nvPr/>
        </p:nvSpPr>
        <p:spPr>
          <a:xfrm>
            <a:off x="438912" y="2962656"/>
            <a:ext cx="457200" cy="457200"/>
          </a:xfrm>
          <a:prstGeom prst="ellipse">
            <a:avLst/>
          </a:prstGeom>
          <a:solidFill>
            <a:srgbClr val="028090"/>
          </a:solidFill>
          <a:ln/>
        </p:spPr>
      </p:sp>
      <p:sp>
        <p:nvSpPr>
          <p:cNvPr id="22" name="Text 20"/>
          <p:cNvSpPr/>
          <p:nvPr/>
        </p:nvSpPr>
        <p:spPr>
          <a:xfrm>
            <a:off x="438912" y="296265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p:nvPr/>
        </p:nvSpPr>
        <p:spPr>
          <a:xfrm>
            <a:off x="1005840" y="2852928"/>
            <a:ext cx="34290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Expand the FHIR API</a:t>
            </a:r>
            <a:endParaRPr lang="en-US" sz="1200" dirty="0"/>
          </a:p>
        </p:txBody>
      </p:sp>
      <p:sp>
        <p:nvSpPr>
          <p:cNvPr id="24" name="Text 22"/>
          <p:cNvSpPr/>
          <p:nvPr/>
        </p:nvSpPr>
        <p:spPr>
          <a:xfrm>
            <a:off x="1005840" y="3145536"/>
            <a:ext cx="3429000" cy="438912"/>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Add FHIR Condition resources for alert events, SpO2 Observation endpoint, and a /api/fhir/observation/history endpoint returning the last N readings as a FHIR Bundle with proper timestamps.</a:t>
            </a:r>
            <a:endParaRPr lang="en-US" sz="900" dirty="0"/>
          </a:p>
        </p:txBody>
      </p:sp>
      <p:sp>
        <p:nvSpPr>
          <p:cNvPr id="25" name="Shape 23"/>
          <p:cNvSpPr/>
          <p:nvPr/>
        </p:nvSpPr>
        <p:spPr>
          <a:xfrm>
            <a:off x="365760" y="3785616"/>
            <a:ext cx="4160520" cy="822960"/>
          </a:xfrm>
          <a:prstGeom prst="rect">
            <a:avLst/>
          </a:prstGeom>
          <a:solidFill>
            <a:srgbClr val="FFFFFF"/>
          </a:solidFill>
          <a:ln/>
          <a:effectLst>
            <a:outerShdw blurRad="50800" dist="25400" dir="8100000" algn="bl" rotWithShape="0">
              <a:srgbClr val="000000">
                <a:alpha val="7000"/>
              </a:srgbClr>
            </a:outerShdw>
          </a:effectLst>
        </p:spPr>
      </p:sp>
      <p:sp>
        <p:nvSpPr>
          <p:cNvPr id="26" name="Shape 24"/>
          <p:cNvSpPr/>
          <p:nvPr/>
        </p:nvSpPr>
        <p:spPr>
          <a:xfrm>
            <a:off x="438912" y="3950208"/>
            <a:ext cx="457200" cy="457200"/>
          </a:xfrm>
          <a:prstGeom prst="ellipse">
            <a:avLst/>
          </a:prstGeom>
          <a:solidFill>
            <a:srgbClr val="7C3AED"/>
          </a:solidFill>
          <a:ln/>
        </p:spPr>
      </p:sp>
      <p:sp>
        <p:nvSpPr>
          <p:cNvPr id="27" name="Text 25"/>
          <p:cNvSpPr/>
          <p:nvPr/>
        </p:nvSpPr>
        <p:spPr>
          <a:xfrm>
            <a:off x="438912" y="395020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6"/>
          <p:cNvSpPr/>
          <p:nvPr/>
        </p:nvSpPr>
        <p:spPr>
          <a:xfrm>
            <a:off x="1005840" y="3840480"/>
            <a:ext cx="34290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Deploy HAPI FHIR server</a:t>
            </a:r>
            <a:endParaRPr lang="en-US" sz="1200" dirty="0"/>
          </a:p>
        </p:txBody>
      </p:sp>
      <p:sp>
        <p:nvSpPr>
          <p:cNvPr id="29" name="Text 27"/>
          <p:cNvSpPr/>
          <p:nvPr/>
        </p:nvSpPr>
        <p:spPr>
          <a:xfrm>
            <a:off x="1005840" y="4133088"/>
            <a:ext cx="3429000" cy="438912"/>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Install HAPI FHIR on the Raspberry Pi or a cloud VM. Migrate data storage from CSV to the HAPI FHIR database. This enables full FHIR search, validation, and capability statement support.</a:t>
            </a:r>
            <a:endParaRPr lang="en-US" sz="900" dirty="0"/>
          </a:p>
        </p:txBody>
      </p:sp>
      <p:sp>
        <p:nvSpPr>
          <p:cNvPr id="30" name="Shape 28"/>
          <p:cNvSpPr/>
          <p:nvPr/>
        </p:nvSpPr>
        <p:spPr>
          <a:xfrm>
            <a:off x="4663440" y="822960"/>
            <a:ext cx="4160520" cy="822960"/>
          </a:xfrm>
          <a:prstGeom prst="rect">
            <a:avLst/>
          </a:prstGeom>
          <a:solidFill>
            <a:srgbClr val="FFFFFF"/>
          </a:solidFill>
          <a:ln/>
          <a:effectLst>
            <a:outerShdw blurRad="50800" dist="25400" dir="8100000" algn="bl" rotWithShape="0">
              <a:srgbClr val="000000">
                <a:alpha val="7000"/>
              </a:srgbClr>
            </a:outerShdw>
          </a:effectLst>
        </p:spPr>
      </p:sp>
      <p:sp>
        <p:nvSpPr>
          <p:cNvPr id="31" name="Shape 29"/>
          <p:cNvSpPr/>
          <p:nvPr/>
        </p:nvSpPr>
        <p:spPr>
          <a:xfrm>
            <a:off x="4736592" y="987552"/>
            <a:ext cx="457200" cy="457200"/>
          </a:xfrm>
          <a:prstGeom prst="ellipse">
            <a:avLst/>
          </a:prstGeom>
          <a:solidFill>
            <a:srgbClr val="E87A1A"/>
          </a:solidFill>
          <a:ln/>
        </p:spPr>
      </p:sp>
      <p:sp>
        <p:nvSpPr>
          <p:cNvPr id="32" name="Text 30"/>
          <p:cNvSpPr/>
          <p:nvPr/>
        </p:nvSpPr>
        <p:spPr>
          <a:xfrm>
            <a:off x="4736592" y="987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31"/>
          <p:cNvSpPr/>
          <p:nvPr/>
        </p:nvSpPr>
        <p:spPr>
          <a:xfrm>
            <a:off x="5303520" y="877824"/>
            <a:ext cx="34290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Implement SMART on FHIR authentication</a:t>
            </a:r>
            <a:endParaRPr lang="en-US" sz="1200" dirty="0"/>
          </a:p>
        </p:txBody>
      </p:sp>
      <p:sp>
        <p:nvSpPr>
          <p:cNvPr id="34" name="Text 32"/>
          <p:cNvSpPr/>
          <p:nvPr/>
        </p:nvSpPr>
        <p:spPr>
          <a:xfrm>
            <a:off x="5303520" y="1170432"/>
            <a:ext cx="3429000" cy="438912"/>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Add OAuth 2.0 login to the web app and API. Use Keycloak or a similar identity provider. Role-based scopes — doctor vs patient — control what each user can see and modify.</a:t>
            </a:r>
            <a:endParaRPr lang="en-US" sz="900" dirty="0"/>
          </a:p>
        </p:txBody>
      </p:sp>
      <p:sp>
        <p:nvSpPr>
          <p:cNvPr id="35" name="Shape 33"/>
          <p:cNvSpPr/>
          <p:nvPr/>
        </p:nvSpPr>
        <p:spPr>
          <a:xfrm>
            <a:off x="4663440" y="1810512"/>
            <a:ext cx="4160520" cy="822960"/>
          </a:xfrm>
          <a:prstGeom prst="rect">
            <a:avLst/>
          </a:prstGeom>
          <a:solidFill>
            <a:srgbClr val="FFFFFF"/>
          </a:solidFill>
          <a:ln/>
          <a:effectLst>
            <a:outerShdw blurRad="50800" dist="25400" dir="8100000" algn="bl" rotWithShape="0">
              <a:srgbClr val="000000">
                <a:alpha val="7000"/>
              </a:srgbClr>
            </a:outerShdw>
          </a:effectLst>
        </p:spPr>
      </p:sp>
      <p:sp>
        <p:nvSpPr>
          <p:cNvPr id="36" name="Shape 34"/>
          <p:cNvSpPr/>
          <p:nvPr/>
        </p:nvSpPr>
        <p:spPr>
          <a:xfrm>
            <a:off x="4736592" y="1975104"/>
            <a:ext cx="457200" cy="457200"/>
          </a:xfrm>
          <a:prstGeom prst="ellipse">
            <a:avLst/>
          </a:prstGeom>
          <a:solidFill>
            <a:srgbClr val="E84040"/>
          </a:solidFill>
          <a:ln/>
        </p:spPr>
      </p:sp>
      <p:sp>
        <p:nvSpPr>
          <p:cNvPr id="37" name="Text 35"/>
          <p:cNvSpPr/>
          <p:nvPr/>
        </p:nvSpPr>
        <p:spPr>
          <a:xfrm>
            <a:off x="4736592" y="197510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8" name="Text 36"/>
          <p:cNvSpPr/>
          <p:nvPr/>
        </p:nvSpPr>
        <p:spPr>
          <a:xfrm>
            <a:off x="5303520" y="1865376"/>
            <a:ext cx="34290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FHIR Subscription for real-time alerts</a:t>
            </a:r>
            <a:endParaRPr lang="en-US" sz="1200" dirty="0"/>
          </a:p>
        </p:txBody>
      </p:sp>
      <p:sp>
        <p:nvSpPr>
          <p:cNvPr id="39" name="Text 37"/>
          <p:cNvSpPr/>
          <p:nvPr/>
        </p:nvSpPr>
        <p:spPr>
          <a:xfrm>
            <a:off x="5303520" y="2157984"/>
            <a:ext cx="3429000" cy="438912"/>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Register FHIR Subscriptions so the doctor's phone receives a push notification the moment a patient's HR exceeds 100 BPM, temperature exceeds 38.5°C, or a fall is detected via acceleration.</a:t>
            </a:r>
            <a:endParaRPr lang="en-US" sz="900" dirty="0"/>
          </a:p>
        </p:txBody>
      </p:sp>
      <p:sp>
        <p:nvSpPr>
          <p:cNvPr id="40" name="Shape 38"/>
          <p:cNvSpPr/>
          <p:nvPr/>
        </p:nvSpPr>
        <p:spPr>
          <a:xfrm>
            <a:off x="4663440" y="2798064"/>
            <a:ext cx="4160520" cy="822960"/>
          </a:xfrm>
          <a:prstGeom prst="rect">
            <a:avLst/>
          </a:prstGeom>
          <a:solidFill>
            <a:srgbClr val="FFFFFF"/>
          </a:solidFill>
          <a:ln/>
          <a:effectLst>
            <a:outerShdw blurRad="50800" dist="25400" dir="8100000" algn="bl" rotWithShape="0">
              <a:srgbClr val="000000">
                <a:alpha val="7000"/>
              </a:srgbClr>
            </a:outerShdw>
          </a:effectLst>
        </p:spPr>
      </p:sp>
      <p:sp>
        <p:nvSpPr>
          <p:cNvPr id="41" name="Shape 39"/>
          <p:cNvSpPr/>
          <p:nvPr/>
        </p:nvSpPr>
        <p:spPr>
          <a:xfrm>
            <a:off x="4736592" y="2962656"/>
            <a:ext cx="457200" cy="457200"/>
          </a:xfrm>
          <a:prstGeom prst="ellipse">
            <a:avLst/>
          </a:prstGeom>
          <a:solidFill>
            <a:srgbClr val="18A058"/>
          </a:solidFill>
          <a:ln/>
        </p:spPr>
      </p:sp>
      <p:sp>
        <p:nvSpPr>
          <p:cNvPr id="42" name="Text 40"/>
          <p:cNvSpPr/>
          <p:nvPr/>
        </p:nvSpPr>
        <p:spPr>
          <a:xfrm>
            <a:off x="4736592" y="296265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3" name="Text 41"/>
          <p:cNvSpPr/>
          <p:nvPr/>
        </p:nvSpPr>
        <p:spPr>
          <a:xfrm>
            <a:off x="5303520" y="2852928"/>
            <a:ext cx="34290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FHIR conformance testing &amp; EU MDR review</a:t>
            </a:r>
            <a:endParaRPr lang="en-US" sz="1200" dirty="0"/>
          </a:p>
        </p:txBody>
      </p:sp>
      <p:sp>
        <p:nvSpPr>
          <p:cNvPr id="44" name="Text 42"/>
          <p:cNvSpPr/>
          <p:nvPr/>
        </p:nvSpPr>
        <p:spPr>
          <a:xfrm>
            <a:off x="5303520" y="3145536"/>
            <a:ext cx="3429000" cy="438912"/>
          </a:xfrm>
          <a:prstGeom prst="rect">
            <a:avLst/>
          </a:prstGeom>
          <a:noFill/>
          <a:ln/>
        </p:spPr>
        <p:txBody>
          <a:bodyPr wrap="square" lIns="0" tIns="0" rIns="0" bIns="0" rtlCol="0" anchor="t"/>
          <a:lstStyle/>
          <a:p>
            <a:pPr marL="0" indent="0">
              <a:buNone/>
            </a:pPr>
            <a:r>
              <a:rPr lang="en-US" sz="900" dirty="0">
                <a:solidFill>
                  <a:srgbClr val="6B7A8D"/>
                </a:solidFill>
                <a:latin typeface="Calibri" pitchFamily="34" charset="0"/>
                <a:ea typeface="Calibri" pitchFamily="34" charset="-122"/>
                <a:cs typeface="Calibri" pitchFamily="34" charset="-120"/>
              </a:rPr>
              <a:t>Run the official HL7 FHIR validator against all API endpoints. Commission an EU MDR 2017/745 device classification review to determine whether medical device certification applies.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p:spPr>
      </p:sp>
      <p:sp>
        <p:nvSpPr>
          <p:cNvPr id="3" name="Shape 1"/>
          <p:cNvSpPr/>
          <p:nvPr/>
        </p:nvSpPr>
        <p:spPr>
          <a:xfrm>
            <a:off x="0" y="658368"/>
            <a:ext cx="9144000" cy="36576"/>
          </a:xfrm>
          <a:prstGeom prst="rect">
            <a:avLst/>
          </a:prstGeom>
          <a:solidFill>
            <a:srgbClr val="028090"/>
          </a:solidFill>
          <a:ln/>
        </p:spPr>
      </p:sp>
      <p:sp>
        <p:nvSpPr>
          <p:cNvPr id="4" name="Text 2"/>
          <p:cNvSpPr/>
          <p:nvPr/>
        </p:nvSpPr>
        <p:spPr>
          <a:xfrm>
            <a:off x="365760" y="0"/>
            <a:ext cx="8412480" cy="658368"/>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The Bigger Picture — Why This Matters for Healthcare</a:t>
            </a:r>
            <a:endParaRPr lang="en-US" sz="2200" dirty="0"/>
          </a:p>
        </p:txBody>
      </p:sp>
      <p:sp>
        <p:nvSpPr>
          <p:cNvPr id="5" name="Shape 3"/>
          <p:cNvSpPr/>
          <p:nvPr/>
        </p:nvSpPr>
        <p:spPr>
          <a:xfrm>
            <a:off x="0" y="4846320"/>
            <a:ext cx="9144000" cy="297180"/>
          </a:xfrm>
          <a:prstGeom prst="rect">
            <a:avLst/>
          </a:prstGeom>
          <a:solidFill>
            <a:srgbClr val="0D1B2A">
              <a:alpha val="5000"/>
            </a:srgbClr>
          </a:solidFill>
          <a:ln/>
        </p:spPr>
      </p:sp>
      <p:sp>
        <p:nvSpPr>
          <p:cNvPr id="6" name="Text 4"/>
          <p:cNvSpPr/>
          <p:nvPr/>
        </p:nvSpPr>
        <p:spPr>
          <a:xfrm>
            <a:off x="274320" y="4864608"/>
            <a:ext cx="8229600" cy="256032"/>
          </a:xfrm>
          <a:prstGeom prst="rect">
            <a:avLst/>
          </a:prstGeom>
          <a:noFill/>
          <a:ln/>
        </p:spPr>
        <p:txBody>
          <a:bodyPr wrap="square" lIns="0" tIns="0" rIns="0" bIns="0" rtlCol="0" anchor="ctr"/>
          <a:lstStyle/>
          <a:p>
            <a:pPr marL="0" indent="0" algn="l">
              <a:buNone/>
            </a:pPr>
            <a:r>
              <a:rPr lang="en-US" sz="900" dirty="0">
                <a:solidFill>
                  <a:srgbClr val="6B7A8D"/>
                </a:solidFill>
                <a:latin typeface="Calibri" pitchFamily="34" charset="0"/>
                <a:ea typeface="Calibri" pitchFamily="34" charset="-122"/>
                <a:cs typeface="Calibri" pitchFamily="34" charset="-120"/>
              </a:rPr>
              <a:t>Smartband V001 — FHIR Integration  |  HSHL  |  Masrur Jamil Prochchhod</a:t>
            </a:r>
            <a:endParaRPr lang="en-US" sz="900" dirty="0"/>
          </a:p>
        </p:txBody>
      </p:sp>
      <p:sp>
        <p:nvSpPr>
          <p:cNvPr id="7" name="Shape 5"/>
          <p:cNvSpPr/>
          <p:nvPr/>
        </p:nvSpPr>
        <p:spPr>
          <a:xfrm>
            <a:off x="365760" y="777240"/>
            <a:ext cx="8412480" cy="438912"/>
          </a:xfrm>
          <a:prstGeom prst="rect">
            <a:avLst/>
          </a:prstGeom>
          <a:solidFill>
            <a:srgbClr val="028090">
              <a:alpha val="10000"/>
            </a:srgbClr>
          </a:solidFill>
          <a:ln/>
        </p:spPr>
      </p:sp>
      <p:sp>
        <p:nvSpPr>
          <p:cNvPr id="8" name="Shape 6"/>
          <p:cNvSpPr/>
          <p:nvPr/>
        </p:nvSpPr>
        <p:spPr>
          <a:xfrm>
            <a:off x="365760" y="777240"/>
            <a:ext cx="54864" cy="438912"/>
          </a:xfrm>
          <a:prstGeom prst="rect">
            <a:avLst/>
          </a:prstGeom>
          <a:solidFill>
            <a:srgbClr val="028090"/>
          </a:solidFill>
          <a:ln/>
        </p:spPr>
      </p:sp>
      <p:sp>
        <p:nvSpPr>
          <p:cNvPr id="9" name="Text 7"/>
          <p:cNvSpPr/>
          <p:nvPr/>
        </p:nvSpPr>
        <p:spPr>
          <a:xfrm>
            <a:off x="502920" y="777240"/>
            <a:ext cx="8229600" cy="43891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FHIR is not just a technical standard — it is the infrastructure that makes personalized, data-driven medicine possible. The Smartband V001 project positions itself at the intersection of wearable IoT and clinical-grade health IT.</a:t>
            </a:r>
            <a:endParaRPr lang="en-US" sz="1200" dirty="0"/>
          </a:p>
        </p:txBody>
      </p:sp>
      <p:sp>
        <p:nvSpPr>
          <p:cNvPr id="10" name="Text 8"/>
          <p:cNvSpPr/>
          <p:nvPr/>
        </p:nvSpPr>
        <p:spPr>
          <a:xfrm>
            <a:off x="365760" y="1353312"/>
            <a:ext cx="4114800" cy="27432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From Prototype to Clinical Tool</a:t>
            </a:r>
            <a:endParaRPr lang="en-US" sz="1400" dirty="0"/>
          </a:p>
        </p:txBody>
      </p:sp>
      <p:sp>
        <p:nvSpPr>
          <p:cNvPr id="11" name="Text 9"/>
          <p:cNvSpPr/>
          <p:nvPr/>
        </p:nvSpPr>
        <p:spPr>
          <a:xfrm>
            <a:off x="365760" y="1682496"/>
            <a:ext cx="4114800" cy="914400"/>
          </a:xfrm>
          <a:prstGeom prst="rect">
            <a:avLst/>
          </a:prstGeom>
          <a:noFill/>
          <a:ln/>
        </p:spPr>
        <p:txBody>
          <a:bodyPr wrap="square" rtlCol="0" anchor="t"/>
          <a:lstStyle/>
          <a:p>
            <a:pPr marL="0" indent="0">
              <a:buNone/>
            </a:pPr>
            <a:r>
              <a:rPr lang="en-US" sz="1100" dirty="0">
                <a:solidFill>
                  <a:srgbClr val="6B7A8D"/>
                </a:solidFill>
                <a:latin typeface="Calibri" pitchFamily="34" charset="0"/>
                <a:ea typeface="Calibri" pitchFamily="34" charset="-122"/>
                <a:cs typeface="Calibri" pitchFamily="34" charset="-120"/>
              </a:rPr>
              <a:t>Today, the Smartband V001 is a student prototype — it collects simulated data and sends it to a phone app. With FHIR integration, the exact same hardware becomes a clinical-grade remote patient monitoring device whose data is readable by every hospital system in the world. The code and architecture described in this presentation are the bridge between those two realities.</a:t>
            </a:r>
            <a:endParaRPr lang="en-US" sz="1100" dirty="0"/>
          </a:p>
        </p:txBody>
      </p:sp>
      <p:sp>
        <p:nvSpPr>
          <p:cNvPr id="12" name="Text 10"/>
          <p:cNvSpPr/>
          <p:nvPr/>
        </p:nvSpPr>
        <p:spPr>
          <a:xfrm>
            <a:off x="365760" y="2927018"/>
            <a:ext cx="4114800" cy="27432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Teaching Value of This Project</a:t>
            </a:r>
            <a:endParaRPr lang="en-US" sz="1400" dirty="0"/>
          </a:p>
        </p:txBody>
      </p:sp>
      <p:sp>
        <p:nvSpPr>
          <p:cNvPr id="13" name="Text 11"/>
          <p:cNvSpPr/>
          <p:nvPr/>
        </p:nvSpPr>
        <p:spPr>
          <a:xfrm>
            <a:off x="334498" y="3266596"/>
            <a:ext cx="4114800" cy="914400"/>
          </a:xfrm>
          <a:prstGeom prst="rect">
            <a:avLst/>
          </a:prstGeom>
          <a:noFill/>
          <a:ln/>
        </p:spPr>
        <p:txBody>
          <a:bodyPr wrap="square" rtlCol="0" anchor="t"/>
          <a:lstStyle/>
          <a:p>
            <a:pPr marL="0" indent="0">
              <a:buNone/>
            </a:pPr>
            <a:r>
              <a:rPr lang="en-US" sz="1100" dirty="0">
                <a:solidFill>
                  <a:srgbClr val="6B7A8D"/>
                </a:solidFill>
                <a:latin typeface="Calibri" pitchFamily="34" charset="0"/>
                <a:ea typeface="Calibri" pitchFamily="34" charset="-122"/>
                <a:cs typeface="Calibri" pitchFamily="34" charset="-120"/>
              </a:rPr>
              <a:t>This project demonstrates in a single system: embedded firmware development (CC2640R2F), wireless communication (BLE), IoT gateway design (Raspberry Pi), RESTful API development (Flask), international health IT standards (FHIR R4, LOINC, UCUM), data privacy law (GDPR), and medical device regulation (EU MDR). It is a complete vertical slice of modern connected health.</a:t>
            </a:r>
            <a:endParaRPr lang="en-US" sz="1100" dirty="0"/>
          </a:p>
        </p:txBody>
      </p:sp>
      <p:sp>
        <p:nvSpPr>
          <p:cNvPr id="17" name="Shape 15"/>
          <p:cNvSpPr/>
          <p:nvPr/>
        </p:nvSpPr>
        <p:spPr>
          <a:xfrm>
            <a:off x="4663440" y="1325880"/>
            <a:ext cx="1965960" cy="822960"/>
          </a:xfrm>
          <a:prstGeom prst="rect">
            <a:avLst/>
          </a:prstGeom>
          <a:solidFill>
            <a:srgbClr val="FFFFFF"/>
          </a:solidFill>
          <a:ln/>
          <a:effectLst>
            <a:outerShdw blurRad="63500" dist="25400" dir="8100000" algn="bl" rotWithShape="0">
              <a:srgbClr val="000000">
                <a:alpha val="8000"/>
              </a:srgbClr>
            </a:outerShdw>
          </a:effectLst>
        </p:spPr>
      </p:sp>
      <p:sp>
        <p:nvSpPr>
          <p:cNvPr id="18" name="Shape 16"/>
          <p:cNvSpPr/>
          <p:nvPr/>
        </p:nvSpPr>
        <p:spPr>
          <a:xfrm>
            <a:off x="4663440" y="1325880"/>
            <a:ext cx="1965960" cy="274320"/>
          </a:xfrm>
          <a:prstGeom prst="rect">
            <a:avLst/>
          </a:prstGeom>
          <a:solidFill>
            <a:srgbClr val="028090"/>
          </a:solidFill>
          <a:ln/>
        </p:spPr>
      </p:sp>
      <p:sp>
        <p:nvSpPr>
          <p:cNvPr id="19" name="Text 17"/>
          <p:cNvSpPr/>
          <p:nvPr/>
        </p:nvSpPr>
        <p:spPr>
          <a:xfrm>
            <a:off x="4663440" y="1325880"/>
            <a:ext cx="196596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168+</a:t>
            </a:r>
            <a:endParaRPr lang="en-US" sz="1400" dirty="0"/>
          </a:p>
        </p:txBody>
      </p:sp>
      <p:sp>
        <p:nvSpPr>
          <p:cNvPr id="20" name="Text 18"/>
          <p:cNvSpPr/>
          <p:nvPr/>
        </p:nvSpPr>
        <p:spPr>
          <a:xfrm>
            <a:off x="4754880" y="1645920"/>
            <a:ext cx="1783080" cy="438912"/>
          </a:xfrm>
          <a:prstGeom prst="rect">
            <a:avLst/>
          </a:prstGeom>
          <a:noFill/>
          <a:ln/>
        </p:spPr>
        <p:txBody>
          <a:bodyPr wrap="square" rtlCol="0" anchor="ctr"/>
          <a:lstStyle/>
          <a:p>
            <a:pPr marL="0" indent="0" algn="ctr">
              <a:buNone/>
            </a:pPr>
            <a:r>
              <a:rPr lang="en-US" sz="1000" dirty="0">
                <a:solidFill>
                  <a:srgbClr val="6B7A8D"/>
                </a:solidFill>
                <a:latin typeface="Calibri" pitchFamily="34" charset="0"/>
                <a:ea typeface="Calibri" pitchFamily="34" charset="-122"/>
                <a:cs typeface="Calibri" pitchFamily="34" charset="-120"/>
              </a:rPr>
              <a:t>countries use LOINC codes</a:t>
            </a:r>
            <a:endParaRPr lang="en-US" sz="1000" dirty="0"/>
          </a:p>
        </p:txBody>
      </p:sp>
      <p:sp>
        <p:nvSpPr>
          <p:cNvPr id="21" name="Shape 19"/>
          <p:cNvSpPr/>
          <p:nvPr/>
        </p:nvSpPr>
        <p:spPr>
          <a:xfrm>
            <a:off x="4663440" y="2295144"/>
            <a:ext cx="1965960" cy="822960"/>
          </a:xfrm>
          <a:prstGeom prst="rect">
            <a:avLst/>
          </a:prstGeom>
          <a:solidFill>
            <a:srgbClr val="FFFFFF"/>
          </a:solidFill>
          <a:ln/>
          <a:effectLst>
            <a:outerShdw blurRad="63500" dist="25400" dir="8100000" algn="bl" rotWithShape="0">
              <a:srgbClr val="000000">
                <a:alpha val="8000"/>
              </a:srgbClr>
            </a:outerShdw>
          </a:effectLst>
        </p:spPr>
      </p:sp>
      <p:sp>
        <p:nvSpPr>
          <p:cNvPr id="22" name="Shape 20"/>
          <p:cNvSpPr/>
          <p:nvPr/>
        </p:nvSpPr>
        <p:spPr>
          <a:xfrm>
            <a:off x="4663440" y="2295144"/>
            <a:ext cx="1965960" cy="274320"/>
          </a:xfrm>
          <a:prstGeom prst="rect">
            <a:avLst/>
          </a:prstGeom>
          <a:solidFill>
            <a:srgbClr val="0D1B2A"/>
          </a:solidFill>
          <a:ln/>
        </p:spPr>
      </p:sp>
      <p:sp>
        <p:nvSpPr>
          <p:cNvPr id="23" name="Text 21"/>
          <p:cNvSpPr/>
          <p:nvPr/>
        </p:nvSpPr>
        <p:spPr>
          <a:xfrm>
            <a:off x="4663440" y="2295144"/>
            <a:ext cx="196596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FHIR R4</a:t>
            </a:r>
            <a:endParaRPr lang="en-US" sz="1400" dirty="0"/>
          </a:p>
        </p:txBody>
      </p:sp>
      <p:sp>
        <p:nvSpPr>
          <p:cNvPr id="24" name="Text 22"/>
          <p:cNvSpPr/>
          <p:nvPr/>
        </p:nvSpPr>
        <p:spPr>
          <a:xfrm>
            <a:off x="4754880" y="2615184"/>
            <a:ext cx="1783080" cy="438912"/>
          </a:xfrm>
          <a:prstGeom prst="rect">
            <a:avLst/>
          </a:prstGeom>
          <a:noFill/>
          <a:ln/>
        </p:spPr>
        <p:txBody>
          <a:bodyPr wrap="square" rtlCol="0" anchor="ctr"/>
          <a:lstStyle/>
          <a:p>
            <a:pPr marL="0" indent="0" algn="ctr">
              <a:buNone/>
            </a:pPr>
            <a:r>
              <a:rPr lang="en-US" sz="1000" dirty="0">
                <a:solidFill>
                  <a:srgbClr val="6B7A8D"/>
                </a:solidFill>
                <a:latin typeface="Calibri" pitchFamily="34" charset="0"/>
                <a:ea typeface="Calibri" pitchFamily="34" charset="-122"/>
                <a:cs typeface="Calibri" pitchFamily="34" charset="-120"/>
              </a:rPr>
              <a:t>required by US ONC &amp; EU MDR</a:t>
            </a:r>
            <a:endParaRPr lang="en-US" sz="1000" dirty="0"/>
          </a:p>
        </p:txBody>
      </p:sp>
      <p:sp>
        <p:nvSpPr>
          <p:cNvPr id="25" name="Shape 23"/>
          <p:cNvSpPr/>
          <p:nvPr/>
        </p:nvSpPr>
        <p:spPr>
          <a:xfrm>
            <a:off x="4663440" y="3264408"/>
            <a:ext cx="1965960" cy="822960"/>
          </a:xfrm>
          <a:prstGeom prst="rect">
            <a:avLst/>
          </a:prstGeom>
          <a:solidFill>
            <a:srgbClr val="FFFFFF"/>
          </a:solidFill>
          <a:ln/>
          <a:effectLst>
            <a:outerShdw blurRad="63500" dist="25400" dir="8100000" algn="bl" rotWithShape="0">
              <a:srgbClr val="000000">
                <a:alpha val="8000"/>
              </a:srgbClr>
            </a:outerShdw>
          </a:effectLst>
        </p:spPr>
      </p:sp>
      <p:sp>
        <p:nvSpPr>
          <p:cNvPr id="26" name="Shape 24"/>
          <p:cNvSpPr/>
          <p:nvPr/>
        </p:nvSpPr>
        <p:spPr>
          <a:xfrm>
            <a:off x="4663440" y="3264408"/>
            <a:ext cx="1965960" cy="274320"/>
          </a:xfrm>
          <a:prstGeom prst="rect">
            <a:avLst/>
          </a:prstGeom>
          <a:solidFill>
            <a:srgbClr val="7C3AED"/>
          </a:solidFill>
          <a:ln/>
        </p:spPr>
      </p:sp>
      <p:sp>
        <p:nvSpPr>
          <p:cNvPr id="27" name="Text 25"/>
          <p:cNvSpPr/>
          <p:nvPr/>
        </p:nvSpPr>
        <p:spPr>
          <a:xfrm>
            <a:off x="4663440" y="3264408"/>
            <a:ext cx="196596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Epic · Cerner</a:t>
            </a:r>
            <a:endParaRPr lang="en-US" sz="1400" dirty="0"/>
          </a:p>
        </p:txBody>
      </p:sp>
      <p:sp>
        <p:nvSpPr>
          <p:cNvPr id="28" name="Text 26"/>
          <p:cNvSpPr/>
          <p:nvPr/>
        </p:nvSpPr>
        <p:spPr>
          <a:xfrm>
            <a:off x="4754880" y="3584448"/>
            <a:ext cx="1783080" cy="438912"/>
          </a:xfrm>
          <a:prstGeom prst="rect">
            <a:avLst/>
          </a:prstGeom>
          <a:noFill/>
          <a:ln/>
        </p:spPr>
        <p:txBody>
          <a:bodyPr wrap="square" rtlCol="0" anchor="ctr"/>
          <a:lstStyle/>
          <a:p>
            <a:pPr marL="0" indent="0" algn="ctr">
              <a:buNone/>
            </a:pPr>
            <a:r>
              <a:rPr lang="en-US" sz="1000" dirty="0">
                <a:solidFill>
                  <a:srgbClr val="6B7A8D"/>
                </a:solidFill>
                <a:latin typeface="Calibri" pitchFamily="34" charset="0"/>
                <a:ea typeface="Calibri" pitchFamily="34" charset="-122"/>
                <a:cs typeface="Calibri" pitchFamily="34" charset="-120"/>
              </a:rPr>
              <a:t>both use FHIR R4 natively</a:t>
            </a:r>
            <a:endParaRPr lang="en-US" sz="1000" dirty="0"/>
          </a:p>
        </p:txBody>
      </p:sp>
      <p:sp>
        <p:nvSpPr>
          <p:cNvPr id="29" name="Shape 27"/>
          <p:cNvSpPr/>
          <p:nvPr/>
        </p:nvSpPr>
        <p:spPr>
          <a:xfrm>
            <a:off x="6903720" y="1325880"/>
            <a:ext cx="1965960" cy="822960"/>
          </a:xfrm>
          <a:prstGeom prst="rect">
            <a:avLst/>
          </a:prstGeom>
          <a:solidFill>
            <a:srgbClr val="FFFFFF"/>
          </a:solidFill>
          <a:ln/>
          <a:effectLst>
            <a:outerShdw blurRad="63500" dist="25400" dir="8100000" algn="bl" rotWithShape="0">
              <a:srgbClr val="000000">
                <a:alpha val="8000"/>
              </a:srgbClr>
            </a:outerShdw>
          </a:effectLst>
        </p:spPr>
      </p:sp>
      <p:sp>
        <p:nvSpPr>
          <p:cNvPr id="30" name="Shape 28"/>
          <p:cNvSpPr/>
          <p:nvPr/>
        </p:nvSpPr>
        <p:spPr>
          <a:xfrm>
            <a:off x="6903720" y="1325880"/>
            <a:ext cx="1965960" cy="274320"/>
          </a:xfrm>
          <a:prstGeom prst="rect">
            <a:avLst/>
          </a:prstGeom>
          <a:solidFill>
            <a:srgbClr val="E87A1A"/>
          </a:solidFill>
          <a:ln/>
        </p:spPr>
      </p:sp>
      <p:sp>
        <p:nvSpPr>
          <p:cNvPr id="31" name="Text 29"/>
          <p:cNvSpPr/>
          <p:nvPr/>
        </p:nvSpPr>
        <p:spPr>
          <a:xfrm>
            <a:off x="6903720" y="1325880"/>
            <a:ext cx="196596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 custom code</a:t>
            </a:r>
            <a:endParaRPr lang="en-US" sz="1400" dirty="0"/>
          </a:p>
        </p:txBody>
      </p:sp>
      <p:sp>
        <p:nvSpPr>
          <p:cNvPr id="32" name="Text 30"/>
          <p:cNvSpPr/>
          <p:nvPr/>
        </p:nvSpPr>
        <p:spPr>
          <a:xfrm>
            <a:off x="6995160" y="1645920"/>
            <a:ext cx="1783080" cy="438912"/>
          </a:xfrm>
          <a:prstGeom prst="rect">
            <a:avLst/>
          </a:prstGeom>
          <a:noFill/>
          <a:ln/>
        </p:spPr>
        <p:txBody>
          <a:bodyPr wrap="square" rtlCol="0" anchor="ctr"/>
          <a:lstStyle/>
          <a:p>
            <a:pPr marL="0" indent="0" algn="ctr">
              <a:buNone/>
            </a:pPr>
            <a:r>
              <a:rPr lang="en-US" sz="1000" dirty="0">
                <a:solidFill>
                  <a:srgbClr val="6B7A8D"/>
                </a:solidFill>
                <a:latin typeface="Calibri" pitchFamily="34" charset="0"/>
                <a:ea typeface="Calibri" pitchFamily="34" charset="-122"/>
                <a:cs typeface="Calibri" pitchFamily="34" charset="-120"/>
              </a:rPr>
              <a:t>needed for EHR integration</a:t>
            </a:r>
            <a:endParaRPr lang="en-US" sz="1000" dirty="0"/>
          </a:p>
        </p:txBody>
      </p:sp>
      <p:sp>
        <p:nvSpPr>
          <p:cNvPr id="33" name="Shape 31"/>
          <p:cNvSpPr/>
          <p:nvPr/>
        </p:nvSpPr>
        <p:spPr>
          <a:xfrm>
            <a:off x="6903720" y="2295144"/>
            <a:ext cx="1965960" cy="822960"/>
          </a:xfrm>
          <a:prstGeom prst="rect">
            <a:avLst/>
          </a:prstGeom>
          <a:solidFill>
            <a:srgbClr val="FFFFFF"/>
          </a:solidFill>
          <a:ln/>
          <a:effectLst>
            <a:outerShdw blurRad="63500" dist="25400" dir="8100000" algn="bl" rotWithShape="0">
              <a:srgbClr val="000000">
                <a:alpha val="8000"/>
              </a:srgbClr>
            </a:outerShdw>
          </a:effectLst>
        </p:spPr>
      </p:sp>
      <p:sp>
        <p:nvSpPr>
          <p:cNvPr id="34" name="Shape 32"/>
          <p:cNvSpPr/>
          <p:nvPr/>
        </p:nvSpPr>
        <p:spPr>
          <a:xfrm>
            <a:off x="6903720" y="2295144"/>
            <a:ext cx="1965960" cy="274320"/>
          </a:xfrm>
          <a:prstGeom prst="rect">
            <a:avLst/>
          </a:prstGeom>
          <a:solidFill>
            <a:srgbClr val="E84040"/>
          </a:solidFill>
          <a:ln/>
        </p:spPr>
      </p:sp>
      <p:sp>
        <p:nvSpPr>
          <p:cNvPr id="35" name="Text 33"/>
          <p:cNvSpPr/>
          <p:nvPr/>
        </p:nvSpPr>
        <p:spPr>
          <a:xfrm>
            <a:off x="6903720" y="2295144"/>
            <a:ext cx="196596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 sensors</a:t>
            </a:r>
            <a:endParaRPr lang="en-US" sz="1400" dirty="0"/>
          </a:p>
        </p:txBody>
      </p:sp>
      <p:sp>
        <p:nvSpPr>
          <p:cNvPr id="36" name="Text 34"/>
          <p:cNvSpPr/>
          <p:nvPr/>
        </p:nvSpPr>
        <p:spPr>
          <a:xfrm>
            <a:off x="6995160" y="2615184"/>
            <a:ext cx="1783080" cy="438912"/>
          </a:xfrm>
          <a:prstGeom prst="rect">
            <a:avLst/>
          </a:prstGeom>
          <a:noFill/>
          <a:ln/>
        </p:spPr>
        <p:txBody>
          <a:bodyPr wrap="square" rtlCol="0" anchor="ctr"/>
          <a:lstStyle/>
          <a:p>
            <a:pPr marL="0" indent="0" algn="ctr">
              <a:buNone/>
            </a:pPr>
            <a:r>
              <a:rPr lang="en-US" sz="1000" dirty="0">
                <a:solidFill>
                  <a:srgbClr val="6B7A8D"/>
                </a:solidFill>
                <a:latin typeface="Calibri" pitchFamily="34" charset="0"/>
                <a:ea typeface="Calibri" pitchFamily="34" charset="-122"/>
                <a:cs typeface="Calibri" pitchFamily="34" charset="-120"/>
              </a:rPr>
              <a:t>already on Band01_Rev1 PCB</a:t>
            </a:r>
            <a:endParaRPr lang="en-US" sz="1000" dirty="0"/>
          </a:p>
        </p:txBody>
      </p:sp>
      <p:sp>
        <p:nvSpPr>
          <p:cNvPr id="37" name="Shape 35"/>
          <p:cNvSpPr/>
          <p:nvPr/>
        </p:nvSpPr>
        <p:spPr>
          <a:xfrm>
            <a:off x="6903720" y="3264408"/>
            <a:ext cx="1965960" cy="822960"/>
          </a:xfrm>
          <a:prstGeom prst="rect">
            <a:avLst/>
          </a:prstGeom>
          <a:solidFill>
            <a:srgbClr val="FFFFFF"/>
          </a:solidFill>
          <a:ln/>
          <a:effectLst>
            <a:outerShdw blurRad="63500" dist="25400" dir="8100000" algn="bl" rotWithShape="0">
              <a:srgbClr val="000000">
                <a:alpha val="8000"/>
              </a:srgbClr>
            </a:outerShdw>
          </a:effectLst>
        </p:spPr>
      </p:sp>
      <p:sp>
        <p:nvSpPr>
          <p:cNvPr id="38" name="Shape 36"/>
          <p:cNvSpPr/>
          <p:nvPr/>
        </p:nvSpPr>
        <p:spPr>
          <a:xfrm>
            <a:off x="6903720" y="3264408"/>
            <a:ext cx="1965960" cy="274320"/>
          </a:xfrm>
          <a:prstGeom prst="rect">
            <a:avLst/>
          </a:prstGeom>
          <a:solidFill>
            <a:srgbClr val="18A058"/>
          </a:solidFill>
          <a:ln/>
        </p:spPr>
      </p:sp>
      <p:sp>
        <p:nvSpPr>
          <p:cNvPr id="39" name="Text 37"/>
          <p:cNvSpPr/>
          <p:nvPr/>
        </p:nvSpPr>
        <p:spPr>
          <a:xfrm>
            <a:off x="6903720" y="3264408"/>
            <a:ext cx="196596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18 references</a:t>
            </a:r>
            <a:endParaRPr lang="en-US" sz="1400" dirty="0"/>
          </a:p>
        </p:txBody>
      </p:sp>
      <p:sp>
        <p:nvSpPr>
          <p:cNvPr id="40" name="Text 38"/>
          <p:cNvSpPr/>
          <p:nvPr/>
        </p:nvSpPr>
        <p:spPr>
          <a:xfrm>
            <a:off x="6995160" y="3584448"/>
            <a:ext cx="1783080" cy="438912"/>
          </a:xfrm>
          <a:prstGeom prst="rect">
            <a:avLst/>
          </a:prstGeom>
          <a:noFill/>
          <a:ln/>
        </p:spPr>
        <p:txBody>
          <a:bodyPr wrap="square" rtlCol="0" anchor="ctr"/>
          <a:lstStyle/>
          <a:p>
            <a:pPr marL="0" indent="0" algn="ctr">
              <a:buNone/>
            </a:pPr>
            <a:r>
              <a:rPr lang="en-US" sz="1000" dirty="0">
                <a:solidFill>
                  <a:srgbClr val="6B7A8D"/>
                </a:solidFill>
                <a:latin typeface="Calibri" pitchFamily="34" charset="0"/>
                <a:ea typeface="Calibri" pitchFamily="34" charset="-122"/>
                <a:cs typeface="Calibri" pitchFamily="34" charset="-120"/>
              </a:rPr>
              <a:t>in the FHIR prospects report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sp>
      <p:sp>
        <p:nvSpPr>
          <p:cNvPr id="3" name="Shape 1"/>
          <p:cNvSpPr/>
          <p:nvPr/>
        </p:nvSpPr>
        <p:spPr>
          <a:xfrm>
            <a:off x="5669280" y="2011680"/>
            <a:ext cx="5029200" cy="5029200"/>
          </a:xfrm>
          <a:prstGeom prst="ellipse">
            <a:avLst/>
          </a:prstGeom>
          <a:solidFill>
            <a:srgbClr val="028090">
              <a:alpha val="8000"/>
            </a:srgbClr>
          </a:solidFill>
          <a:ln w="12700">
            <a:solidFill>
              <a:srgbClr val="028090"/>
            </a:solidFill>
            <a:prstDash val="solid"/>
          </a:ln>
        </p:spPr>
      </p:sp>
      <p:sp>
        <p:nvSpPr>
          <p:cNvPr id="4" name="Shape 2"/>
          <p:cNvSpPr/>
          <p:nvPr/>
        </p:nvSpPr>
        <p:spPr>
          <a:xfrm>
            <a:off x="7132320" y="0"/>
            <a:ext cx="2560320" cy="2560320"/>
          </a:xfrm>
          <a:prstGeom prst="ellipse">
            <a:avLst/>
          </a:prstGeom>
          <a:solidFill>
            <a:srgbClr val="00B4D8">
              <a:alpha val="10000"/>
            </a:srgbClr>
          </a:solidFill>
          <a:ln w="12700">
            <a:solidFill>
              <a:srgbClr val="00B4D8"/>
            </a:solidFill>
            <a:prstDash val="solid"/>
          </a:ln>
        </p:spPr>
      </p:sp>
      <p:sp>
        <p:nvSpPr>
          <p:cNvPr id="5" name="Text 3"/>
          <p:cNvSpPr/>
          <p:nvPr/>
        </p:nvSpPr>
        <p:spPr>
          <a:xfrm>
            <a:off x="457200" y="731520"/>
            <a:ext cx="5943600" cy="82296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6" name="Text 4"/>
          <p:cNvSpPr/>
          <p:nvPr/>
        </p:nvSpPr>
        <p:spPr>
          <a:xfrm>
            <a:off x="457200" y="1645920"/>
            <a:ext cx="6400800" cy="384048"/>
          </a:xfrm>
          <a:prstGeom prst="rect">
            <a:avLst/>
          </a:prstGeom>
          <a:noFill/>
          <a:ln/>
        </p:spPr>
        <p:txBody>
          <a:bodyPr wrap="square" rtlCol="0" anchor="ctr"/>
          <a:lstStyle/>
          <a:p>
            <a:pPr marL="0" indent="0">
              <a:buNone/>
            </a:pPr>
            <a:r>
              <a:rPr lang="en-US" sz="1600" dirty="0">
                <a:solidFill>
                  <a:srgbClr val="00B4D8"/>
                </a:solidFill>
                <a:latin typeface="Calibri" pitchFamily="34" charset="0"/>
                <a:ea typeface="Calibri" pitchFamily="34" charset="-122"/>
                <a:cs typeface="Calibri" pitchFamily="34" charset="-120"/>
              </a:rPr>
              <a:t>Smartband V001 — FHIR Integration Prospects</a:t>
            </a:r>
            <a:endParaRPr lang="en-US" sz="1600" dirty="0"/>
          </a:p>
        </p:txBody>
      </p:sp>
      <p:sp>
        <p:nvSpPr>
          <p:cNvPr id="7" name="Shape 5"/>
          <p:cNvSpPr/>
          <p:nvPr/>
        </p:nvSpPr>
        <p:spPr>
          <a:xfrm>
            <a:off x="457200" y="2121408"/>
            <a:ext cx="4114800" cy="0"/>
          </a:xfrm>
          <a:prstGeom prst="line">
            <a:avLst/>
          </a:prstGeom>
          <a:noFill/>
          <a:ln w="19050">
            <a:solidFill>
              <a:srgbClr val="028090"/>
            </a:solidFill>
            <a:prstDash val="solid"/>
          </a:ln>
        </p:spPr>
      </p:sp>
      <p:sp>
        <p:nvSpPr>
          <p:cNvPr id="8" name="Text 6"/>
          <p:cNvSpPr/>
          <p:nvPr/>
        </p:nvSpPr>
        <p:spPr>
          <a:xfrm>
            <a:off x="457200" y="2286000"/>
            <a:ext cx="8229600" cy="384048"/>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  HL7 FHIR R4  </a:t>
            </a:r>
            <a:r>
              <a:rPr lang="en-US" sz="1100" dirty="0">
                <a:solidFill>
                  <a:srgbClr val="B0C8DC"/>
                </a:solidFill>
                <a:latin typeface="Calibri" pitchFamily="34" charset="0"/>
                <a:ea typeface="Calibri" pitchFamily="34" charset="-122"/>
                <a:cs typeface="Calibri" pitchFamily="34" charset="-120"/>
              </a:rPr>
              <a:t>— The international standard — 168+ countries, required by Epic, Cerner, EU MDR, and US FDA</a:t>
            </a:r>
            <a:endParaRPr lang="en-US" sz="1100" dirty="0"/>
          </a:p>
        </p:txBody>
      </p:sp>
      <p:sp>
        <p:nvSpPr>
          <p:cNvPr id="9" name="Text 7"/>
          <p:cNvSpPr/>
          <p:nvPr/>
        </p:nvSpPr>
        <p:spPr>
          <a:xfrm>
            <a:off x="457200" y="2743200"/>
            <a:ext cx="8229600" cy="384048"/>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  LOINC + UCUM  </a:t>
            </a:r>
            <a:r>
              <a:rPr lang="en-US" sz="1100" dirty="0">
                <a:solidFill>
                  <a:srgbClr val="B0C8DC"/>
                </a:solidFill>
                <a:latin typeface="Calibri" pitchFamily="34" charset="0"/>
                <a:ea typeface="Calibri" pitchFamily="34" charset="-122"/>
                <a:cs typeface="Calibri" pitchFamily="34" charset="-120"/>
              </a:rPr>
              <a:t>— Every sensor reading carries a universally understood code and unit — no ambiguity across systems</a:t>
            </a:r>
            <a:endParaRPr lang="en-US" sz="1100" dirty="0"/>
          </a:p>
        </p:txBody>
      </p:sp>
      <p:sp>
        <p:nvSpPr>
          <p:cNvPr id="10" name="Text 8"/>
          <p:cNvSpPr/>
          <p:nvPr/>
        </p:nvSpPr>
        <p:spPr>
          <a:xfrm>
            <a:off x="457200" y="3200400"/>
            <a:ext cx="8229600" cy="384048"/>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  4-Layer Architecture  </a:t>
            </a:r>
            <a:r>
              <a:rPr lang="en-US" sz="1100" dirty="0">
                <a:solidFill>
                  <a:srgbClr val="B0C8DC"/>
                </a:solidFill>
                <a:latin typeface="Calibri" pitchFamily="34" charset="0"/>
                <a:ea typeface="Calibri" pitchFamily="34" charset="-122"/>
                <a:cs typeface="Calibri" pitchFamily="34" charset="-120"/>
              </a:rPr>
              <a:t>— Hardware → Firmware → FHIR Gateway → Clinical Consumers — each layer clearly separated</a:t>
            </a:r>
            <a:endParaRPr lang="en-US" sz="1100" dirty="0"/>
          </a:p>
        </p:txBody>
      </p:sp>
      <p:sp>
        <p:nvSpPr>
          <p:cNvPr id="11" name="Text 9"/>
          <p:cNvSpPr/>
          <p:nvPr/>
        </p:nvSpPr>
        <p:spPr>
          <a:xfrm>
            <a:off x="457200" y="3657600"/>
            <a:ext cx="8229600" cy="384048"/>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  5-Phase Roadmap  </a:t>
            </a:r>
            <a:r>
              <a:rPr lang="en-US" sz="1100" dirty="0">
                <a:solidFill>
                  <a:srgbClr val="B0C8DC"/>
                </a:solidFill>
                <a:latin typeface="Calibri" pitchFamily="34" charset="0"/>
                <a:ea typeface="Calibri" pitchFamily="34" charset="-122"/>
                <a:cs typeface="Calibri" pitchFamily="34" charset="-120"/>
              </a:rPr>
              <a:t>— From current prototype to certified, EHR-integrated, GDPR-compliant clinical device</a:t>
            </a:r>
            <a:endParaRPr lang="en-US" sz="1100" dirty="0"/>
          </a:p>
        </p:txBody>
      </p:sp>
      <p:sp>
        <p:nvSpPr>
          <p:cNvPr id="12" name="Text 10"/>
          <p:cNvSpPr/>
          <p:nvPr/>
        </p:nvSpPr>
        <p:spPr>
          <a:xfrm>
            <a:off x="457200" y="4114800"/>
            <a:ext cx="8229600" cy="384048"/>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  18 Academic References  </a:t>
            </a:r>
            <a:r>
              <a:rPr lang="en-US" sz="1100" dirty="0">
                <a:solidFill>
                  <a:srgbClr val="B0C8DC"/>
                </a:solidFill>
                <a:latin typeface="Calibri" pitchFamily="34" charset="0"/>
                <a:ea typeface="Calibri" pitchFamily="34" charset="-122"/>
                <a:cs typeface="Calibri" pitchFamily="34" charset="-120"/>
              </a:rPr>
              <a:t>— Grounded in peer-reviewed literature — Pinheiro et al. (2022) and HL7 FHIR specification</a:t>
            </a:r>
            <a:endParaRPr lang="en-US" sz="1100" dirty="0"/>
          </a:p>
        </p:txBody>
      </p:sp>
      <p:sp>
        <p:nvSpPr>
          <p:cNvPr id="13" name="Text 11"/>
          <p:cNvSpPr/>
          <p:nvPr/>
        </p:nvSpPr>
        <p:spPr>
          <a:xfrm>
            <a:off x="457200" y="4617720"/>
            <a:ext cx="7315200" cy="256032"/>
          </a:xfrm>
          <a:prstGeom prst="rect">
            <a:avLst/>
          </a:prstGeom>
          <a:noFill/>
          <a:ln/>
        </p:spPr>
        <p:txBody>
          <a:bodyPr wrap="square" rtlCol="0" anchor="ctr"/>
          <a:lstStyle/>
          <a:p>
            <a:pPr marL="0" indent="0">
              <a:buNone/>
            </a:pPr>
            <a:r>
              <a:rPr lang="en-US" sz="1000" dirty="0">
                <a:solidFill>
                  <a:srgbClr val="6B7A8D"/>
                </a:solidFill>
                <a:latin typeface="Calibri" pitchFamily="34" charset="0"/>
                <a:ea typeface="Calibri" pitchFamily="34" charset="-122"/>
                <a:cs typeface="Calibri" pitchFamily="34" charset="-120"/>
              </a:rPr>
              <a:t>Masrur Jamil Prochchhod  ·  Hochschule Hamm-Lippstadt (HSHL)  ·  June 2026</a:t>
            </a:r>
            <a:endParaRPr lang="en-US" sz="1000" dirty="0"/>
          </a:p>
        </p:txBody>
      </p:sp>
      <p:sp>
        <p:nvSpPr>
          <p:cNvPr id="14" name="Text 12"/>
          <p:cNvSpPr/>
          <p:nvPr/>
        </p:nvSpPr>
        <p:spPr>
          <a:xfrm>
            <a:off x="457200" y="4828032"/>
            <a:ext cx="7315200" cy="228600"/>
          </a:xfrm>
          <a:prstGeom prst="rect">
            <a:avLst/>
          </a:prstGeom>
          <a:noFill/>
          <a:ln/>
        </p:spPr>
        <p:txBody>
          <a:bodyPr wrap="square" rtlCol="0" anchor="ctr"/>
          <a:lstStyle/>
          <a:p>
            <a:pPr marL="0" indent="0">
              <a:buNone/>
            </a:pPr>
            <a:r>
              <a:rPr lang="en-US" sz="1000" i="1" dirty="0">
                <a:solidFill>
                  <a:srgbClr val="6B7A8D"/>
                </a:solidFill>
                <a:latin typeface="Calibri" pitchFamily="34" charset="0"/>
                <a:ea typeface="Calibri" pitchFamily="34" charset="-122"/>
                <a:cs typeface="Calibri" pitchFamily="34" charset="-120"/>
              </a:rPr>
              <a:t>Submitted to: Prof. Dr. Javidi da Costa, Joao Paulo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3727</Words>
  <Application>Microsoft Office PowerPoint</Application>
  <PresentationFormat>On-screen Show (16:9)</PresentationFormat>
  <Paragraphs>385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FHIR Integration Prospects — Smartband V001</dc:title>
  <dc:subject>PptxGenJS Presentation</dc:subject>
  <dc:creator>Masrur Jamil Prochchhod</dc:creator>
  <cp:lastModifiedBy>Masrur Jamil Prochchhod</cp:lastModifiedBy>
  <cp:revision>2</cp:revision>
  <dcterms:created xsi:type="dcterms:W3CDTF">2026-06-02T20:41:18Z</dcterms:created>
  <dcterms:modified xsi:type="dcterms:W3CDTF">2026-06-02T20:46:04Z</dcterms:modified>
</cp:coreProperties>
</file>