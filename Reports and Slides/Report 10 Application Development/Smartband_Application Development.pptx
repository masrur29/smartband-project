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B3A6B">
              <a:alpha val="3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1A30">
              <a:alpha val="45000"/>
            </a:srgbClr>
          </a:solidFill>
          <a:ln w="12700">
            <a:solidFill>
              <a:srgbClr val="0D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SMARTBAND V001 REV2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Development Report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· Cloud · Hospital Portal · FHIR · Registration · Recommendations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743200"/>
            <a:ext cx="4572000" cy="0"/>
          </a:xfrm>
          <a:prstGeom prst="line">
            <a:avLst/>
          </a:prstGeom>
          <a:noFill/>
          <a:ln w="10160">
            <a:solidFill>
              <a:srgbClr val="007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9443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0" y="29443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Masrur Jamil Prochchhod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0" y="31912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0" y="31912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2210028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34381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343814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Hochschule Hamm-Lippstadt (HSHL)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36850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0" y="36850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Giovanni (giovannix)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39319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0" y="39319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 · Flask · Firebase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41788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0" y="417880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dashboards · Cloud storage · 20+ API endpoints · 7 Python modules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AMOLED patient UI · ECG · 16 sensors · live charts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188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👨‍⚕️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16184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947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Multi-patient · threshold alerts · recommendations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188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16184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Portal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1947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management · allocation · patient monitoring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1729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5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Lab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LOINC codes · searchset bundle · all patients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0" y="26060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29000" y="31729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Register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ID system · SB-XXXXXX · doctor search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09360" y="26060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46520" y="31729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Cloud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· readings · alerts · registered — 4 collections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187952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74320" y="4617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755648" y="4187952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755648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755648" y="4617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templates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36976" y="4187952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36976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36976" y="4617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18304" y="4187952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18304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718304" y="4617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live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199632" y="4187952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99632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5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99632" y="4617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LOINC codes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680960" y="4187952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8096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680960" y="4617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collections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Dashboard — Patient Interface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http://192.168.0.110:5000/  ·  Live ECG · 16 sensors · scenario switcher · recommendations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4251960"/>
          </a:xfrm>
          <a:prstGeom prst="roundRect">
            <a:avLst>
              <a:gd name="adj" fmla="val 2381"/>
            </a:avLst>
          </a:prstGeom>
          <a:solidFill>
            <a:srgbClr val="060610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8404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SMARTBAND  192.168.0.110:5000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65760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36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ECG  ⚡ 75 BPM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" cy="530352"/>
          </a:xfrm>
          <a:prstGeom prst="roundRect">
            <a:avLst>
              <a:gd name="adj" fmla="val 6897"/>
            </a:avLst>
          </a:prstGeom>
          <a:solidFill>
            <a:srgbClr val="0A0A1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39696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BPM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280160" y="2103120"/>
            <a:ext cx="841248" cy="530352"/>
          </a:xfrm>
          <a:prstGeom prst="roundRect">
            <a:avLst>
              <a:gd name="adj" fmla="val 6897"/>
            </a:avLst>
          </a:prstGeom>
          <a:solidFill>
            <a:srgbClr val="0A0A1A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139696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43230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SpO₂ %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194560" y="2103120"/>
            <a:ext cx="841248" cy="530352"/>
          </a:xfrm>
          <a:prstGeom prst="roundRect">
            <a:avLst>
              <a:gd name="adj" fmla="val 6897"/>
            </a:avLst>
          </a:prstGeom>
          <a:solidFill>
            <a:srgbClr val="0A0A1A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2139696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243230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°C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108960" y="2103120"/>
            <a:ext cx="841248" cy="530352"/>
          </a:xfrm>
          <a:prstGeom prst="roundRect">
            <a:avLst>
              <a:gd name="adj" fmla="val 6897"/>
            </a:avLst>
          </a:prstGeom>
          <a:solidFill>
            <a:srgbClr val="0A0A1A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2139696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F5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243230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HRV ms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841248" cy="530352"/>
          </a:xfrm>
          <a:prstGeom prst="roundRect">
            <a:avLst>
              <a:gd name="adj" fmla="val 6897"/>
            </a:avLst>
          </a:prstGeom>
          <a:solidFill>
            <a:srgbClr val="0A0A1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734056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118/76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02666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 mmHg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280160" y="2697480"/>
            <a:ext cx="841248" cy="530352"/>
          </a:xfrm>
          <a:prstGeom prst="roundRect">
            <a:avLst>
              <a:gd name="adj" fmla="val 6897"/>
            </a:avLst>
          </a:prstGeom>
          <a:solidFill>
            <a:srgbClr val="0A0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2734056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02666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%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194560" y="2697480"/>
            <a:ext cx="841248" cy="530352"/>
          </a:xfrm>
          <a:prstGeom prst="roundRect">
            <a:avLst>
              <a:gd name="adj" fmla="val 6897"/>
            </a:avLst>
          </a:prstGeom>
          <a:solidFill>
            <a:srgbClr val="0A0A1A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2734056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94560" y="302666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/min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108960" y="2697480"/>
            <a:ext cx="841248" cy="530352"/>
          </a:xfrm>
          <a:prstGeom prst="roundRect">
            <a:avLst>
              <a:gd name="adj" fmla="val 6897"/>
            </a:avLst>
          </a:prstGeom>
          <a:solidFill>
            <a:srgbClr val="0A0A1A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2734056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08960" y="302666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lvl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65760" y="3383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Scenarios: Normal  Workout  Fever  Fall  Sleep  Stairs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5760" y="3657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Hospital  📋 Register  👨‍⚕️ Doctor  📊 FHIR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3931920"/>
            <a:ext cx="3657600" cy="256032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📩 Doctor recommendations — 2 new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43400" y="1005840"/>
            <a:ext cx="4526280" cy="4251960"/>
          </a:xfrm>
          <a:prstGeom prst="roundRect">
            <a:avLst>
              <a:gd name="adj" fmla="val 2151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26280" y="10789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26280" y="141732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Live ECG strip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26280" y="166420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Synthesised PQRST via Gaussian maths · green canvas glow · 64 samples at 256Hz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26280" y="193852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16 sensor channels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26280" y="218541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· SpO2 · Temp · HRV · BP · Stress · RR · Floor · Steps · Calories · Sleep · Battery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26280" y="245973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Scenario switcher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26280" y="270662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scenarios change all 16 channels simultaneously — Normal/Workout/Fever/Fall/Sleep/Stairs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26280" y="298094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Trend charts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26280" y="322783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Chart.js sparklines — HR, SpO2, Temp, Acceleration — live updating every 2s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26280" y="350215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Patient profile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26280" y="374904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DOB, weight, height, city — feeds into FHIR Patient resource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526280" y="402336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💜 Recommendations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26280" y="427024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messages with urgency — unread dot — mark as read — 10s auto-refresh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26280" y="454456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🆔 My Band ID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26280" y="479145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SB- registration code · Copy button · persists in localStorage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Dashboard — Clinical Multi-Patient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http://192.168.0.110:5000/doctor  ·  5 patients · threshold alerts · recommendations · FHIR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solidFill>
            <a:srgbClr val="CC1A0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6070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Active patient alerts   3 alerts                                                Dismiss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1572768"/>
          </a:xfrm>
          <a:prstGeom prst="roundRect">
            <a:avLst>
              <a:gd name="adj" fmla="val 4651"/>
            </a:avLst>
          </a:prstGeom>
          <a:solidFill>
            <a:srgbClr val="15152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27048"/>
            <a:ext cx="347472" cy="347472"/>
          </a:xfrm>
          <a:prstGeom prst="ellipse">
            <a:avLst/>
          </a:prstGeom>
          <a:solidFill>
            <a:srgbClr val="0A1A3A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453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5270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Masrur Jamil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7465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yrs · normal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23160" y="1527048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0A0A0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53619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84048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042416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SpO2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700784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1700784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00784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359152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2359152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118/76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59152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154680" y="1417320"/>
            <a:ext cx="2743200" cy="1572768"/>
          </a:xfrm>
          <a:prstGeom prst="roundRect">
            <a:avLst>
              <a:gd name="adj" fmla="val 4651"/>
            </a:avLst>
          </a:prstGeom>
          <a:solidFill>
            <a:srgbClr val="15000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1527048"/>
            <a:ext cx="347472" cy="347472"/>
          </a:xfrm>
          <a:prstGeom prst="ellipse">
            <a:avLst/>
          </a:prstGeom>
          <a:solidFill>
            <a:srgbClr val="0A1A3A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15453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85032" y="15270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Schmidt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85032" y="17465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yrs · hypertension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303520" y="1527048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0A0A0A"/>
          </a:solidFill>
          <a:ln w="6350">
            <a:solidFill>
              <a:srgbClr val="FF9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153619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264408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34" name="Text 32"/>
          <p:cNvSpPr/>
          <p:nvPr/>
        </p:nvSpPr>
        <p:spPr>
          <a:xfrm>
            <a:off x="3264408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64408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922776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37" name="Text 35"/>
          <p:cNvSpPr/>
          <p:nvPr/>
        </p:nvSpPr>
        <p:spPr>
          <a:xfrm>
            <a:off x="3922776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22776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SpO2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581144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40" name="Text 38"/>
          <p:cNvSpPr/>
          <p:nvPr/>
        </p:nvSpPr>
        <p:spPr>
          <a:xfrm>
            <a:off x="4581144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81144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5239512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43" name="Text 41"/>
          <p:cNvSpPr/>
          <p:nvPr/>
        </p:nvSpPr>
        <p:spPr>
          <a:xfrm>
            <a:off x="5239512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168/104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9512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264408" y="2587752"/>
            <a:ext cx="2523744" cy="292608"/>
          </a:xfrm>
          <a:prstGeom prst="roundRect">
            <a:avLst>
              <a:gd name="adj" fmla="val 12500"/>
            </a:avLst>
          </a:prstGeom>
          <a:solidFill>
            <a:srgbClr val="1A0000"/>
          </a:solidFill>
          <a:ln w="3810">
            <a:solidFill>
              <a:srgbClr val="FF3B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26151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Threshold alert active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35040" y="1417320"/>
            <a:ext cx="2743200" cy="1572768"/>
          </a:xfrm>
          <a:prstGeom prst="roundRect">
            <a:avLst>
              <a:gd name="adj" fmla="val 4651"/>
            </a:avLst>
          </a:prstGeom>
          <a:solidFill>
            <a:srgbClr val="15000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44768" y="1527048"/>
            <a:ext cx="347472" cy="347472"/>
          </a:xfrm>
          <a:prstGeom prst="ellipse">
            <a:avLst/>
          </a:prstGeom>
          <a:solidFill>
            <a:srgbClr val="0A1A3A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15453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65392" y="15270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 Weber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65392" y="17465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yrs · fever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183880" y="1527048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0A0A0A"/>
          </a:solidFill>
          <a:ln w="6350">
            <a:solidFill>
              <a:srgbClr val="FF3B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83880" y="153619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!!EMG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144768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55" name="Text 53"/>
          <p:cNvSpPr/>
          <p:nvPr/>
        </p:nvSpPr>
        <p:spPr>
          <a:xfrm>
            <a:off x="6144768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44768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803136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58" name="Text 56"/>
          <p:cNvSpPr/>
          <p:nvPr/>
        </p:nvSpPr>
        <p:spPr>
          <a:xfrm>
            <a:off x="6803136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03136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461504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61" name="Text 59"/>
          <p:cNvSpPr/>
          <p:nvPr/>
        </p:nvSpPr>
        <p:spPr>
          <a:xfrm>
            <a:off x="7461504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39.4°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461504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8119872" y="203911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64" name="Text 62"/>
          <p:cNvSpPr/>
          <p:nvPr/>
        </p:nvSpPr>
        <p:spPr>
          <a:xfrm>
            <a:off x="8119872" y="2075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128/82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119872" y="234086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6144768" y="2587752"/>
            <a:ext cx="2523744" cy="292608"/>
          </a:xfrm>
          <a:prstGeom prst="roundRect">
            <a:avLst>
              <a:gd name="adj" fmla="val 12500"/>
            </a:avLst>
          </a:prstGeom>
          <a:solidFill>
            <a:srgbClr val="1A0000"/>
          </a:solidFill>
          <a:ln w="3810">
            <a:solidFill>
              <a:srgbClr val="FF3B3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26151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Threshold alert active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4320" y="3108960"/>
            <a:ext cx="2743200" cy="1572768"/>
          </a:xfrm>
          <a:prstGeom prst="roundRect">
            <a:avLst>
              <a:gd name="adj" fmla="val 4651"/>
            </a:avLst>
          </a:prstGeom>
          <a:solidFill>
            <a:srgbClr val="15152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84048" y="3218688"/>
            <a:ext cx="347472" cy="347472"/>
          </a:xfrm>
          <a:prstGeom prst="ellipse">
            <a:avLst/>
          </a:prstGeom>
          <a:solidFill>
            <a:srgbClr val="0A1A3A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32369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04672" y="32186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Müller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04672" y="34381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yrs · normal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423160" y="3218688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0A0A0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23160" y="322783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384048" y="37307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76" name="Text 74"/>
          <p:cNvSpPr/>
          <p:nvPr/>
        </p:nvSpPr>
        <p:spPr>
          <a:xfrm>
            <a:off x="384048" y="37673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384048" y="403250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1042416" y="37307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79" name="Text 77"/>
          <p:cNvSpPr/>
          <p:nvPr/>
        </p:nvSpPr>
        <p:spPr>
          <a:xfrm>
            <a:off x="1042416" y="37673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42416" y="403250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SpO2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1700784" y="37307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82" name="Text 80"/>
          <p:cNvSpPr/>
          <p:nvPr/>
        </p:nvSpPr>
        <p:spPr>
          <a:xfrm>
            <a:off x="1700784" y="37673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36.6°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700784" y="403250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2359152" y="37307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85" name="Text 83"/>
          <p:cNvSpPr/>
          <p:nvPr/>
        </p:nvSpPr>
        <p:spPr>
          <a:xfrm>
            <a:off x="2359152" y="37673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112/70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359152" y="403250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3154680" y="3108960"/>
            <a:ext cx="2743200" cy="1572768"/>
          </a:xfrm>
          <a:prstGeom prst="roundRect">
            <a:avLst>
              <a:gd name="adj" fmla="val 4651"/>
            </a:avLst>
          </a:prstGeom>
          <a:solidFill>
            <a:srgbClr val="15000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64408" y="3218688"/>
            <a:ext cx="347472" cy="347472"/>
          </a:xfrm>
          <a:prstGeom prst="ellipse">
            <a:avLst/>
          </a:prstGeom>
          <a:solidFill>
            <a:srgbClr val="0A1A3A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64408" y="32369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3685032" y="32186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Klaus Fischer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685032" y="34381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yrs · copd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303520" y="3218688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0A0A0A"/>
          </a:solidFill>
          <a:ln w="6350">
            <a:solidFill>
              <a:srgbClr val="FF95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03520" y="322783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3264408" y="37307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95" name="Text 93"/>
          <p:cNvSpPr/>
          <p:nvPr/>
        </p:nvSpPr>
        <p:spPr>
          <a:xfrm>
            <a:off x="3264408" y="37673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3264408" y="403250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3922776" y="37307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98" name="Text 96"/>
          <p:cNvSpPr/>
          <p:nvPr/>
        </p:nvSpPr>
        <p:spPr>
          <a:xfrm>
            <a:off x="3922776" y="37673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3922776" y="403250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SpO2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4581144" y="37307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101" name="Text 99"/>
          <p:cNvSpPr/>
          <p:nvPr/>
        </p:nvSpPr>
        <p:spPr>
          <a:xfrm>
            <a:off x="4581144" y="37673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36.4°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581144" y="403250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5239512" y="37307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sp>
        <p:nvSpPr>
          <p:cNvPr id="104" name="Text 102"/>
          <p:cNvSpPr/>
          <p:nvPr/>
        </p:nvSpPr>
        <p:spPr>
          <a:xfrm>
            <a:off x="5239512" y="37673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138/85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5239512" y="403250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3264408" y="4279392"/>
            <a:ext cx="2523744" cy="292608"/>
          </a:xfrm>
          <a:prstGeom prst="roundRect">
            <a:avLst>
              <a:gd name="adj" fmla="val 12500"/>
            </a:avLst>
          </a:prstGeom>
          <a:solidFill>
            <a:srgbClr val="1A0000"/>
          </a:solidFill>
          <a:ln w="3810">
            <a:solidFill>
              <a:srgbClr val="FF3B3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337560" y="43068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Threshold alert active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Registration — Band ID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http://192.168.0.110:5000/register  ·  Unique SB- IDs · doctor search · localStorage persistence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251960"/>
          </a:xfrm>
          <a:prstGeom prst="roundRect">
            <a:avLst>
              <a:gd name="adj" fmla="val 222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Registration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56032" cy="256032"/>
          </a:xfrm>
          <a:prstGeom prst="ellipse">
            <a:avLst/>
          </a:prstGeom>
          <a:solidFill>
            <a:srgbClr val="1A3A2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14447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opens /register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6459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main dashboard nav — "Register my band" button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256032" cy="256032"/>
          </a:xfrm>
          <a:prstGeom prst="ellipse">
            <a:avLst/>
          </a:prstGeom>
          <a:solidFill>
            <a:srgbClr val="1A3A2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11096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18928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in profile form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" y="20939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DOB, gender, weight, height, city, medical notes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256032" cy="256032"/>
          </a:xfrm>
          <a:prstGeom prst="ellipse">
            <a:avLst/>
          </a:prstGeom>
          <a:solidFill>
            <a:srgbClr val="1A3A2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5915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04672" y="23408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— Band ID generated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" y="25420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creates unique SB-XXXXXX (6-char alphanumeric)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256032" cy="256032"/>
          </a:xfrm>
          <a:prstGeom prst="ellipse">
            <a:avLst/>
          </a:prstGeom>
          <a:solidFill>
            <a:srgbClr val="1A3A2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07208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27889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saved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29900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registered_patients.json + Firebase Firestore registered/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236976"/>
            <a:ext cx="256032" cy="256032"/>
          </a:xfrm>
          <a:prstGeom prst="ellipse">
            <a:avLst/>
          </a:prstGeom>
          <a:solidFill>
            <a:srgbClr val="1A3A2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5526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4672" y="323697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sees their Band 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" y="343814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prominently with Copy button and step instructions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685032"/>
            <a:ext cx="256032" cy="256032"/>
          </a:xfrm>
          <a:prstGeom prst="ellipse">
            <a:avLst/>
          </a:prstGeom>
          <a:solidFill>
            <a:srgbClr val="1A3A2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0332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4672" y="368503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saved to localStorage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" y="38862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on main dashboard "My Band ID" card on return visits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1A3A2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51376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4672" y="41330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gives ID to doctor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" y="433425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types ID in search box on doctor dashboard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581144"/>
            <a:ext cx="256032" cy="256032"/>
          </a:xfrm>
          <a:prstGeom prst="ellipse">
            <a:avLst/>
          </a:prstGeom>
          <a:solidFill>
            <a:srgbClr val="1A3A2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9943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4672" y="4581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adds patient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" y="478231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auto-fills — doctor picks scenario — one click add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17720" y="1005840"/>
            <a:ext cx="4251960" cy="2011680"/>
          </a:xfrm>
          <a:prstGeom prst="roundRect">
            <a:avLst>
              <a:gd name="adj" fmla="val 4545"/>
            </a:avLst>
          </a:prstGeom>
          <a:solidFill>
            <a:srgbClr val="0A1A0A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00600" y="10789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Band ID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1389888"/>
            <a:ext cx="388620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4813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SB-4K2M9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4800600" y="2240280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this ID with your doctor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254203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Write down or screenshot your Band ID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27432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Give it to your doctor at your next visit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00600" y="29443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Doctor searches by ID — your data auto-fills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17720" y="3246120"/>
            <a:ext cx="4251960" cy="2011680"/>
          </a:xfrm>
          <a:prstGeom prst="roundRect">
            <a:avLst>
              <a:gd name="adj" fmla="val 4545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00600" y="331012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adds patient — Band ID search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3630168"/>
            <a:ext cx="3200400" cy="329184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3685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SB-4K2M9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4041648"/>
            <a:ext cx="3886200" cy="685800"/>
          </a:xfrm>
          <a:prstGeom prst="roundRect">
            <a:avLst>
              <a:gd name="adj" fmla="val 8000"/>
            </a:avLst>
          </a:prstGeom>
          <a:solidFill>
            <a:srgbClr val="0A1A0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078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Masrur Jamil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37760" y="4297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yrs · male · Hamm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132320" y="41148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SB-4K2M9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Portal — Band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http://192.168.0.110:5000/hospital/register  ·  Band inventory · allocation · release · monitoring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474720" cy="4251960"/>
          </a:xfrm>
          <a:prstGeom prst="roundRect">
            <a:avLst>
              <a:gd name="adj" fmla="val 263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Registration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name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642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 Marien Hospital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2938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671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person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700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 Schmidt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93522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 to register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72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43814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7588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••••••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94106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142232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1788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HOSP-AB1234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77640" y="100584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60520" y="1078992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Inventory Dashboard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1417320"/>
            <a:ext cx="1042416" cy="640080"/>
          </a:xfrm>
          <a:prstGeom prst="roundRect">
            <a:avLst>
              <a:gd name="adj" fmla="val 8571"/>
            </a:avLst>
          </a:prstGeom>
          <a:solidFill>
            <a:srgbClr val="1E1E2E"/>
          </a:solidFill>
          <a:ln/>
        </p:spPr>
      </p:sp>
      <p:sp>
        <p:nvSpPr>
          <p:cNvPr id="28" name="Text 26"/>
          <p:cNvSpPr/>
          <p:nvPr/>
        </p:nvSpPr>
        <p:spPr>
          <a:xfrm>
            <a:off x="4160520" y="144475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160520" y="1792224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294376" y="1417320"/>
            <a:ext cx="1042416" cy="640080"/>
          </a:xfrm>
          <a:prstGeom prst="roundRect">
            <a:avLst>
              <a:gd name="adj" fmla="val 8571"/>
            </a:avLst>
          </a:prstGeom>
          <a:solidFill>
            <a:srgbClr val="1E1E2E"/>
          </a:solidFill>
          <a:ln/>
        </p:spPr>
      </p:sp>
      <p:sp>
        <p:nvSpPr>
          <p:cNvPr id="31" name="Text 29"/>
          <p:cNvSpPr/>
          <p:nvPr/>
        </p:nvSpPr>
        <p:spPr>
          <a:xfrm>
            <a:off x="5294376" y="144475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94376" y="1792224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428232" y="1417320"/>
            <a:ext cx="1042416" cy="640080"/>
          </a:xfrm>
          <a:prstGeom prst="roundRect">
            <a:avLst>
              <a:gd name="adj" fmla="val 8571"/>
            </a:avLst>
          </a:prstGeom>
          <a:solidFill>
            <a:srgbClr val="1E1E2E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144475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28232" y="1792224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7562088" y="1417320"/>
            <a:ext cx="1042416" cy="640080"/>
          </a:xfrm>
          <a:prstGeom prst="roundRect">
            <a:avLst>
              <a:gd name="adj" fmla="val 8571"/>
            </a:avLst>
          </a:prstGeom>
          <a:solidFill>
            <a:srgbClr val="1E1E2E"/>
          </a:solidFill>
          <a:ln/>
        </p:spPr>
      </p:sp>
      <p:sp>
        <p:nvSpPr>
          <p:cNvPr id="37" name="Text 35"/>
          <p:cNvSpPr/>
          <p:nvPr/>
        </p:nvSpPr>
        <p:spPr>
          <a:xfrm>
            <a:off x="7562088" y="144475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562088" y="1792224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160520" y="2176272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0A0A1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222199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60520" y="24505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343400" y="287121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5080">
            <a:solidFill>
              <a:srgbClr val="30D1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3400" y="288950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669280" y="2176272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0A0A1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222199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69280" y="24505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852160" y="287121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5080">
            <a:solidFill>
              <a:srgbClr val="30D1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288950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178040" y="2176272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0A0A1A"/>
          </a:solidFill>
          <a:ln w="6350">
            <a:solidFill>
              <a:srgbClr val="FF95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222199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78040" y="24505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ALLOCATED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223760" y="265176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Schmidt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360920" y="287121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5080">
            <a:solidFill>
              <a:srgbClr val="FF3B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288950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60520" y="3273552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0A0A1A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60520" y="33192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160520" y="35478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206240" y="374904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 Weber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343400" y="396849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5080">
            <a:solidFill>
              <a:srgbClr val="FF3B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43400" y="39867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669280" y="3273552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0A0A1A"/>
          </a:solidFill>
          <a:ln w="6350">
            <a:solidFill>
              <a:srgbClr val="FF95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33192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69280" y="35478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ALLOCATED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715000" y="374904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Klaus Fischer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852160" y="396849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5080">
            <a:solidFill>
              <a:srgbClr val="FF3B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52160" y="39867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178040" y="3273552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0A0A1A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78040" y="33192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006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178040" y="35478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223760" y="374904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Müller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7360920" y="396849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5080">
            <a:solidFill>
              <a:srgbClr val="FF3B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60920" y="39867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977640" y="482803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lifecycle:  Available  →  Allocated  →  In Use  →  Released  →  Available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+ Firebase Firestore Cloud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data standards · 8 LOINC codes · 4 Firestore collections · auto-sync every 30s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251960"/>
          </a:xfrm>
          <a:prstGeom prst="roundRect">
            <a:avLst>
              <a:gd name="adj" fmla="val 222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5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— 8 Clinical Observations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8867-4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00200" y="14264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42646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83794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2708-6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0200" y="18379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saturation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18379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8310-5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00200" y="22494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temperature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2494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66090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9279-1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00200" y="26609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266090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0723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55284-4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00200" y="30723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Systolic BP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07238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mm[Hg]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48386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8462-4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00200" y="34838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Diastolic BP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48386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mm[Hg]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74767-6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00200" y="38953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/ EDA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38953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30682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5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80404-7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00200" y="43068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43068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6817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and calories removed — not clinical observations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1005840"/>
            <a:ext cx="4251960" cy="4251960"/>
          </a:xfrm>
          <a:prstGeom prst="roundRect">
            <a:avLst>
              <a:gd name="adj" fmla="val 2151"/>
            </a:avLst>
          </a:prstGeom>
          <a:solidFill>
            <a:srgbClr val="0A1A0A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10789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 — Cloud Storage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13898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Project: smartband-hshl-5b91d  ·  Region: europe-west3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1691640"/>
            <a:ext cx="3886200" cy="658368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patients/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{pid}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37760" y="20116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profile · name, age, gender, condition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2441448"/>
            <a:ext cx="3886200" cy="658368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937760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sensor_readings/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248716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{pid}/readings/auto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37760" y="276148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vitals every 30s · rate-limited for free tier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3191256"/>
            <a:ext cx="3886200" cy="658368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937760" y="32369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alerts/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32320" y="32369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{auto-id}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37760" y="351129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violations · on state change only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00600" y="3941064"/>
            <a:ext cx="3886200" cy="658368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37760" y="39867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registered/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32320" y="39867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{band_id}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37760" y="42611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Self-registered patients · Band IDs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0600" y="46634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write budget (free tier: 20,000)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00600" y="4873752"/>
            <a:ext cx="3886200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3" name="Shape 51"/>
          <p:cNvSpPr/>
          <p:nvPr/>
        </p:nvSpPr>
        <p:spPr>
          <a:xfrm>
            <a:off x="4800600" y="4873752"/>
            <a:ext cx="2798064" cy="18288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507492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14,400 used  /  20,000 limit  (72%)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Recommendations + Health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Doctor-to-patient messaging · urgency levels · Health Summary trends and goals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251960"/>
          </a:xfrm>
          <a:prstGeom prst="roundRect">
            <a:avLst>
              <a:gd name="adj" fmla="val 2222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5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Recommendations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0A0A1A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630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SIDE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button on each patient card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A0A0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93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Routine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196596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A0A0A"/>
          </a:solidFill>
          <a:ln w="6350">
            <a:solidFill>
              <a:srgbClr val="FF9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993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Important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71800" y="196596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A0A0A"/>
          </a:solidFill>
          <a:ln w="6350">
            <a:solidFill>
              <a:srgbClr val="FF3B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993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Urgent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" y="2331720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377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Increase fluid intake. Monitor BP daily.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0" y="2743200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A3A1A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76148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recommendation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080818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154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SIDE — main dashboard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94360" y="3401568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0A0020"/>
          </a:solidFill>
          <a:ln w="5080">
            <a:solidFill>
              <a:srgbClr val="BF5A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438144"/>
            <a:ext cx="146304" cy="146304"/>
          </a:xfrm>
          <a:prstGeom prst="ellipse">
            <a:avLst/>
          </a:prstGeom>
          <a:solidFill>
            <a:srgbClr val="BF5AF2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4107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F5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New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71600" y="34107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fluid intake. Monitor BP daily. — Dr. Schmidt · Urgent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94360" y="3749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Refreshes every 10s · click to mark as read · urgency colour-coded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17720" y="1005840"/>
            <a:ext cx="4251960" cy="4251960"/>
          </a:xfrm>
          <a:prstGeom prst="roundRect">
            <a:avLst>
              <a:gd name="adj" fmla="val 2151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10789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Summary — /summary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389888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0A1A3A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41732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time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88152" y="1389888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151525"/>
          </a:solidFill>
          <a:ln w="6350">
            <a:solidFill>
              <a:srgbClr val="1E1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88152" y="141732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Jun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775704" y="1389888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151525"/>
          </a:solidFill>
          <a:ln w="6350">
            <a:solidFill>
              <a:srgbClr val="1E1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141732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Jun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763256" y="1389888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151525"/>
          </a:solidFill>
          <a:ln w="6350">
            <a:solidFill>
              <a:srgbClr val="1E1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3256" y="141732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Jun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00600" y="17556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Progress Rings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1993392"/>
            <a:ext cx="640080" cy="640080"/>
          </a:xfrm>
          <a:prstGeom prst="ellipse">
            <a:avLst/>
          </a:prstGeom>
          <a:solidFill>
            <a:srgbClr val="000000"/>
          </a:solidFill>
          <a:ln w="31750">
            <a:solidFill>
              <a:srgbClr val="30D1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0848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26974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HR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309360" y="1993392"/>
            <a:ext cx="640080" cy="640080"/>
          </a:xfrm>
          <a:prstGeom prst="ellipse">
            <a:avLst/>
          </a:prstGeom>
          <a:solidFill>
            <a:srgbClr val="000000"/>
          </a:solidFill>
          <a:ln w="31750">
            <a:solidFill>
              <a:srgbClr val="5AC8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0848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26974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SpO2 Goal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680960" y="1993392"/>
            <a:ext cx="640080" cy="640080"/>
          </a:xfrm>
          <a:prstGeom prst="ellipse">
            <a:avLst/>
          </a:prstGeom>
          <a:solidFill>
            <a:srgbClr val="000000"/>
          </a:solidFill>
          <a:ln w="31750">
            <a:solidFill>
              <a:srgbClr val="007A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20848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35240" y="26974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800600" y="303580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00600" y="30723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BPM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800600" y="3346704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HR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812280" y="303580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812280" y="30723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12280" y="3346704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SpO2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800600" y="360273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00600" y="3639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36.8°C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800600" y="3913632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Temp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812280" y="360273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12280" y="3639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12280" y="3913632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Stress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800600" y="42519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trend charts: HR · SpO2 · Temp · Acceleration · Full session log table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How Everything Connects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· Simulator · Cloud · Dashboards · Data 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63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24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Client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0" y="1124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index.html (patient)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77640" y="1124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doctor.html (clinical)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0" y="1124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hospital_dashboard.html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78040" y="1124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fhir_view.html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778240" y="1124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register.html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78440" y="1124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summary.html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1920240"/>
            <a:ext cx="0" cy="182880"/>
          </a:xfrm>
          <a:prstGeom prst="line">
            <a:avLst/>
          </a:prstGeom>
          <a:noFill/>
          <a:ln w="6350">
            <a:solidFill>
              <a:srgbClr val="5AC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920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67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Application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2267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app.py — 20+ routes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77640" y="2267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Page routes + API endpoints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2267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Error handling + logging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78040" y="22677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FHIR bundle builder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80560" y="3063240"/>
            <a:ext cx="0" cy="182880"/>
          </a:xfrm>
          <a:prstGeom prst="line">
            <a:avLst/>
          </a:prstGeom>
          <a:noFill/>
          <a:ln w="6350">
            <a:solidFill>
              <a:srgbClr val="007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0632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6350">
            <a:solidFill>
              <a:srgbClr val="BF5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27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Python Modules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322783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simulator.py — 5 patients 16ch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77640" y="322783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hospital_storage.py — bands+recs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77840" y="322783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cloud_storage.py — Firebase sync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78040" y="322783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drivers.py — OLED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80560" y="4023360"/>
            <a:ext cx="0" cy="182880"/>
          </a:xfrm>
          <a:prstGeom prst="line">
            <a:avLst/>
          </a:prstGeom>
          <a:noFill/>
          <a:ln w="6350">
            <a:solidFill>
              <a:srgbClr val="BF5A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40233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11480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77440" y="418795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data/*.json (local)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77640" y="418795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Firebase Firestore (cloud)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77840" y="418795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sensor_data.csv (history)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— What Comes After This Session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· Firmware · Mobile App · PCB Design · Clinical Validation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2084832"/>
          </a:xfrm>
          <a:prstGeom prst="roundRect">
            <a:avLst>
              <a:gd name="adj" fmla="val 4386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2062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ORDER NOW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4356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nRF5340 DK development kit (~€45) from mouser.de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196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J-Link EDU Mini debug probe (~€22) from shop.segger.com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2037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Waveshare 1.69" Touch LCD (~€20) from waveshare.com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87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nRF Connect SDK v2.6.1 on Windows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24128"/>
            <a:ext cx="4206240" cy="2084832"/>
          </a:xfrm>
          <a:prstGeom prst="roundRect">
            <a:avLst>
              <a:gd name="adj" fmla="val 4386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24128"/>
            <a:ext cx="42062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789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FIRMWARE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1481328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14356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 RTOS bringup on nRF5340 DK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86537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2" name="Text 20"/>
          <p:cNvSpPr/>
          <p:nvPr/>
        </p:nvSpPr>
        <p:spPr>
          <a:xfrm>
            <a:off x="5138928" y="18196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drivers: ICM-42688-P → BMP390L → MAX30102 → MLX90632 → MAX30001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2249424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22037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GATT service with all 16 sensor channels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2633472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2587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display via LVGL on ST7789V2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236976"/>
            <a:ext cx="4206240" cy="2084832"/>
          </a:xfrm>
          <a:prstGeom prst="roundRect">
            <a:avLst>
              <a:gd name="adj" fmla="val 4386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36976"/>
            <a:ext cx="42062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918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SOFTWARE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694176"/>
            <a:ext cx="128016" cy="128016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648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client in Python (bleak) — real sensor data into Flask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78224"/>
            <a:ext cx="128016" cy="128016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0325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simulator.py with live BLE readings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462272"/>
            <a:ext cx="128016" cy="128016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416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migration — replace JSON files with proper database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846320"/>
            <a:ext cx="128016" cy="128016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4800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Flask-Login user authentication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236976"/>
            <a:ext cx="4206240" cy="2084832"/>
          </a:xfrm>
          <a:prstGeom prst="roundRect">
            <a:avLst>
              <a:gd name="adj" fmla="val 4386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236976"/>
            <a:ext cx="42062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2918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PCB + VALIDATION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37760" y="3694176"/>
            <a:ext cx="128016" cy="12801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42" name="Text 40"/>
          <p:cNvSpPr/>
          <p:nvPr/>
        </p:nvSpPr>
        <p:spPr>
          <a:xfrm>
            <a:off x="5138928" y="3648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KiCad schematic from BOM — all 42 components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4078224"/>
            <a:ext cx="128016" cy="12801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44" name="Text 42"/>
          <p:cNvSpPr/>
          <p:nvPr/>
        </p:nvSpPr>
        <p:spPr>
          <a:xfrm>
            <a:off x="5138928" y="40325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PCB layout — RF keepout, analog isolation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37760" y="4462272"/>
            <a:ext cx="128016" cy="12801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46" name="Text 44"/>
          <p:cNvSpPr/>
          <p:nvPr/>
        </p:nvSpPr>
        <p:spPr>
          <a:xfrm>
            <a:off x="5138928" y="4416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JLCPCB fabrication with PCBA service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37760" y="4846320"/>
            <a:ext cx="128016" cy="128016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48" name="Text 46"/>
          <p:cNvSpPr/>
          <p:nvPr/>
        </p:nvSpPr>
        <p:spPr>
          <a:xfrm>
            <a:off x="5138928" y="4800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validation vs Contec CMS50D+ and Omron M3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B3A6B">
              <a:alpha val="3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Complete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built in this session is live and running on the Raspberry 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3408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8529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· drivers · cloud · hospital · app · settings · config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18688" y="228600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23408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18688" y="28529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0128" y="30906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· Doctor · Hospital · FHIR · Register · Summary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71616" y="228600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23408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0D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71616" y="28529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patients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63056" y="30906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with own scenario · vitals · alerts · FHIR bundle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5753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5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65760" y="40873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collections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251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· sensor_readings · alerts · registered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18688" y="352044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18688" y="35753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218688" y="40873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LOINC codes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43251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FHIR R4 clinical observations — no steps/calories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71616" y="352044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151525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71616" y="35753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071616" y="40873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63056" y="43251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+ data APIs + FHIR + hospital + cloud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4919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Masrur Jamil Prochchhod · 2210028 · HSHL · Prof. Giovanni (giovannix) · June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Smartband V001 Rev2 — System Development</dc:title>
  <dc:subject>PptxGenJS Presentation</dc:subject>
  <dc:creator>Masrur Jamil Prochchhod</dc:creator>
  <cp:lastModifiedBy>Masrur Jamil Prochchhod</cp:lastModifiedBy>
  <cp:revision>1</cp:revision>
  <dcterms:created xsi:type="dcterms:W3CDTF">2026-06-11T13:18:06Z</dcterms:created>
  <dcterms:modified xsi:type="dcterms:W3CDTF">2026-06-11T13:18:06Z</dcterms:modified>
</cp:coreProperties>
</file>