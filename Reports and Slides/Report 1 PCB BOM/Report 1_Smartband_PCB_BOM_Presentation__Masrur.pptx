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2B6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2B6E"/>
                </a:solidFill>
                <a:latin typeface="Arial"/>
              </a:rPr>
              <a:t>Cost Breakdown (3 Sets)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(USD)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2B6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Components</c:v>
                  </c:pt>
                  <c:pt idx="1">
                    <c:v>Assembly</c:v>
                  </c:pt>
                  <c:pt idx="2">
                    <c:v>PCB Fab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116.33</c:v>
                </c:pt>
                <c:pt idx="1">
                  <c:v>88</c:v>
                </c:pt>
                <c:pt idx="2">
                  <c:v>25.97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2B6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4937760" y="274320"/>
            <a:ext cx="4023360" cy="3017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37760" y="274320"/>
            <a:ext cx="4023360" cy="3017520"/>
          </a:xfrm>
          <a:prstGeom prst="rect">
            <a:avLst/>
          </a:prstGeom>
          <a:solidFill>
            <a:srgbClr val="0D2B6E">
              <a:alpha val="70000"/>
            </a:srgbClr>
          </a:solidFill>
          <a:ln w="12700">
            <a:solidFill>
              <a:srgbClr val="0D2B6E">
                <a:alpha val="7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40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65760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Component &amp; BOM Analysis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Band01_Rev1 — Hardware Procurement Documentation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423160"/>
            <a:ext cx="420624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5603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Masrur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Hochschule Hamm-Lippstadt (HSHL)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(giovannix)
</a:t>
            </a:r>
            <a:pPr indent="0" marL="0">
              <a:buNone/>
            </a:pPr>
            <a:r>
              <a:rPr lang="en-US" sz="12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 — PCB Review &amp; Procurement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HSHL Internship Project  |  Band01_Rev1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95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252374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Band01_Rev1 PCB design, validate all components, update the BOM, communicate with providers, and place the manufacturing order.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777240"/>
            <a:ext cx="274320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795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10128" y="1261872"/>
            <a:ext cx="252374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CC2640R2F BLE SoC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(ARM Cortex-M3, 48 MHz)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5.0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Wrist-worn form factor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mm × 40 mm PCB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2743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777240"/>
            <a:ext cx="2743200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7955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Context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6208" y="1261872"/>
            <a:ext cx="2523744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MWHD framework by Pinheiro et al. (2022) — Frontiers in Human Neuroscience. Multi-sensor health data via 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|  HSHL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SCHEMATIC — Band01_Rev1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5943600" cy="41148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400800" y="804672"/>
            <a:ext cx="109728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65392" y="804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 — CC2640R2F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565392" y="10058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5.0 SoC / MCU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0" y="1444752"/>
            <a:ext cx="109728" cy="4114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65392" y="144475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UIC1 — MAX30102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65392" y="1645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&amp; SpO2 Sensor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0" y="2084832"/>
            <a:ext cx="109728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65392" y="2084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U103 — LIS331D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65392" y="2286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Accelerometer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0" y="2724912"/>
            <a:ext cx="10972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65392" y="2724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U104 — MAX30205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65392" y="29260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Sensor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0" y="3364992"/>
            <a:ext cx="109728" cy="4114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65392" y="336499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U101/U102 — LP5907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65392" y="35661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&amp; 1.8V LDO Regs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0" y="4005072"/>
            <a:ext cx="109728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65392" y="40050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Y1/Y2 — Crystals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65392" y="4206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MHz &amp; 32.768 kHz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Altium Designer  |  22/03/2019  |  Authors: Ricardo K, Gabriel 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LAYOUT &amp; PHYSICAL SPECIFICATIONS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3657600" cy="27432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4160520" y="822960"/>
            <a:ext cx="2286000" cy="384048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46520" y="822960"/>
            <a:ext cx="237744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51960" y="8778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10528" y="87782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× 40 mm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160520" y="1271016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271016"/>
            <a:ext cx="2377440" cy="384048"/>
          </a:xfrm>
          <a:prstGeom prst="rect">
            <a:avLst/>
          </a:prstGeom>
          <a:solidFill>
            <a:srgbClr val="EAF3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5196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10528" y="132588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PCB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60520" y="1719072"/>
            <a:ext cx="2286000" cy="384048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1719072"/>
            <a:ext cx="237744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1960" y="1773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Hole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10528" y="177393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mm / 0.3 mm Cu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160520" y="2167128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46520" y="2167128"/>
            <a:ext cx="2377440" cy="384048"/>
          </a:xfrm>
          <a:prstGeom prst="rect">
            <a:avLst/>
          </a:prstGeom>
          <a:solidFill>
            <a:srgbClr val="EAF3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51960" y="2221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10528" y="222199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mm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160520" y="2615184"/>
            <a:ext cx="2286000" cy="384048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46520" y="2615184"/>
            <a:ext cx="237744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51960" y="26700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510528" y="267004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mm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60520" y="306324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46520" y="3063240"/>
            <a:ext cx="2377440" cy="384048"/>
          </a:xfrm>
          <a:prstGeom prst="rect">
            <a:avLst/>
          </a:prstGeom>
          <a:solidFill>
            <a:srgbClr val="EAF3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51960" y="3118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Impedance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510528" y="311810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Ω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160520" y="3511296"/>
            <a:ext cx="2286000" cy="384048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46520" y="3511296"/>
            <a:ext cx="237744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5196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VDDS Plane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510528" y="35661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22.40 mm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160520" y="3959352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46520" y="3959352"/>
            <a:ext cx="2377440" cy="384048"/>
          </a:xfrm>
          <a:prstGeom prst="rect">
            <a:avLst/>
          </a:prstGeom>
          <a:solidFill>
            <a:srgbClr val="EAF3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51960" y="4014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3V3 Plane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510528" y="4014216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1.16 mm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160520" y="4407408"/>
            <a:ext cx="2286000" cy="384048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46520" y="4407408"/>
            <a:ext cx="2377440" cy="384048"/>
          </a:xfrm>
          <a:prstGeom prst="rect">
            <a:avLst/>
          </a:prstGeom>
          <a:solidFill>
            <a:srgbClr val="BBDEFB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251960" y="4462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510528" y="44622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trace (AN043)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|  HSHL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SENSOR SUBSYSTEMS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160520" cy="4572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4760" y="859536"/>
            <a:ext cx="548640" cy="32004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13048" y="87782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UIC1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8595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MAX30102EFD+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84048" y="10789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&amp; SpO2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35331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18-bit ADC, integrated LED driver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reflectance sensor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interface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416052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859536"/>
            <a:ext cx="548640" cy="32004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87782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8888" y="8595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LIS331DLTR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18888" y="10789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35331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MEMS, ±24g range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&amp; activity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interface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0779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07792"/>
            <a:ext cx="41605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4760" y="2962656"/>
            <a:ext cx="548640" cy="32004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13048" y="298094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29626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MAX30205MTA+T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4048" y="31821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45643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±0.1°C accuracy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body temp sensor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interface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907792"/>
            <a:ext cx="41605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907792"/>
            <a:ext cx="416052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0" y="2962656"/>
            <a:ext cx="548640" cy="32004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7888" y="2980944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18888" y="29626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CC2640R2FRSMR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18888" y="31821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SoC / MCU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456432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Cortex-M3 @ 48 MHz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5.0, 128KB Flash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JTAG / SWD debug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sensors communicate via I2C bus (DIO_5/SCL, DIO_6/SDA)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REVIEW &amp; COMPONENT ANALYSIS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2926080" cy="41148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469087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BOM.pdf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429000" y="804672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29000" y="804672"/>
            <a:ext cx="64008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93592" y="896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3593592" y="1426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Components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804672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17920" y="804672"/>
            <a:ext cx="64008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2512" y="896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382512" y="1426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Needing Action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0" y="1993392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29000" y="1993392"/>
            <a:ext cx="64008" cy="10515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93592" y="2084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3593592" y="2615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DNP / DNM Items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1993392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17920" y="1993392"/>
            <a:ext cx="64008" cy="10515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2512" y="20848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6382512" y="2615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in BOM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429000" y="3200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Requiring Action: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429000" y="3547872"/>
            <a:ext cx="5486400" cy="242316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520440" y="35753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Antenna (A)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257800" y="35753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trace antenna used — marked DNP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429000" y="3813048"/>
            <a:ext cx="5486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20440" y="38404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Header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257800" y="3840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to Samtec HTSW-109-07-G-D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429000" y="4078224"/>
            <a:ext cx="5486400" cy="242316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520440" y="41056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C22, C23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257800" y="41056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DNP optional bypass caps — retained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429000" y="4343400"/>
            <a:ext cx="548640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520440" y="4370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R17, R18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257800" y="4370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DNM — JTAG pull resistors not needed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429000" y="4608576"/>
            <a:ext cx="5486400" cy="242316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20440" y="46360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Crystal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257800" y="4636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muRata equiv. for availability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|  HSHL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PCBWay ASSEMBLY QUOTATION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949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No.: T-2Y3W994845A  |  3 Assembled Sets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01168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78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Cost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$116.33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450592" y="1024128"/>
            <a:ext cx="2011680" cy="13716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1078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Cost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42032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$88.00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626864" y="1024128"/>
            <a:ext cx="2011680" cy="13716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1078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Fabrication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18304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$25.97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803136" y="1024128"/>
            <a:ext cx="2011680" cy="137160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94576" y="10789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(3 sets)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94576" y="1463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$230.30</a:t>
            </a:r>
            <a:endParaRPr lang="en-US" sz="28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274320" y="2514600"/>
          <a:ext cx="47548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5257800" y="2514600"/>
            <a:ext cx="36576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376672" y="2578608"/>
            <a:ext cx="3438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94960" y="29443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 / Board: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269480" y="294436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$76.77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394960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269480" y="3255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26–28 working days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394960" y="3566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Ordered: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269480" y="3566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assembled sets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394960" y="3877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DNP Items: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7269480" y="38770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A, C22/C23, R17/R18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394960" y="41879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Type: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269480" y="41879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 + Through-hole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394960" y="4498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7269480" y="449884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PCBWay.com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|  HSHL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AISLER PLATFORM — FINAL ASSEMBLED PCB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2286000" cy="32461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4023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Aisler BOM — HSHL Workspace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834640" y="7498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 (Aisler — Amazing Assembly):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834640" y="1078992"/>
            <a:ext cx="1920240" cy="310896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106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078992"/>
            <a:ext cx="1920240" cy="310896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106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1078992"/>
            <a:ext cx="1920240" cy="310896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12280" y="11064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34640" y="1389888"/>
            <a:ext cx="1920240" cy="310896"/>
          </a:xfrm>
          <a:prstGeom prst="rect">
            <a:avLst/>
          </a:prstGeom>
          <a:solidFill>
            <a:srgbClr val="E3F0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80360" y="1435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1389888"/>
            <a:ext cx="1920240" cy="310896"/>
          </a:xfrm>
          <a:prstGeom prst="rect">
            <a:avLst/>
          </a:prstGeom>
          <a:solidFill>
            <a:srgbClr val="E3F0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1435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€376.69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66560" y="1389888"/>
            <a:ext cx="1920240" cy="310896"/>
          </a:xfrm>
          <a:prstGeom prst="rect">
            <a:avLst/>
          </a:prstGeom>
          <a:solidFill>
            <a:srgbClr val="E3F0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12280" y="14356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€125.56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834640" y="1728216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80360" y="1773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1728216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1773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€439.65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66560" y="1728216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12280" y="17739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€87.93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834640" y="2066544"/>
            <a:ext cx="1920240" cy="310896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880360" y="21122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00600" y="2066544"/>
            <a:ext cx="1920240" cy="310896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21122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€590.66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766560" y="2066544"/>
            <a:ext cx="1920240" cy="310896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12280" y="21122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€59.07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834640" y="2404872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88036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800600" y="2404872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€1,893.43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766560" y="2404872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1228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€37.87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2834640" y="2743200"/>
            <a:ext cx="1920240" cy="310896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880360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800600" y="2743200"/>
            <a:ext cx="1920240" cy="310896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46320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€3,249.84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766560" y="2743200"/>
            <a:ext cx="1920240" cy="310896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12280" y="2788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€32.50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2834640" y="3081528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880360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800600" y="3081528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846320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€6,183.19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766560" y="3081528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812280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€30.92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2834640" y="3419856"/>
            <a:ext cx="1920240" cy="310896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880360" y="34655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4800600" y="3419856"/>
            <a:ext cx="1920240" cy="310896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846320" y="34655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€14,134.49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6766560" y="3419856"/>
            <a:ext cx="1920240" cy="310896"/>
          </a:xfrm>
          <a:prstGeom prst="rect">
            <a:avLst/>
          </a:prstGeom>
          <a:solidFill>
            <a:srgbClr val="E8EFF8"/>
          </a:solidFill>
          <a:ln w="6350">
            <a:solidFill>
              <a:srgbClr val="DDEE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812280" y="34655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€28.27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2834640" y="3840480"/>
            <a:ext cx="6035040" cy="822960"/>
          </a:xfrm>
          <a:prstGeom prst="rect">
            <a:avLst/>
          </a:prstGeom>
          <a:solidFill>
            <a:srgbClr val="BBDEFB">
              <a:alpha val="60000"/>
            </a:srgbClr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2926080" y="3886200"/>
            <a:ext cx="5760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52 of 57 components assigned in Aisler (HSHL workspace)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Prices include sourcing, handling, and assembly fees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2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Offers valid for 24 hours from quotation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|  HSHL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PROCESS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50392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777240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8503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design ZIP from supervisor (GitHub repo)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307592"/>
            <a:ext cx="0" cy="274320"/>
          </a:xfrm>
          <a:prstGeom prst="line">
            <a:avLst/>
          </a:prstGeom>
          <a:noFill/>
          <a:ln w="19050">
            <a:solidFill>
              <a:srgbClr val="1565C0"/>
            </a:solidFill>
            <a:prstDash val="dot"/>
          </a:ln>
        </p:spPr>
      </p:sp>
      <p:sp>
        <p:nvSpPr>
          <p:cNvPr id="9" name="Shape 7"/>
          <p:cNvSpPr/>
          <p:nvPr/>
        </p:nvSpPr>
        <p:spPr>
          <a:xfrm>
            <a:off x="274320" y="1673352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916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1600200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2688" y="16733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schematic — extracted all 33 components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130552"/>
            <a:ext cx="0" cy="274320"/>
          </a:xfrm>
          <a:prstGeom prst="line">
            <a:avLst/>
          </a:prstGeom>
          <a:noFill/>
          <a:ln w="19050">
            <a:solidFill>
              <a:srgbClr val="1565C0"/>
            </a:solidFill>
            <a:prstDash val="dot"/>
          </a:ln>
        </p:spPr>
      </p:sp>
      <p:sp>
        <p:nvSpPr>
          <p:cNvPr id="14" name="Shape 12"/>
          <p:cNvSpPr/>
          <p:nvPr/>
        </p:nvSpPr>
        <p:spPr>
          <a:xfrm>
            <a:off x="274320" y="249631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146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2423160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2688" y="24963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BOM vs. schematic — identified 5 issues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953512"/>
            <a:ext cx="0" cy="274320"/>
          </a:xfrm>
          <a:prstGeom prst="line">
            <a:avLst/>
          </a:prstGeom>
          <a:noFill/>
          <a:ln w="19050">
            <a:solidFill>
              <a:srgbClr val="F59E0B"/>
            </a:solidFill>
            <a:prstDash val="dot"/>
          </a:ln>
        </p:spPr>
      </p:sp>
      <p:sp>
        <p:nvSpPr>
          <p:cNvPr id="19" name="Shape 17"/>
          <p:cNvSpPr/>
          <p:nvPr/>
        </p:nvSpPr>
        <p:spPr>
          <a:xfrm>
            <a:off x="274320" y="3319272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3375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3246120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32688" y="33192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availability on Mouser, DigiKey, LCSC, Aisler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776472"/>
            <a:ext cx="0" cy="274320"/>
          </a:xfrm>
          <a:prstGeom prst="line">
            <a:avLst/>
          </a:prstGeom>
          <a:noFill/>
          <a:ln w="19050">
            <a:solidFill>
              <a:srgbClr val="1E88E5"/>
            </a:solidFill>
            <a:prstDash val="dot"/>
          </a:ln>
        </p:spPr>
      </p:sp>
      <p:sp>
        <p:nvSpPr>
          <p:cNvPr id="24" name="Shape 22"/>
          <p:cNvSpPr/>
          <p:nvPr/>
        </p:nvSpPr>
        <p:spPr>
          <a:xfrm>
            <a:off x="274320" y="414223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1605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069080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2688" y="41422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component substitutions &amp; part number updates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850392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868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94960" y="777240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04688" y="85039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updated BOM — submitted to PCBWay for quotation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74920" y="1307592"/>
            <a:ext cx="0" cy="274320"/>
          </a:xfrm>
          <a:prstGeom prst="line">
            <a:avLst/>
          </a:prstGeom>
          <a:noFill/>
          <a:ln w="19050">
            <a:solidFill>
              <a:srgbClr val="00897B"/>
            </a:solidFill>
            <a:prstDash val="dot"/>
          </a:ln>
        </p:spPr>
      </p:sp>
      <p:sp>
        <p:nvSpPr>
          <p:cNvPr id="33" name="Shape 31"/>
          <p:cNvSpPr/>
          <p:nvPr/>
        </p:nvSpPr>
        <p:spPr>
          <a:xfrm>
            <a:off x="4846320" y="1673352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69164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394960" y="1600200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504688" y="16733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PCBWay quote: $230.30 / 3 sets, 26–28 day lead time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74920" y="2130552"/>
            <a:ext cx="0" cy="274320"/>
          </a:xfrm>
          <a:prstGeom prst="line">
            <a:avLst/>
          </a:prstGeom>
          <a:noFill/>
          <a:ln w="19050">
            <a:solidFill>
              <a:srgbClr val="00897B"/>
            </a:solidFill>
            <a:prstDash val="dot"/>
          </a:ln>
        </p:spPr>
      </p:sp>
      <p:sp>
        <p:nvSpPr>
          <p:cNvPr id="38" name="Shape 36"/>
          <p:cNvSpPr/>
          <p:nvPr/>
        </p:nvSpPr>
        <p:spPr>
          <a:xfrm>
            <a:off x="4846320" y="2496312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5146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94960" y="2423160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504688" y="249631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project on Aisler (HSHL workspace)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074920" y="2953512"/>
            <a:ext cx="0" cy="274320"/>
          </a:xfrm>
          <a:prstGeom prst="line">
            <a:avLst/>
          </a:prstGeom>
          <a:noFill/>
          <a:ln w="19050">
            <a:solidFill>
              <a:srgbClr val="00897B"/>
            </a:solidFill>
            <a:prstDash val="dot"/>
          </a:ln>
        </p:spPr>
      </p:sp>
      <p:sp>
        <p:nvSpPr>
          <p:cNvPr id="43" name="Shape 41"/>
          <p:cNvSpPr/>
          <p:nvPr/>
        </p:nvSpPr>
        <p:spPr>
          <a:xfrm>
            <a:off x="4846320" y="3319272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33375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5394960" y="3246120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04688" y="33192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all available components in Aisler (52/57)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74920" y="3776472"/>
            <a:ext cx="0" cy="274320"/>
          </a:xfrm>
          <a:prstGeom prst="line">
            <a:avLst/>
          </a:prstGeom>
          <a:noFill/>
          <a:ln w="19050">
            <a:solidFill>
              <a:srgbClr val="00897B"/>
            </a:solidFill>
            <a:prstDash val="dot"/>
          </a:ln>
        </p:spPr>
      </p:sp>
      <p:sp>
        <p:nvSpPr>
          <p:cNvPr id="48" name="Shape 46"/>
          <p:cNvSpPr/>
          <p:nvPr/>
        </p:nvSpPr>
        <p:spPr>
          <a:xfrm>
            <a:off x="4846320" y="4142232"/>
            <a:ext cx="457200" cy="457200"/>
          </a:xfrm>
          <a:prstGeom prst="ellipse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41605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394960" y="4069080"/>
            <a:ext cx="3840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504688" y="41422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 — PCB fabrication &amp; assembly placed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2B6E"/>
          </a:solidFill>
          <a:ln w="12700">
            <a:solidFill>
              <a:srgbClr val="0D2B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Smartband V001  |  HSHL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0"/>
          </a:xfrm>
          <a:prstGeom prst="line">
            <a:avLst/>
          </a:prstGeom>
          <a:noFill/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0 — Deliverables Completed: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3441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PCB schematic review (33 components)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883664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836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18562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validation &amp; 5-item correction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395728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95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23682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communications (PCBWay + Aisler)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07792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07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2880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BOM submitted &amp; quotation received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419856"/>
            <a:ext cx="201168" cy="20116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33924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order confirmed — 3 sets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74920" y="914400"/>
            <a:ext cx="3840480" cy="3749040"/>
          </a:xfrm>
          <a:prstGeom prst="rect">
            <a:avLst/>
          </a:prstGeom>
          <a:solidFill>
            <a:srgbClr val="0A2050">
              <a:alpha val="80000"/>
            </a:srgbClr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Steps: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Await PCB delivery (26–28 day lead time)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19293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Inspect &amp; test assembled boards on receipt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4414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up Code Composer Studio (CCS) for CC2640R2F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95351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Flash firmware — validate BLE communication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4655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Begin sensor integration &amp; data acquisition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3977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Task 2: Firmware analysis &amp; development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88E5">
              <a:alpha val="40000"/>
            </a:srgbClr>
          </a:solidFill>
          <a:ln w="12700">
            <a:solidFill>
              <a:srgbClr val="1E88E5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HSHL Internship | Masrur | Ref: Pinheiro et al. (2022), Frontiers in Human Neuroscience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Smartband V001 — PCB &amp; BOM Analysis</dc:title>
  <dc:subject>PptxGenJS Presentation</dc:subject>
  <dc:creator>Masrur</dc:creator>
  <cp:lastModifiedBy>Masrur</cp:lastModifiedBy>
  <cp:revision>1</cp:revision>
  <dcterms:created xsi:type="dcterms:W3CDTF">2026-06-03T09:12:27Z</dcterms:created>
  <dcterms:modified xsi:type="dcterms:W3CDTF">2026-06-03T09:12:27Z</dcterms:modified>
</cp:coreProperties>
</file>