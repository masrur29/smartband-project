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069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20 papers analysed to support the Smartband V001 Rev2 internship at HSHL.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Pinheiro 2022 paper is the core reference — all 20 analysed papers either support, compare, or extend this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Conclude: Rev2 already addresses most gaps identified in the literature. The three remaining priorities are cuffless BP, hydration monitoring via BioZ, and FHIR device authentication.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2E75B6">
              <a:alpha val="3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548640"/>
            <a:ext cx="2286000" cy="2286000"/>
          </a:xfrm>
          <a:prstGeom prst="ellipse">
            <a:avLst/>
          </a:prstGeom>
          <a:solidFill>
            <a:srgbClr val="0D8A8A">
              <a:alpha val="40000"/>
            </a:srgbClr>
          </a:solidFill>
          <a:ln w="12700">
            <a:solidFill>
              <a:srgbClr val="0D8A8A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E75B6">
              <a:alpha val="5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 &amp; Literature 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Rev2 — HSHL Engineering Internship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0398" y="340614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5387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Masrur Jamil Prochchhod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79192" y="340614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 sz="1100" b="1" dirty="0" smtClean="0"/>
          </a:p>
          <a:p>
            <a:r>
              <a:rPr lang="de-DE" sz="1100" b="1" dirty="0" smtClean="0"/>
              <a:t>Matriculation No-22010028</a:t>
            </a:r>
            <a:endParaRPr lang="en-GB" sz="1100" b="1" dirty="0"/>
          </a:p>
        </p:txBody>
      </p:sp>
      <p:sp>
        <p:nvSpPr>
          <p:cNvPr id="13" name="Text 11"/>
          <p:cNvSpPr/>
          <p:nvPr/>
        </p:nvSpPr>
        <p:spPr>
          <a:xfrm>
            <a:off x="2743200" y="35387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27448" y="340614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35387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340614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80000"/>
            </a:srgbClr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6016" y="35387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Date-16/06/2026</a:t>
            </a:r>
            <a:endParaRPr lang="en-US" sz="1100" dirty="0"/>
          </a:p>
        </p:txBody>
      </p:sp>
      <p:sp>
        <p:nvSpPr>
          <p:cNvPr id="20" name="TextBox 19"/>
          <p:cNvSpPr txBox="1"/>
          <p:nvPr/>
        </p:nvSpPr>
        <p:spPr>
          <a:xfrm flipH="1">
            <a:off x="4852784" y="3573518"/>
            <a:ext cx="17174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Giovanni (</a:t>
            </a:r>
            <a:r>
              <a:rPr lang="en-US" sz="11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giovannix</a:t>
            </a: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GB" sz="11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Paper Being Analysed — Pinheiro et al. (2022)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502920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686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Multi-Sensor Wearable Health Device Framework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Real-Time Monitoring of Elderly Patients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Frontiers in Human Neuroscience · Vol. 15 · Article 750591 · January 2022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Pinheiro GPM, Miranda RK, Praciano BJG, Santos GA, Mendonça FLL, Javidi E, da Costa JPJ &amp; de Sousa RT Jr.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4572000" cy="0"/>
          </a:xfrm>
          <a:prstGeom prst="line">
            <a:avLst/>
          </a:prstGeom>
          <a:noFill/>
          <a:ln w="6350">
            <a:solidFill>
              <a:srgbClr val="E8ED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2316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 complete healthcare framework combining a low-cost multi-sensor wristband, a high-resolution ESPRIT-based heart rate algorithm, and a 5-layer cloud monitoring application. Target cost: $25. Target population: elderly patients requiring contactless remote monitoring.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777240"/>
            <a:ext cx="3337560" cy="1188720"/>
          </a:xfrm>
          <a:prstGeom prst="roundRect">
            <a:avLst>
              <a:gd name="adj" fmla="val 9231"/>
            </a:avLst>
          </a:prstGeom>
          <a:solidFill>
            <a:srgbClr val="D6E4F0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23560" y="8686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🔧  PILLAR 1 — HARDWARE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23560" y="116128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CC2640R2F MCU · MAX30102 PPG · MAX30205 Temp · LIS331DLTR IMU · 4-layer PCB · $25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0" y="2075688"/>
            <a:ext cx="3337560" cy="1188720"/>
          </a:xfrm>
          <a:prstGeom prst="roundRect">
            <a:avLst>
              <a:gd name="adj" fmla="val 9231"/>
            </a:avLst>
          </a:prstGeom>
          <a:solidFill>
            <a:srgbClr val="D6F0E0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21671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🧮  PILLAR 2 — ALGORITHM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23560" y="2459736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ESPRIT-based HR estimation via Hilbert Transform · outperforms FFT, autocorrelation, zero-crossing, peak detection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0" y="3374136"/>
            <a:ext cx="3337560" cy="1188720"/>
          </a:xfrm>
          <a:prstGeom prst="roundRect">
            <a:avLst>
              <a:gd name="adj" fmla="val 9231"/>
            </a:avLst>
          </a:prstGeom>
          <a:solidFill>
            <a:srgbClr val="FDE8D8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23560" y="346557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5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☁️  PILLAR 3 — SOFTWARE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23560" y="375818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monitoring app · REST API &lt;213ms · Multi-patient · Multi-worker cloud dashboard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&amp; Paper Categories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papers grouped by role and relevance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20 Papers Are Grouped by Category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103120" cy="1783080"/>
          </a:xfrm>
          <a:prstGeom prst="roundRect">
            <a:avLst>
              <a:gd name="adj" fmla="val 6154"/>
            </a:avLst>
          </a:prstGeom>
          <a:solidFill>
            <a:srgbClr val="D6E4F0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3441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/ IoT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8470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Papers: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74320" y="2075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 Firebase +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77440" y="777240"/>
            <a:ext cx="2103120" cy="1783080"/>
          </a:xfrm>
          <a:prstGeom prst="roundRect">
            <a:avLst>
              <a:gd name="adj" fmla="val 6154"/>
            </a:avLst>
          </a:prstGeom>
          <a:solidFill>
            <a:srgbClr val="D6F0E0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8686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68880" y="13441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AI &amp;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A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8470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Papers: 2, 8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468880" y="2075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nRF5340 edge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0" y="777240"/>
            <a:ext cx="2103120" cy="1783080"/>
          </a:xfrm>
          <a:prstGeom prst="roundRect">
            <a:avLst>
              <a:gd name="adj" fmla="val 6154"/>
            </a:avLst>
          </a:prstGeom>
          <a:solidFill>
            <a:srgbClr val="FDE8D8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8686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🔩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13441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5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Hardware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C05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Platforms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18470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Papers: 3, 14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63440" y="2075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 multi-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bus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66560" y="777240"/>
            <a:ext cx="2103120" cy="1783080"/>
          </a:xfrm>
          <a:prstGeom prst="roundRect">
            <a:avLst>
              <a:gd name="adj" fmla="val 6154"/>
            </a:avLst>
          </a:prstGeom>
          <a:solidFill>
            <a:srgbClr val="D0EEEE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8686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👴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58000" y="13441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/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0D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Elderly Studies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18470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Papers: 4, 9, 11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858000" y="2075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 elderly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2880" y="2633472"/>
            <a:ext cx="2103120" cy="1783080"/>
          </a:xfrm>
          <a:prstGeom prst="roundRect">
            <a:avLst>
              <a:gd name="adj" fmla="val 6154"/>
            </a:avLst>
          </a:prstGeom>
          <a:solidFill>
            <a:srgbClr val="E8EDF3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27249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👟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74320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A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Gait &amp;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6B7A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Biomechanics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3703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Papers: 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4320" y="3931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gait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377440" y="2633472"/>
            <a:ext cx="2103120" cy="1783080"/>
          </a:xfrm>
          <a:prstGeom prst="roundRect">
            <a:avLst>
              <a:gd name="adj" fmla="val 6154"/>
            </a:avLst>
          </a:prstGeom>
          <a:solidFill>
            <a:srgbClr val="D6E4F0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468880" y="27249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2468880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Multi-Modal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Sensing Reviews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68880" y="3703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Papers: 6, 7, 13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468880" y="3931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Rev3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0" y="2633472"/>
            <a:ext cx="2103120" cy="1783080"/>
          </a:xfrm>
          <a:prstGeom prst="roundRect">
            <a:avLst>
              <a:gd name="adj" fmla="val 6154"/>
            </a:avLst>
          </a:prstGeom>
          <a:solidFill>
            <a:srgbClr val="D6F0E0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63440" y="27249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663440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/ AI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A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Health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3703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Papers: 15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63440" y="3931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766560" y="2633472"/>
            <a:ext cx="2103120" cy="1783080"/>
          </a:xfrm>
          <a:prstGeom prst="roundRect">
            <a:avLst>
              <a:gd name="adj" fmla="val 6154"/>
            </a:avLst>
          </a:prstGeom>
          <a:solidFill>
            <a:srgbClr val="FDE8D8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58000" y="27249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💊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858000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5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PPG Theory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C05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HR Algorithms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0" y="3703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Papers: 17–20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858000" y="3931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ESPRIT algorithm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800" dirty="0"/>
          </a:p>
        </p:txBody>
      </p:sp>
      <p:pic>
        <p:nvPicPr>
          <p:cNvPr id="44" name="Picture 43" descr="Checklist: Ethical Use of &lt;strong&gt;AI&lt;/strong&gt; – Educational Technology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554" y="906437"/>
            <a:ext cx="352231" cy="352231"/>
          </a:xfrm>
          <a:prstGeom prst="rect">
            <a:avLst/>
          </a:prstGeom>
        </p:spPr>
      </p:pic>
      <p:pic>
        <p:nvPicPr>
          <p:cNvPr id="45" name="Picture 44" descr="Free github-pages CNAME over SSL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4740" y="2724912"/>
            <a:ext cx="344893" cy="3448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Paper Analyses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1–20: what each contributes, its limitations, and Rev2 relevance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Papers 1 &amp; 2 — Individual Analysis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5196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32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86968" y="82296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1F3864">
              <a:alpha val="18000"/>
            </a:srgbClr>
          </a:solidFill>
          <a:ln w="6350">
            <a:solidFill>
              <a:srgbClr val="1F3864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841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IOT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" y="1216152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Syed et al. (2026) — AWS Cloud Patient Monitoring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" y="18470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8328" y="2029968"/>
            <a:ext cx="4050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AWS IoT pipeline (IoT Core → Lambda → DynamoDB). Real-time vital sign monitoring for homecare patients with threshold-based alert escalation.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" y="301752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" y="3200400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 on sensor data — purely threshold-based alerts. AWS vendor lock-in. No clinical RMSE validation.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" y="3813048"/>
            <a:ext cx="4032504" cy="896112"/>
          </a:xfrm>
          <a:prstGeom prst="roundRect">
            <a:avLst>
              <a:gd name="adj" fmla="val 8163"/>
            </a:avLst>
          </a:prstGeom>
          <a:solidFill>
            <a:srgbClr val="D6F0E0"/>
          </a:solidFill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9768" y="4059936"/>
            <a:ext cx="38496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 Firebase Firestore mirrors the AWS pipeline. The three-tier architecture (device → Pi gateway → cloud) directly implements this paper's design pattern.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749808"/>
            <a:ext cx="425196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8229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32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21808" y="82296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1A6B3C">
              <a:alpha val="18000"/>
            </a:srgbClr>
          </a:solidFill>
          <a:ln w="6350">
            <a:solidFill>
              <a:srgbClr val="1A6B3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0096" y="841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73168" y="1216152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Lhakshanaa et al. (2025) — Baseline-Adaptive Edge AI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73168" y="18470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73168" y="2029968"/>
            <a:ext cx="4050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anomaly detection accuracy, &lt;1 second end-to-end alert latency. Adaptive per-patient baselines instead of fixed clinical thresholds.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301752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73168" y="3200400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processor too weak for ESPRIT-class algorithms. Lab-only validation, no real-world elderly testing.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73168" y="3813048"/>
            <a:ext cx="4032504" cy="896112"/>
          </a:xfrm>
          <a:prstGeom prst="roundRect">
            <a:avLst>
              <a:gd name="adj" fmla="val 8163"/>
            </a:avLst>
          </a:prstGeom>
          <a:solidFill>
            <a:srgbClr val="D6F0E0"/>
          </a:solidFill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64608" y="4059936"/>
            <a:ext cx="38496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nRF5340 in Rev2 far exceeds ESP32 — enables on-device adaptive alerting. The baseline-adaptive concept directly motivates Rev2's dashboard personalisation.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Papers 3 &amp; 4 — Individual Analysis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5196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32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86968" y="82296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0D8A8A">
              <a:alpha val="18000"/>
            </a:srgbClr>
          </a:solidFill>
          <a:ln w="6350">
            <a:solidFill>
              <a:srgbClr val="0D8A8A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841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" y="1216152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Xiao et al. (2024) — Universal Multi-Sensor Readout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" y="18470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8328" y="2029968"/>
            <a:ext cx="4050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wireless system reading ANY flexible sensor type (resistive, capacitive, piezoelectric). Modular architecture for heterogeneous sensor arrays.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" y="301752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" y="3200400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Research-grade only. No clinical outcomes. Form factor not optimised for daily elderly wear.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" y="3813048"/>
            <a:ext cx="4032504" cy="896112"/>
          </a:xfrm>
          <a:prstGeom prst="roundRect">
            <a:avLst>
              <a:gd name="adj" fmla="val 8163"/>
            </a:avLst>
          </a:prstGeom>
          <a:solidFill>
            <a:srgbClr val="D6F0E0"/>
          </a:solidFill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9768" y="4059936"/>
            <a:ext cx="38496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Rev2's sensor bus (MAX30102 on I2C, MAX30001 on SPI, ICM-42688-P on SPI, ICS-43434 on I2S) is exactly the heterogeneous multi-sensor problem this paper addresses.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749808"/>
            <a:ext cx="425196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8229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32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21808" y="82296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C05000">
              <a:alpha val="18000"/>
            </a:srgbClr>
          </a:solidFill>
          <a:ln w="6350">
            <a:solidFill>
              <a:srgbClr val="C05000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0096" y="841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73168" y="1216152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Donahue (2024) — Wearable Accelerometry &amp; Cognition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73168" y="18470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73168" y="2029968"/>
            <a:ext cx="4050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variability (diversity of movement patterns) predicts cognitive decline with OR=2.23 per SD decrease — outperforms raw step count. Rapid lung function decline → 84% higher dementia risk.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301752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73168" y="3200400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accelerometers only. Activity variability not yet standardised clinically. No wearable deployment with elderly.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73168" y="3813048"/>
            <a:ext cx="4032504" cy="896112"/>
          </a:xfrm>
          <a:prstGeom prst="roundRect">
            <a:avLst>
              <a:gd name="adj" fmla="val 8163"/>
            </a:avLst>
          </a:prstGeom>
          <a:solidFill>
            <a:srgbClr val="D6F0E0"/>
          </a:solidFill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64608" y="4059936"/>
            <a:ext cx="38496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ICM-42688-P IMU in Rev2 captures the high-quality triaxial data needed. Activity variability metric can be added to Rev2 firmware as a zero-hardware-cost cognitive screening feature.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Papers 5 &amp; 6 — Individual Analysis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5196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32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86968" y="82296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2E75B6">
              <a:alpha val="18000"/>
            </a:srgbClr>
          </a:solidFill>
          <a:ln w="6350">
            <a:solidFill>
              <a:srgbClr val="2E75B6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841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" y="1216152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Huang (2024) — BLE Smart Insoles &amp; Gait Analysis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" y="18470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8328" y="2029968"/>
            <a:ext cx="4050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16-FSR pressure sensor insoles on nRF52840 (predecessor to nRF5340). GAN-based personalised plantar pressure models. BLE coexistence techniques for multi-device arrays.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" y="301752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" y="3200400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insole device from wristband. GAN personalisation requires data collection sessions. No elderly fall-risk clinical validation.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" y="3813048"/>
            <a:ext cx="4032504" cy="896112"/>
          </a:xfrm>
          <a:prstGeom prst="roundRect">
            <a:avLst>
              <a:gd name="adj" fmla="val 8163"/>
            </a:avLst>
          </a:prstGeom>
          <a:solidFill>
            <a:srgbClr val="D6F0E0"/>
          </a:solidFill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9768" y="4059936"/>
            <a:ext cx="38496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nRF52840 → nRF5340 migration directly applicable. BLE coexistence management techniques are immediately relevant to Rev2 BLE 5.3 implementation.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749808"/>
            <a:ext cx="425196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8229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32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21808" y="82296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1F3864">
              <a:alpha val="18000"/>
            </a:srgbClr>
          </a:solidFill>
          <a:ln w="6350">
            <a:solidFill>
              <a:srgbClr val="1F3864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0096" y="841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73168" y="1216152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Guarnaccia et al. (2026) — Convergent Sensing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73168" y="18470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73168" y="2029968"/>
            <a:ext cx="4050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+ environmental multi-modal sensing produces composite health indices (stress, fitness, comfort). Context is essential to disambiguate physiological signals — same elevated HR can mean exercise, anxiety, or arrhythmia.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301752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73168" y="3200400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indices not yet clinically validated. Environmental MEMS sensors have stability issues for daily wear.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73168" y="3813048"/>
            <a:ext cx="4032504" cy="896112"/>
          </a:xfrm>
          <a:prstGeom prst="roundRect">
            <a:avLst>
              <a:gd name="adj" fmla="val 8163"/>
            </a:avLst>
          </a:prstGeom>
          <a:solidFill>
            <a:srgbClr val="D6F0E0"/>
          </a:solidFill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64608" y="4059936"/>
            <a:ext cx="38496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 BMP390L barometric pressure sensor begins convergent sensing. Future: adding gas/air-quality MEMS for full environmental context.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Papers 7 &amp; 8 — Individual Analysis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5196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32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86968" y="82296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0D8A8A">
              <a:alpha val="18000"/>
            </a:srgbClr>
          </a:solidFill>
          <a:ln w="6350">
            <a:solidFill>
              <a:srgbClr val="0D8A8A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841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" y="1216152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Kazanskiy et al. (2025) — Lab-on-Chip Biosensors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" y="18470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8328" y="2029968"/>
            <a:ext cx="4050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Miniaturised analytical processes for continuous biochemical sensing: glucose, lactate, hormones from sweat. Flexible rigid-flex PCB fabrication techniques. Future: wearable blood analysis without blood draws.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" y="301752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" y="3200400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Research-grade only. Long-term sensor stability &lt;7 days. Manufacturing costs prohibitive for &lt;$30 devices.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" y="3813048"/>
            <a:ext cx="4032504" cy="896112"/>
          </a:xfrm>
          <a:prstGeom prst="roundRect">
            <a:avLst>
              <a:gd name="adj" fmla="val 8163"/>
            </a:avLst>
          </a:prstGeom>
          <a:solidFill>
            <a:srgbClr val="D6F0E0"/>
          </a:solidFill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9768" y="4059936"/>
            <a:ext cx="38496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Rev3 future trajectory. Current Rev2 FHIR R4 + Firebase infrastructure accommodates additional biochemical data streams without architectural change.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749808"/>
            <a:ext cx="425196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8229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32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21808" y="82296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1A6B3C">
              <a:alpha val="18000"/>
            </a:srgbClr>
          </a:solidFill>
          <a:ln w="6350">
            <a:solidFill>
              <a:srgbClr val="1A6B3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0096" y="841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SW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73168" y="1216152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Toptsis et al. (2026) — Embedded SW Architecture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73168" y="18470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73168" y="2029968"/>
            <a:ext cx="4050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RTOS-based modular architectures outperform bare-metal for multi-sensor integration. Duty cycling, adaptive sampling, and load switching are the key battery management strategies.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301752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73168" y="3200400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Architecture-focused only. No clinical performance benchmarks. Security architectures not deeply implemented.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73168" y="3813048"/>
            <a:ext cx="4032504" cy="896112"/>
          </a:xfrm>
          <a:prstGeom prst="roundRect">
            <a:avLst>
              <a:gd name="adj" fmla="val 8163"/>
            </a:avLst>
          </a:prstGeom>
          <a:solidFill>
            <a:srgbClr val="D6F0E0"/>
          </a:solidFill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64608" y="4059936"/>
            <a:ext cx="38496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 Zephyr RTOS on nRF5340 is exactly this architecture. TPS22918 load switches implement duty-cycling. This review validates every major Rev2 embedded software decision.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Papers 9 &amp; 10 — Individual Analysis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5196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32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86968" y="82296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C05000">
              <a:alpha val="18000"/>
            </a:srgbClr>
          </a:solidFill>
          <a:ln w="6350">
            <a:solidFill>
              <a:srgbClr val="C05000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841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" y="1216152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Huang S. (2024) — Wearables for Elderly Safety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" y="18470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8328" y="2029968"/>
            <a:ext cx="4050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93.6% of elderly 60+ have at least one chronic condition (98.5% at 80+). Elderly-specific usability is the #1 deployment barrier — more important than technical accuracy.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" y="301752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" y="3200400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review only. No controlled trial. Long-term compliance data (&gt;3 months) limited.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" y="3813048"/>
            <a:ext cx="4032504" cy="896112"/>
          </a:xfrm>
          <a:prstGeom prst="roundRect">
            <a:avLst>
              <a:gd name="adj" fmla="val 8163"/>
            </a:avLst>
          </a:prstGeom>
          <a:solidFill>
            <a:srgbClr val="D6F0E0"/>
          </a:solidFill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9768" y="4059936"/>
            <a:ext cx="38496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Rev2's high-contrast OLED, DRV2605L haptic alerts, and SB- Band ID system-integrated registration directly address the usability barriers this paper identifies.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749808"/>
            <a:ext cx="425196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8229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32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21808" y="82296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1F3864">
              <a:alpha val="18000"/>
            </a:srgbClr>
          </a:solidFill>
          <a:ln w="6350">
            <a:solidFill>
              <a:srgbClr val="1F3864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0096" y="841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IOT/AI ARCHITECTURE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73168" y="1216152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Shumba et al. (2022) — Three-Tier Edge Architecture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73168" y="18470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73168" y="2029968"/>
            <a:ext cx="4050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hierarchy: device (&lt;1ms alerts) → edge gateway (&lt;100ms patterns) → cloud (analytics + ML). Pure cloud-to-device latency is too slow for life-critical alerts.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301752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73168" y="3200400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architecture only — no clinical prototype. Flexible piezoelectric sensors remain research-grade.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73168" y="3813048"/>
            <a:ext cx="4032504" cy="896112"/>
          </a:xfrm>
          <a:prstGeom prst="roundRect">
            <a:avLst>
              <a:gd name="adj" fmla="val 8163"/>
            </a:avLst>
          </a:prstGeom>
          <a:solidFill>
            <a:srgbClr val="D6F0E0"/>
          </a:solidFill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64608" y="4059936"/>
            <a:ext cx="38496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 already implements this exactly: nRF5340 (device) → Raspberry Pi 5 (edge) → Firebase (cloud). This paper validates Rev2's entire distributed architecture.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Papers 11 &amp; 12 — Individual Analysis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5196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32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86968" y="82296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1A6B3C">
              <a:alpha val="18000"/>
            </a:srgbClr>
          </a:solidFill>
          <a:ln w="6350">
            <a:solidFill>
              <a:srgbClr val="1A6B3C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841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" y="1216152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 et al. (2025) — IoT for Diabetic Elderly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" y="18470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8328" y="2029968"/>
            <a:ext cx="4050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29-paper systematic review. FHIR R4 explicitly recommended for IoT device interoperability. CGMs + smart dispensers significantly improve glycaemic control. Only 6/29 systems designed for elderly.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" y="301752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" y="3200400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study size ~40 participants. Follow-up typically &lt;6 months. Device interoperability remains unsolved.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" y="3813048"/>
            <a:ext cx="4032504" cy="896112"/>
          </a:xfrm>
          <a:prstGeom prst="roundRect">
            <a:avLst>
              <a:gd name="adj" fmla="val 8163"/>
            </a:avLst>
          </a:prstGeom>
          <a:solidFill>
            <a:srgbClr val="D6F0E0"/>
          </a:solidFill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9768" y="4059936"/>
            <a:ext cx="38496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validates Rev2's FHIR R4 implementation. Future: CGM API integration (Dexcom, FreeStyle Libre) for diabetes monitoring in the hospital dashboard.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749808"/>
            <a:ext cx="425196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8229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32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21808" y="82296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6B7A8D">
              <a:alpha val="18000"/>
            </a:srgbClr>
          </a:solidFill>
          <a:ln w="6350">
            <a:solidFill>
              <a:srgbClr val="6B7A8D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0096" y="841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(METHOD)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73168" y="1216152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Koning &amp; Jamshidnejad (2023) — Fuzzy Logic + MPC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73168" y="18470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73168" y="2029968"/>
            <a:ext cx="4050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combination of Model Predictive Control (formal optimisation) + Fuzzy Logic (human heuristics) for decision-making under sensor uncertainty. Better than either approach alone.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301752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73168" y="3200400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context — requires significant adaptation for physiological signal processing.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73168" y="3813048"/>
            <a:ext cx="4032504" cy="896112"/>
          </a:xfrm>
          <a:prstGeom prst="roundRect">
            <a:avLst>
              <a:gd name="adj" fmla="val 8163"/>
            </a:avLst>
          </a:prstGeom>
          <a:solidFill>
            <a:srgbClr val="D6F0E0"/>
          </a:solidFill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64608" y="4059936"/>
            <a:ext cx="38496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to Rev2 alert logic: fuzzy logic on top of ESPRIT-estimated HR produces interpretable, patient-adaptive clinical alerts instead of rigid thresholds.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Papers 13 &amp; 14 — Individual Analysis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5196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32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86968" y="82296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0D8A8A">
              <a:alpha val="18000"/>
            </a:srgbClr>
          </a:solidFill>
          <a:ln w="6350">
            <a:solidFill>
              <a:srgbClr val="0D8A8A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841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SENSOR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" y="1216152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Sebar et al. (2025) — Wearable Hydration Monitoring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" y="18470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8328" y="2029968"/>
            <a:ext cx="4050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Inkjet-printed interdigitated electrode sensors on polyimide substrate. EIS impedance at 199.5 Hz correlates linearly with skin hydration. Validates bioelectrical impedance for dehydration screening.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" y="301752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" y="3200400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vitro validation only — no human data. Sweat interference not characterised. Readout circuit not yet miniaturised.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" y="3813048"/>
            <a:ext cx="4032504" cy="896112"/>
          </a:xfrm>
          <a:prstGeom prst="roundRect">
            <a:avLst>
              <a:gd name="adj" fmla="val 8163"/>
            </a:avLst>
          </a:prstGeom>
          <a:solidFill>
            <a:srgbClr val="D6F0E0"/>
          </a:solidFill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9768" y="4059936"/>
            <a:ext cx="38496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MAX30001 in Rev2 has BioZ mode for bioelectrical impedance analysis. Hydration monitoring is achievable with zero new hardware — a pure firmware enhancement.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749808"/>
            <a:ext cx="425196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8229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32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21808" y="82296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2E75B6">
              <a:alpha val="18000"/>
            </a:srgbClr>
          </a:solidFill>
          <a:ln w="6350">
            <a:solidFill>
              <a:srgbClr val="2E75B6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0096" y="841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HARDWARE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73168" y="1216152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Alkhoury et al. (2026) — TinZr Open-Source Platform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73168" y="18470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73168" y="2029968"/>
            <a:ext cx="4050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25×25mm open-source ESP32-C3 wearable platform. Wi-Fi + BLE + IMU + microSD. All design files on GitHub. TinZrConnect Arduino library for rapid sensor integration.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301752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73168" y="3200400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 too weak for real-time ESPRIT. No regulatory compliance addressed. Wi-Fi consumes too much power for continuous monitoring.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73168" y="3813048"/>
            <a:ext cx="4032504" cy="896112"/>
          </a:xfrm>
          <a:prstGeom prst="roundRect">
            <a:avLst>
              <a:gd name="adj" fmla="val 8163"/>
            </a:avLst>
          </a:prstGeom>
          <a:solidFill>
            <a:srgbClr val="D6F0E0"/>
          </a:solidFill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64608" y="4059936"/>
            <a:ext cx="38496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TinZr's open-source philosophy aligns with Prof. Giovanni's GitHub approach. Rev2 firmware should publish similarly. TinZrConnect API architecture is a model for Rev2 nRF5340 firmware API.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Papers 15 &amp; 16 — Individual Analysis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5196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32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86968" y="82296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1A6B3C">
              <a:alpha val="18000"/>
            </a:srgbClr>
          </a:solidFill>
          <a:ln w="6350">
            <a:solidFill>
              <a:srgbClr val="1A6B3C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841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PREVENTION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" y="1216152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Sharma et al. (2026) — AI Obesity Risk Prediction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" y="18470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8328" y="2029968"/>
            <a:ext cx="4050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classifiers (RF, SVM, decision trees) predict obesity risk from lifestyle data. AI-driven personalised nutrition intervention. Continuous wearable data identified as the critical missing input.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" y="301752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" y="3200400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clinical data only — not continuous wearable monitoring. Models not validated across diverse global populations.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" y="3813048"/>
            <a:ext cx="4032504" cy="896112"/>
          </a:xfrm>
          <a:prstGeom prst="roundRect">
            <a:avLst>
              <a:gd name="adj" fmla="val 8163"/>
            </a:avLst>
          </a:prstGeom>
          <a:solidFill>
            <a:srgbClr val="D6F0E0"/>
          </a:solidFill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9768" y="4059936"/>
            <a:ext cx="38496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 continuous physiological data (HR trends, HRV, activity patterns) is exactly what this review identifies as missing from current AI obesity models. FHIR R4 structures data for AI research pipelines.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749808"/>
            <a:ext cx="425196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8229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32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21808" y="82296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6B7A8D">
              <a:alpha val="18000"/>
            </a:srgbClr>
          </a:solidFill>
          <a:ln w="6350">
            <a:solidFill>
              <a:srgbClr val="6B7A8D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0096" y="841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PROCEEDINGS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73168" y="1216152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ICTIS 2025 Proceedings — Springer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73168" y="18470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73168" y="2029968"/>
            <a:ext cx="4050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proceedings containing Papers 2 &amp; 3. Dedicated chapter on FHIR device authentication for IoT healthcare systems — identifies authentication as the critical missing security layer.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301752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73168" y="3200400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Proceedings papers are short (8–12 pages), preliminary results only.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73168" y="3813048"/>
            <a:ext cx="4032504" cy="896112"/>
          </a:xfrm>
          <a:prstGeom prst="roundRect">
            <a:avLst>
              <a:gd name="adj" fmla="val 8163"/>
            </a:avLst>
          </a:prstGeom>
          <a:solidFill>
            <a:srgbClr val="D6F0E0"/>
          </a:solidFill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64608" y="4059936"/>
            <a:ext cx="38496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device authentication chapter directly addresses a Rev2 security gap. Must be implemented before any real patient data deployment.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Papers 17 &amp; 18 — Individual Analysis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5196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32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86968" y="82296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1F3864">
              <a:alpha val="18000"/>
            </a:srgbClr>
          </a:solidFill>
          <a:ln w="6350">
            <a:solidFill>
              <a:srgbClr val="1F3864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841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THEORY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" y="1216152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Allen (2007) — PPG Signal Model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" y="18470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8328" y="2029968"/>
            <a:ext cx="4050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PPG waveform model: x[n] = A·cos[2πfn + θ] + r[n]. AC component = cardiac pulses. DC component = breathing + autonomic nervous system. Frames HR detection as a frequency estimation problem.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" y="301752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" y="3200400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Pre-dates modern BLE wearables, integrated PPG sensors, and motion artefact methods. Does not address wrist movement noise.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" y="3813048"/>
            <a:ext cx="4032504" cy="896112"/>
          </a:xfrm>
          <a:prstGeom prst="roundRect">
            <a:avLst>
              <a:gd name="adj" fmla="val 8163"/>
            </a:avLst>
          </a:prstGeom>
          <a:solidFill>
            <a:srgbClr val="D6F0E0"/>
          </a:solidFill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9768" y="4059936"/>
            <a:ext cx="38496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Equation 1 of the Pinheiro paper — the foundation of ESPRIT-based HR. Rev2 MAX30102 signal processing pipeline is built directly on Allen's model.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749808"/>
            <a:ext cx="425196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8229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32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21808" y="82296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1A6B3C">
              <a:alpha val="18000"/>
            </a:srgbClr>
          </a:solidFill>
          <a:ln w="6350">
            <a:solidFill>
              <a:srgbClr val="1A6B3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0096" y="841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HR ESTIMATION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73168" y="1216152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Puranik &amp; Morales (2020) — Adaptive NN Filter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73168" y="18470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73168" y="2029968"/>
            <a:ext cx="4050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learns the coupling between accelerometer motion and PPG motion artefact. Dynamically subtracts noise to recover clean cardiac signal. ~3% HR variation from medical reference.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301752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73168" y="3200400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Per-user, per-activity training required. Not generalisable without retraining. Too computationally heavy for CC2640R2F.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73168" y="3813048"/>
            <a:ext cx="4032504" cy="896112"/>
          </a:xfrm>
          <a:prstGeom prst="roundRect">
            <a:avLst>
              <a:gd name="adj" fmla="val 8163"/>
            </a:avLst>
          </a:prstGeom>
          <a:solidFill>
            <a:srgbClr val="D6F0E0"/>
          </a:solidFill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64608" y="4059936"/>
            <a:ext cx="38496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ICM-42688-P IMU in Rev2 provides far higher-quality motion data than LIS331DLTR in Rev1 — directly improves artefact rejection quality. nRF5340 can run real-time adaptive filtering.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Papers 19 &amp; 20 — Individual Analysis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5196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32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86968" y="82296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C05000">
              <a:alpha val="18000"/>
            </a:srgbClr>
          </a:solidFill>
          <a:ln w="6350">
            <a:solidFill>
              <a:srgbClr val="C05000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841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HR ESTIMATION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" y="1216152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Xiong et al. (2017) — PCA + SVM Multi-Channel PPG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" y="18470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8328" y="2029968"/>
            <a:ext cx="4050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→ adaptive filter → SVM on multi-channel wrist PPG. 1.01 BPM RMSE during intense exercise. Spatial diversity from multiple channels improves noise separation.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" y="301752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" y="3200400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multiple PPG channels → higher cost, complexity. SVM needs labelled training data. Multi-channel arrangement increases power consumption.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" y="3813048"/>
            <a:ext cx="4032504" cy="896112"/>
          </a:xfrm>
          <a:prstGeom prst="roundRect">
            <a:avLst>
              <a:gd name="adj" fmla="val 8163"/>
            </a:avLst>
          </a:prstGeom>
          <a:solidFill>
            <a:srgbClr val="D6F0E0"/>
          </a:solidFill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9768" y="4059936"/>
            <a:ext cx="38496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 uses single-channel PPG (MAX30102). Pinheiro shows ESPRIT single-channel ≈ Xiong multi-channel+SVM in most configs. Validates Rev2's simpler hardware choice.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749808"/>
            <a:ext cx="425196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822960"/>
            <a:ext cx="502920" cy="347472"/>
          </a:xfrm>
          <a:prstGeom prst="roundRect">
            <a:avLst>
              <a:gd name="adj" fmla="val 21053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32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21808" y="82296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2E75B6">
              <a:alpha val="18000"/>
            </a:srgbClr>
          </a:solidFill>
          <a:ln w="6350">
            <a:solidFill>
              <a:srgbClr val="2E75B6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0096" y="841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73168" y="1216152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Chung et al. (2020) — CNN + LSTM HR Estimation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73168" y="1847088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73168" y="2029968"/>
            <a:ext cx="4050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layers (local pattern detection) + LSTM layers (temporal tracking) on fused PPG + accelerometer spectra. ~1.5 BPM mean absolute error during exercise. Best-in-class for exercise scenarios.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301752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73168" y="3200400"/>
            <a:ext cx="4050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labelled training data. Cannot run on CC2640R2F (128KB RAM). No power/latency benchmark on embedded hardware.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73168" y="3813048"/>
            <a:ext cx="4032504" cy="896112"/>
          </a:xfrm>
          <a:prstGeom prst="roundRect">
            <a:avLst>
              <a:gd name="adj" fmla="val 8163"/>
            </a:avLst>
          </a:prstGeom>
          <a:solidFill>
            <a:srgbClr val="D6F0E0"/>
          </a:solidFill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858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64608" y="4059936"/>
            <a:ext cx="38496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TinyML target for Rev2. nRF5340 has 512KB RAM + hardware DSP → can run a quantised version. ICM-42688-P provides higher-quality accelerometer inputs than training datasets used.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8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Key Themes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all 20 papers tell us together — and what it means for Rev2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Major Themes Across All 20 Papers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04672"/>
          </a:xfrm>
          <a:prstGeom prst="roundRect">
            <a:avLst>
              <a:gd name="adj" fmla="val 13636"/>
            </a:avLst>
          </a:prstGeom>
          <a:solidFill>
            <a:srgbClr val="D6E4F0"/>
          </a:solidFill>
          <a:ln w="635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869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8229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Intelligence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Next Step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46120" y="82296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2, 8,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34840" y="82296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Three-tier: device (&lt;1ms) → gateway (&lt;100ms) → cloud. Pure cloud is too slow for life-critical alerts. Rev2 Pi gateway is the edge node.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8595360" cy="804672"/>
          </a:xfrm>
          <a:prstGeom prst="roundRect">
            <a:avLst>
              <a:gd name="adj" fmla="val 13636"/>
            </a:avLst>
          </a:prstGeom>
          <a:solidFill>
            <a:srgbClr val="D6F0E0"/>
          </a:solidFill>
          <a:ln w="635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6479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170078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Personalisation Over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Thresholds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1700784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2, 9, 15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34840" y="170078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HR value means different things for different patients. Systems must learn per-patient baselines. Fixed population averages cause false alarms.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505456"/>
            <a:ext cx="8595360" cy="804672"/>
          </a:xfrm>
          <a:prstGeom prst="roundRect">
            <a:avLst>
              <a:gd name="adj" fmla="val 13636"/>
            </a:avLst>
          </a:prstGeom>
          <a:solidFill>
            <a:srgbClr val="D0EEEE"/>
          </a:solidFill>
          <a:ln w="635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4261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257860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FHIR R4 Is the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Standard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257860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10, 11, 16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34840" y="257860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research groups all call for FHIR R4 as the IoT interoperability standard. Rev2 has already implemented it — validated as the correct choice.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83280"/>
            <a:ext cx="8595360" cy="804672"/>
          </a:xfrm>
          <a:prstGeom prst="roundRect">
            <a:avLst>
              <a:gd name="adj" fmla="val 13636"/>
            </a:avLst>
          </a:prstGeom>
          <a:solidFill>
            <a:srgbClr val="FDE8D8"/>
          </a:solidFill>
          <a:ln w="635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204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👴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0120" y="34564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Elderly Usability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05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Key Barrier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6120" y="3456432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9, 11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34840" y="345643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matters more than accuracy for real-world adoption. Large fonts, haptic alerts, system-integrated registration — all in Rev2 already.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261104"/>
            <a:ext cx="8595360" cy="804672"/>
          </a:xfrm>
          <a:prstGeom prst="roundRect">
            <a:avLst>
              <a:gd name="adj" fmla="val 13636"/>
            </a:avLst>
          </a:prstGeom>
          <a:solidFill>
            <a:srgbClr val="E8EDF3"/>
          </a:solidFill>
          <a:ln w="635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39826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60120" y="43342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A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Multi-Modal Sensing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B7A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Vital Signs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46120" y="4334256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6, 7, 13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34840" y="433425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generation: biometric + environmental + biochemical sensing. Rev2 BMP390L starts this journey. MAX30001 BioZ can add hydration — zero new hardware.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Immediate Rev2 Action Items (From Literature)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786384"/>
          </a:xfrm>
          <a:prstGeom prst="roundRect">
            <a:avLst>
              <a:gd name="adj" fmla="val 13953"/>
            </a:avLst>
          </a:prstGeom>
          <a:solidFill>
            <a:srgbClr val="D6E4F0"/>
          </a:solidFill>
          <a:ln w="635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822960"/>
            <a:ext cx="457200" cy="640080"/>
          </a:xfrm>
          <a:prstGeom prst="roundRect">
            <a:avLst>
              <a:gd name="adj" fmla="val 16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4124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822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Cuffless Blood Pressure via PP-Net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1143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13, 20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06240" y="84124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MAX30102 PPG already in Rev2 → add quantised PP-Net neural network on nRF5340. Estimates systolic + diastolic BP. Zero new hardware cost.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618488"/>
            <a:ext cx="8595360" cy="786384"/>
          </a:xfrm>
          <a:prstGeom prst="roundRect">
            <a:avLst>
              <a:gd name="adj" fmla="val 13953"/>
            </a:avLst>
          </a:prstGeom>
          <a:solidFill>
            <a:srgbClr val="D6F0E0"/>
          </a:solidFill>
          <a:ln w="635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691640"/>
            <a:ext cx="457200" cy="640080"/>
          </a:xfrm>
          <a:prstGeom prst="roundRect">
            <a:avLst>
              <a:gd name="adj" fmla="val 16000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7099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Hydration Monitoring via MAX30001 BioZ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" y="2011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0" y="170992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MAX30001 BioZ mode → bioelectrical impedance analysis. Dehydration is a major elderly health risk. Zero new hardware.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487168"/>
            <a:ext cx="8595360" cy="786384"/>
          </a:xfrm>
          <a:prstGeom prst="roundRect">
            <a:avLst>
              <a:gd name="adj" fmla="val 13953"/>
            </a:avLst>
          </a:prstGeom>
          <a:solidFill>
            <a:srgbClr val="D0EEEE"/>
          </a:solidFill>
          <a:ln w="635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560320"/>
            <a:ext cx="457200" cy="640080"/>
          </a:xfrm>
          <a:prstGeom prst="roundRect">
            <a:avLst>
              <a:gd name="adj" fmla="val 16000"/>
            </a:avLst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57860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6112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Baseline-Adaptive Alert Logic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" y="2880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2, 9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0" y="257860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fixed vital sign thresholds in dashboards with per-patient learned baselines from Firestore history. Eliminates false alarm fatigue.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355848"/>
            <a:ext cx="8595360" cy="786384"/>
          </a:xfrm>
          <a:prstGeom prst="roundRect">
            <a:avLst>
              <a:gd name="adj" fmla="val 13953"/>
            </a:avLst>
          </a:prstGeom>
          <a:solidFill>
            <a:srgbClr val="FDE8D8"/>
          </a:solidFill>
          <a:ln w="635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429000"/>
            <a:ext cx="457200" cy="640080"/>
          </a:xfrm>
          <a:prstGeom prst="roundRect">
            <a:avLst>
              <a:gd name="adj" fmla="val 16000"/>
            </a:avLst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44728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6112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Variability Metric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6112" y="3749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06240" y="344728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ICM-42688-P IMU captures 24h movement diversity. OR=2.23 for cognitive decline prediction. Zero hardware cost — pure firmware + dashboard.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224528"/>
            <a:ext cx="8595360" cy="786384"/>
          </a:xfrm>
          <a:prstGeom prst="roundRect">
            <a:avLst>
              <a:gd name="adj" fmla="val 13953"/>
            </a:avLst>
          </a:prstGeom>
          <a:solidFill>
            <a:srgbClr val="E8EDF3"/>
          </a:solidFill>
          <a:ln w="635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4297680"/>
            <a:ext cx="457200" cy="640080"/>
          </a:xfrm>
          <a:prstGeom prst="roundRect">
            <a:avLst>
              <a:gd name="adj" fmla="val 16000"/>
            </a:avLst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31596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96112" y="4297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A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FHIR Device Authentication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6112" y="4617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06240" y="43159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 authentication is the critical missing security layer before real patient data can be used. Must implement before clinical deployment.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 — All 20 Papers at a Glance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266054"/>
              </p:ext>
            </p:extLst>
          </p:nvPr>
        </p:nvGraphicFramePr>
        <p:xfrm>
          <a:off x="228600" y="731520"/>
          <a:ext cx="7772400" cy="4488180"/>
        </p:xfrm>
        <a:graphic>
          <a:graphicData uri="http://schemas.openxmlformats.org/drawingml/2006/table">
            <a:tbl>
              <a:tblPr/>
              <a:tblGrid>
                <a:gridCol w="291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6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46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(Year)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Finding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Rev2 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Syed et al. (2026)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IoT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end-to-end monitoring pipeline, threshold alerts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mirrors AWS architecture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Lhakshanaa (2025)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 accuracy, &lt;1s latency, adaptive baselines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alerts on nRF5340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Xiao et al. (2024)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 multi-sensor wireless readout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Rev2 sensor bus design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Donahue (2024)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variability predicts dementia (OR=2.23)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IMU variability metric in firmware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Huang (2024)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nRF52840 BLE smart insoles, GAN personalisation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 coexistence for nRF5340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Guarnaccia (2026)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Convergent biometric + environmental sensing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BMP390L environmental context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Kazanskiy (2025)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Lab-on-chip for glucose, ECG, neurophysiology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Rev3 biochemical sensors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Toptsis (2026)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SW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RTOS modular architecture best practices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Zephyr RTOS on nRF5340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Huang S. (2024)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93.6% elderly 60+ have comorbidities; usability #1 barrier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OLED + haptic elderly design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Shumba (2022)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Three-tier edge/cloud validated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Rev2 distributed design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et al. (2025)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Sys. Review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FHIR R4 needed for IoT interoperability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Rev2 FHIR implementation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Koning (2023)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Robotics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Fuzzy logic + MPC for uncertain sensors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alert decision engine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Sebar (2025)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EIS hydration monitoring, linear correlation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MAX30001 BioZ hydration mode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Alkhoury (2026)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HW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TinZr: 25mm open-source wearable platform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Rev2 firmware model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Sharma (2026)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obesity prediction needs wearable 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Firestore data for AI pipelines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ICTIS 2025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Proceedings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FHIR device authentication chapter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IoT authentication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Allen (2007)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PPG Theory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x[n]=A·cos[2πfn+θ]+r[n] — PPG waveform model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MAX30102 signal processing base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Puranik (2020)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HR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NN + accel: 3% HR error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ICM-42688-P artefact rejection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Xiong (2017)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HR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PCA+SVM multi-channel: 1.01 BPM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single-channel PPG in Rev2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Chung (2020)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CNN+LSTM: 1.5 BPM, best for exercise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TinyML target for nRF5340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2E75B6">
              <a:alpha val="3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548640"/>
            <a:ext cx="2286000" cy="2286000"/>
          </a:xfrm>
          <a:prstGeom prst="ellipse">
            <a:avLst/>
          </a:prstGeom>
          <a:solidFill>
            <a:srgbClr val="0D8A8A">
              <a:alpha val="40000"/>
            </a:srgbClr>
          </a:solidFill>
          <a:ln w="12700">
            <a:solidFill>
              <a:srgbClr val="0D8A8A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E75B6">
              <a:alpha val="5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 &amp; 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691640"/>
          </a:xfrm>
          <a:prstGeom prst="roundRect">
            <a:avLst>
              <a:gd name="adj" fmla="val 8108"/>
            </a:avLst>
          </a:prstGeom>
          <a:solidFill>
            <a:srgbClr val="D6F0E0"/>
          </a:solidFill>
          <a:ln w="12700">
            <a:solidFill>
              <a:srgbClr val="1A6B3C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207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Important Finding: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Cuffless blood pressure estimation is achievable in Rev2 using only the existing MAX30102 PPG sensor — via a quantised PP-Net neural network running on the nRF5340. No new hardware required. BP monitoring is the single highest-impact clinical enhancement across all 20 papers reviewed.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944368"/>
            <a:ext cx="28346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3017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BLE + FHIR R4 + Cloud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429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papers agree: this is the correct interoperability and connectivity architecture for clinical wearables.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2944368"/>
            <a:ext cx="28346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3017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nRF5340-class Processor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3429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RTOS + DSP + 512KB RAM is the right embedded platform for multi-sensor health wearables in 2025–2026.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2944368"/>
            <a:ext cx="28346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CCCCCC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3017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Elderly Usability First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3429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OLED display, haptic alerts, and system-integrated patient registration matter more than marginal sensor accuracy improvements.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5445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Masrur Jamil Prochchhod · 2210028 · HSHL · Prof. Giovanni (giovannix) ·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3159</Words>
  <Application>Microsoft Office PowerPoint</Application>
  <PresentationFormat>On-screen Show (16:9)</PresentationFormat>
  <Paragraphs>451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Citation &amp; Literature Analysis Report — Smartband V001 Rev2</dc:title>
  <dc:subject>PptxGenJS Presentation</dc:subject>
  <dc:creator>Masrur Jamil Prochchhod</dc:creator>
  <cp:lastModifiedBy>Masrur Jamil Prochchhod</cp:lastModifiedBy>
  <cp:revision>3</cp:revision>
  <dcterms:created xsi:type="dcterms:W3CDTF">2026-06-16T14:47:50Z</dcterms:created>
  <dcterms:modified xsi:type="dcterms:W3CDTF">2026-06-16T14:59:37Z</dcterms:modified>
</cp:coreProperties>
</file>